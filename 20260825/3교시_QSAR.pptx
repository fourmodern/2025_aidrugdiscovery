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331720"/>
            <a:ext cx="9144000" cy="54864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7/23 · 화학정보학 실습 · 3교시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5200" b="1" i="0">
                <a:solidFill>
                  <a:srgbClr val="FFFFFF"/>
                </a:solidFill>
                <a:latin typeface="Malgun Gothic"/>
              </a:rPr>
              <a:t>QSAR</a:t>
            </a:r>
          </a:p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Malgun Gothic"/>
              </a:rPr>
              <a:t>기술자로 활성·물성을 예측하는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9CD8"/>
                </a:solidFill>
                <a:latin typeface="Malgun Gothic"/>
              </a:rPr>
              <a:t>정량적 구조–활성 관계 (Quantitative Structure–Activity Relationship)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재직자·전공자 · 한국어 · 1교시 구조표현 → 2교시 기술자 → 3교시 QSAR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2교시 → 3교시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2교시에서 만든 '숫자'를, 이제 '예측'에 쓴다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465575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874519"/>
            <a:ext cx="3465575" cy="310896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83663"/>
            <a:ext cx="337413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1교시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240279"/>
            <a:ext cx="3319271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분자 구조를
어떻게 표현?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874519"/>
            <a:ext cx="29260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874519"/>
            <a:ext cx="3465575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361688" y="1874519"/>
            <a:ext cx="3465575" cy="310896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1883663"/>
            <a:ext cx="337413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2교시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40279"/>
            <a:ext cx="3319271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기술자·지문으로
숫자 벡터 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1874519"/>
            <a:ext cx="29260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5" y="1874519"/>
            <a:ext cx="3465575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8083295" y="1874519"/>
            <a:ext cx="3465575" cy="310896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5" y="1883663"/>
            <a:ext cx="337413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3교시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7" y="2240279"/>
            <a:ext cx="3319271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X → 모델 →
활성·물성 예측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2644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" y="3163824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2교시 결과물 = 각 분자의 기술자·지문 벡터 (분자량·LogP·TPSA·Morgan FP …)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392277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6424" y="3822191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그 벡터가 바로 QSAR 모델의 입력 X — 오늘은 '입력을 어떻게 만드나'가 아니라 '입력으로 무엇을 하나'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5811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" y="4480559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y(레이블) = 실험으로 측정된 활성/물성 (IC50, 용해도, 독성 …)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23951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" y="5138928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3교시 = X와 y 사이의 관계 f 를 데이터로 학습하고, 검증하고, 새 분자에 적용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 한 줄: 2교시의 기술자·지문이 QSAR의 입력 X다. 기술자 종류 상세는 2교시에서 다뤘으므로 오늘은 참조만 하고, 그 X로 모델을 세우고 신뢰할 수 있게 만드는 과정에 집중한다.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p.3 (Structures→Descriptors→Properties 워크플로)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3교시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3교시가 끝나면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007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QSAR의 정의·기본 가정·역사(Hansch·Free-Wilson)를 설명한다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구조–활성의 정량적 관계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243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237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QSAR 워크플로 7단계를 순서대로 말하고 각 단계의 함정을 안다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데이터→기술자→선택→학습→검증→해석→적용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47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3467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대표 모델(선형/PLS/RF/GBM/딥러닝)의 개념과 선택 기준을 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702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169663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검증 체계(분할·교차검증·y-scrambling·외부검증·지표)를 설명한다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가장 중요한 부분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0932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9926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적용범위(AD)·과적합·상관≠인과 등 함정과 OECD 5원칙을 안다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규제·실무 감각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3교시 학습목표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전체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7/23 지도 — 지금 어디에 있나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15600" cy="9601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93976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0B2A4A"/>
                </a:solidFill>
                <a:latin typeface="Malgun Gothic"/>
              </a:rPr>
              <a:t>1교시 · 화학정보학 &amp; 분자 구조 표현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화학정보학 개요 · 분자를 컴퓨터로 표현하는 법 (SMILES·그래프)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10515600" cy="9601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28416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0B2A4A"/>
                </a:solidFill>
                <a:latin typeface="Malgun Gothic"/>
              </a:rPr>
              <a:t>2교시 · SMILES &amp; 분자 기술자·지문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39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SMILES 문법 · Descriptor 종류 · Fingerprint — 분자를 숫자 벡터 X 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34840"/>
            <a:ext cx="10515600" cy="960120"/>
          </a:xfrm>
          <a:prstGeom prst="roundRect">
            <a:avLst/>
          </a:prstGeom>
          <a:solidFill>
            <a:srgbClr val="1AA68C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562855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FFFFFF"/>
                </a:solidFill>
                <a:latin typeface="Malgun Gothic"/>
              </a:rPr>
              <a:t>3교시 · QSAR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83479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9EDF1"/>
                </a:solidFill>
                <a:latin typeface="Malgun Gothic"/>
              </a:rPr>
              <a:t>그 X 로 활성·물성을 예측: 개념·워크플로·모델·검증·적용범위·규제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4562855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◀ 현재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흐름: '분자를 어떻게 표현하나(1교시)' → '숫자 벡터로 만든다(2교시)' → '그 벡터로 예측 모델을 만든다(3교시)'. 오늘은 그 마지막 연결 고리.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7/23 과정 구성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3교시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3교시에서 볼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4480560" cy="54864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A. 개념·역사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41732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QSAR 정의·기본 가정·Hansch/Free-Wilson·QSPR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93976"/>
            <a:ext cx="4480560" cy="54864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93976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B. 워크플로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093976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데이터→기술자→특징선택→학습→검증→해석→적용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70632"/>
            <a:ext cx="4480560" cy="54864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70632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C. 모델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770632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선형회귀·PLS·랜덤포레스트·부스팅·딥러닝 개요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47287"/>
            <a:ext cx="4480560" cy="548640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47287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D.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447287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분할·교차검증·y-randomization·외부검증·지표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23944"/>
            <a:ext cx="4480560" cy="5486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23944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E. 적용범위·함정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123944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AD·과적합·데이터 편향·상관≠인과·activity cliff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00600"/>
            <a:ext cx="4480560" cy="548640"/>
          </a:xfrm>
          <a:prstGeom prst="round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00600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F. 규제·실무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80060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OECD QSAR 5원칙·read-across·도구 생태계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477255"/>
            <a:ext cx="4480560" cy="548640"/>
          </a:xfrm>
          <a:prstGeom prst="round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477255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G. 종합·클로징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5477255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1→2→3교시 종합 · 실무 권고 · 참고문헌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3교시 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QSAR — 개념과 역사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구조가 활성을 결정한다는 생각을 '식'으로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QSAR란 무엇인가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83080"/>
            <a:ext cx="9966960" cy="868680"/>
          </a:xfrm>
          <a:prstGeom prst="roundRect">
            <a:avLst/>
          </a:prstGeom>
          <a:solidFill>
            <a:srgbClr val="EEF2F6"/>
          </a:solidFill>
          <a:ln w="1587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0B2A4A"/>
                </a:solidFill>
                <a:latin typeface="Malgun Gothic"/>
              </a:rPr>
              <a:t>생리적 활성 (Φ)  =  f ( 분자 구조 · 물리화학적 특성 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44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843784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QSAR = 정량적 구조–활성 관계 — 구조에서 뽑은 기술자(X)와 활성(y)의 수학적 관계 f 를 세움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027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02152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정성적 SAR('이 그룹이 있으면 활성↑')을 넘어 '얼마나' 를 수치로 예측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6110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160520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f 는 회귀(연속값: IC50·용해도)일 수도, 분류(활성/비활성·독성 여부)일 수도 있음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91947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818888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목적: 합성·실험 전에 후보를 우선순위화 → 시간·비용 절감(가상 스크리닝)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QSAR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Quantitative Structure–Activity Relationship — 기술자로 표현한 구조와 측정된 활성 사이의 정량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p.7 (생리적 활성 Φ = f(구조·특성)); Cherkasov et al., J Med Chem 2014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기본 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기본 가정 — 유사성의 전이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37360"/>
            <a:ext cx="9966960" cy="77724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66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"기능(특성)은 형태(구조)를 따른다"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529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752344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유사한 구조를 가진 분자는 유사한 물성·활성을 갖는다 (Structure–Property Relationships)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→ 따름: 유사한 기술자(X)를 가진 분자는 유사한 특성(y)을 가져야 한다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245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123944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이 가정이 성립해야 '구조 → 숫자 → 예측' 이 원리적으로 가능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9103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809744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가정이 깨지는 지점(activity cliff)이 곧 QSAR의 한계 — PART E에서 다룸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주의: 이것은 '가정'이지 법칙이 아니다. 구조가 조금 바뀌었는데 활성이 급변하는 예외(activity cliff)가 존재하며, QSAR가 어려운 근본 이유가 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p.2, p.21 (유사성의 전이)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역사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QSAR의 계보 — 150년의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시기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002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인물·사건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0020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기여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85215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219456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1868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65960"/>
            <a:ext cx="384048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Crum-Brown &amp; Fraser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65960"/>
            <a:ext cx="484632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활성 Φ = f(구조 C) — 구조-활성 관계를 처음 '함수'로 제안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06039"/>
            <a:ext cx="11247120" cy="58521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606039"/>
            <a:ext cx="219456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1930s-40s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606039"/>
            <a:ext cx="384048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Hammett; Wiener(1947)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606039"/>
            <a:ext cx="484632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치환기 전자효과(σ) 정량 · Wiener 위상 지수 등장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46120"/>
            <a:ext cx="11247120" cy="585215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46120"/>
            <a:ext cx="219456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1964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46120"/>
            <a:ext cx="384048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Hansch &amp; Fujita / Free &amp; Wilson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46120"/>
            <a:ext cx="484632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현대 QSAR의 탄생 — 두 갈래 접근법(다음 장)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11247120" cy="58521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886200"/>
            <a:ext cx="219456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1980s-90s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886200"/>
            <a:ext cx="384048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3D-QSAR (CoMFA 등)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886200"/>
            <a:ext cx="484632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3D 장(field) 기반 표현 · 상용 표현자 소프트웨어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26279"/>
            <a:ext cx="11247120" cy="585215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526279"/>
            <a:ext cx="219456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2000s-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526279"/>
            <a:ext cx="384048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기계학습·딥러닝 QSAR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526279"/>
            <a:ext cx="484632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RF·부스팅·신경망 · 대규모 데이터 · GNN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핵심: QSAR는 유행이 아니라 150년 축적된 개념이다. Crum-Brown&amp;Fraser의 '활성은 구조의 함수'라는 아이디어가 Hansch에서 회귀식으로, 지금은 기계학습으로 이어진다.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p.7 (Crum-Brown &amp; Fraser 1868); Hansch &amp; Fujita 1964; Wiener 1947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두 고전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Hansch 분석 vs Free-Wilson 분석 (1964)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Hansch 분석 (선형자유에너지)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활성 = f(물리화학 파라미터)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소수성 π(logP)·전자 σ·입체 Es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log(1/C) = a·π + b·σ + c·Es + …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연속적 물성 축으로 해석·외삽 용이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Free-Wilson 분석 (가법 모델)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활성 = 치환기 기여도의 합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각 위치·치환기에 지표변수(0/1)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공통 골격 시리즈에 적합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물성 파라미터 불필요·해석 직관적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76072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77900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77900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두 접근은 상보적: Hansch는 '어떤 물성이 활성을 이끄나'(연속·기전 지향), Free-Wilson은 '어떤 치환기가 얼마나 기여하나'(이산·시리즈 지향). 현대 ML QSAR은 둘의 정신을 데이터로 일반화한 것.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Hansch &amp; Fujita, JACS 1964; Free &amp; Wilson, J Med Chem 1964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형제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QSAR vs QSPR — 무엇을 예측하나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QSAR (Activity)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y = 생물학적 활성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IC50 / EC50 / Ki / 독성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표적 결합·약효·부작용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보통 log 변환(pIC50)해 사용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QSPR (Property)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y = 물리화학적 물성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용해도·logP·녹는점·투과도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ADME·제형 설계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측정 오차가 상대적으로 작음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방법론은 동일(구조→기술자→모델). 차이는 y가 무엇이냐일 뿐. 활성이면 QSAR, 물성이면 QSPR. 오늘 배우는 워크플로·검증은 둘 다에 그대로 적용된다.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Todeschini &amp; Consonni, Handbook of Molecular Descriptors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입력의 정체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QSAR의 입력 X = 2교시의 기술자·지문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82880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QSAR 데이터 행렬 (개념도 · 값은 예시)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31136"/>
            <a:ext cx="10607040" cy="2231136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22576"/>
            <a:ext cx="1024128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7EC699"/>
                </a:solidFill>
                <a:latin typeface="Consolas"/>
              </a:rPr>
              <a:t>        MW   LogP  TPSA  HBD  ...  FP_2048    y = pIC50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mol_1   180   1.2   63    2   ...  [1,0,1,..]    6.4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mol_2   312   3.4   41    1   ...  [0,1,0,..]    7.9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mol_3   245   2.1   78    3   ...  [1,1,0,..]    5.2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  ...                              ...          ...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7EC699"/>
                </a:solidFill>
                <a:latin typeface="Consolas"/>
              </a:rPr>
              <a:t># X = 기술자 행렬(2교시 산출물),  y = 측정 활성(실험값)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517136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26279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한 행 = 한 분자, 한 열 = 한 기술자. 기술자 계산법은 2교시 참조(재설명 생략).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기술자 종류·계산(2교시)은 여기서 다시 설명하지 않는다. 오늘의 관심은 이 X와 y가 주어졌을 때 f 를 어떻게 세우고, 그것이 새 분자에서도 맞는지 어떻게 증명하나이다.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입력 형식 개념 (기술자 상세는 2교시); 값은 형식 예시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QSAR 워크플로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데이터에서 예측까지 — 7단계와 각 단계의 함정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전체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QSAR 워크플로 7단계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5120640" cy="56692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1. 데이터 준비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71600"/>
            <a:ext cx="5486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활성 데이터 수집·큐레이션·단위 통일(pIC50)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66543"/>
            <a:ext cx="5120640" cy="566928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66543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2. 기술자 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066543"/>
            <a:ext cx="5486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2교시 기술자·지문 산출 + 스케일링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61488"/>
            <a:ext cx="5120640" cy="56692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61488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3. 특징 선택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761488"/>
            <a:ext cx="5486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불필요·중복 변수 제거, 차원 축소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56432"/>
            <a:ext cx="5120640" cy="566928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56432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4. 모델 학습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456432"/>
            <a:ext cx="5486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선형/PLS/RF/부스팅/딥러닝 (PART 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51376"/>
            <a:ext cx="5120640" cy="5669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51376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5.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151376"/>
            <a:ext cx="5486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분할·교차검증·y-scrambling·외부검증 (PART 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46320"/>
            <a:ext cx="5120640" cy="566928"/>
          </a:xfrm>
          <a:prstGeom prst="round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46320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6. 해석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846320"/>
            <a:ext cx="5486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변수 중요도·기전 해석(mechanistic)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541264"/>
            <a:ext cx="5120640" cy="566928"/>
          </a:xfrm>
          <a:prstGeom prst="round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541264"/>
            <a:ext cx="4937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7. 적용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541264"/>
            <a:ext cx="5486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적용범위 확인 후 새 분자 예측·우선순위화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p.3 (모델 빌딩·통계적 학습); Tropsha, Mol Inform 2010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1단계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데이터 준비 &amp; 큐레이션 — 성패의 80%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데이터 수집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동일 assay·조건의 활성값 확보(ChEMBL 등 공개 DB)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구조 표준화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염·용매 제거, 호변이성·프로토네이션 통일, 중복 제거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활성 단위 통일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IC50→pIC50 등 log 변환, 단위·부호 정합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이상치·모호값 처리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&gt;10µM 같은 검열값·질 낮은 데이터 플래그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데이터 균형·범위 점검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활성 분포·동적 범위(dynamic range)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"garbage in, garbage out" — 여기서 결정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재현 가능한 전처리 파이프라인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동일 종말점(endpoint) 정의가 핵심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서로 다른 assay 혼합 = 잡음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중복·누수(leakage)가 성능 착시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Tropsha, Mol Inform 2010 (Best Practices); Cherkasov et al. 2014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활성값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활성값을 왜 log로 — pIC50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IC50는 nM~µM에 걸쳐 수 자릿수로 퍼짐 → 그대로 쓰면 소수 강활성치가 회귀를 지배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3405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33472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pIC50 = −log10(IC50[M]) — 로그 척도로 변환해 분포를 대칭·선형화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75303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74720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모델은 보통 로그 활성에서 선형·정규 가정에 더 잘 맞음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1655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15968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종말점(endpoint) 정의를 명확히: 무엇을·어떤 조건에서 측정한 값인가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OECD 원칙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OECD 원칙 1('명확히 정의된 종말점')과 직결. 활성의 정의·단위·assay가 흔들리면 아무리 좋은 모델도 무의미하다. 전처리는 모델링보다 먼저이고 더 중요하다.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OECD 2007 (QSAR validation principles); Tropsha 2010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2·3단계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기술자 계산과 특징 선택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2단계 · 기술자 계산 (2교시 참조)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2교시의 기술자·지문을 X로 산출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0D~4D·물리화학·지문 (재설명 생략)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스케일링: 표준화(z-score)·정규화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결측·상수 열 제거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3단계 · 특징 선택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수천 개 기술자 &gt; 분자 수 흔함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차원의 저주 → 과적합 위험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불필요·중복 변수 제거로 일반화↑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해석성·계산비용도 개선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기술자 계산 상세는 2교시 영역. 여기서 중요한 건 '스케일링을 학습 데이터 통계로만' 하고 test에 그대로 적용해야 누수가 없다는 점.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기술자 계산은 2교시; 전처리 원칙은 Tropsha 2010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특징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특징 선택 3가지 방식 &amp; 차원의 저주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6002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002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965960"/>
            <a:ext cx="4023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모델 무관·통계 지표로 선별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65960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분산·상관계수·상호정보량, 중복 제거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946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69464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Wrapper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569464"/>
            <a:ext cx="4023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모델 성능으로 부분집합 탐색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69464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전진/후진 선택·재귀적 제거(RFE)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7296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72968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Embedded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172968"/>
            <a:ext cx="4023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학습 중 자동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172968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LASSO(L1)·트리 변수중요도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76472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76472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차원 축소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776472"/>
            <a:ext cx="4023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변수 결합해 압축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776472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PCA·PLS 잠재변수(원변수 해석성↓)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차원의 저주: 변수 수가 표본 수에 비해 크면 우연히 잘 맞는 조합(chance correlation)이 생김. 특징 선택·정규화·검증이 이를 억제한다. 선택은 반드시 학습 fold 안에서만 수행(누수 방지).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Cherkasov et al. 2014; Todeschini &amp; Consonni (표현자 중복성)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6·7단계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해석과 적용 — 모델을 실무로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6단계 · 해석 (mechanistic)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변수 중요도로 '무엇이 활성을 이끄나'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SHAP·부분의존도 등으로 기여 분해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화학적으로 말이 되는지 점검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OECD 원칙 5(기계론적 해석)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7단계 · 적용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적용범위(AD) 안의 분자만 신뢰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가상 라이브러리 스크리닝·랭킹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합성·실험 후보 우선순위화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예측→실측 피드백으로 재학습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QSAR는 '블랙박스 점수기'가 아니라 '가설 생성기'로 쓸 때 가장 강력하다. 왜 그렇게 예측했는지 설명(해석)이 되고, 어디까지 믿을 수 있는지(AD)가 붙어야 실무에서 채택된다.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p.26 (해석·해독 가능성); Tropsha 2010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QSAR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선형에서 딥러닝까지 — 해석성과 성능의 저울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지형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모델 지형 — 해석성 ↔ 유연성의 저울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성격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0020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해석성 / 데이터 요구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다중선형회귀(MLR)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65960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선형·투명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965960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높음 / 적음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946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69464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569464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공선성 강한 선형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569464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중간 / 적음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7296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7296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랜덤포레스트(RF)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172968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비선형·앙상블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172968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중간 / 중간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76472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76472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그래디언트 부스팅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776472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비선형·고성능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776472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중간-낮음 / 중간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379976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379976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딥러닝(MLP·GNN)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379976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비선형·표현학습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379976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낮음 / 많음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만능 모델은 없다(no free lunch). 위로 갈수록 해석·소량데이터에 강하고, 아래로 갈수록 복잡한 비선형에 강하지만 데이터·검증 부담이 커진다. 데이터 규모와 목적이 모델을 정한다.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Cherkasov et al., J Med Chem 2014 (QSAR 모델 개관)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다중선형회귀 (MLR) — Hansch의 후예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형태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y = b0 + b1·x1 + b2·x2 + … (기술자의 가중합)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적합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최소제곱으로 계수 b 추정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장점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계수 = 각 기술자의 기여 → 해석 직관적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전제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변수 간 낮은 공선성·표본 &gt; 변수 수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확장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릿지/LASSO로 정규화(과적합·공선성 완화)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가장 투명·규제 친화적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Hansch 전통과 직결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적은 데이터에서 견고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비선형 관계 포착 못함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공선성에 계수 불안정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변수↑ 시 과적합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Hansch &amp; Fujita 1964; Cherkasov et al. 2014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PLS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부분최소제곱 (PLS) — 공선성의 해결사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문제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기술자들이 서로 강하게 상관(공선성)·변수&gt;표본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아이디어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X를 y와 공분산이 큰 소수 '잠재변수'로 투영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적합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잠재변수 공간에서 회귀 → 안정적 계수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성분 수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교차검증으로 잠재변수 개수 결정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용도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3D-QSAR(CoMFA)·분광 데이터의 표준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고차원·공선성에 강건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화학계량학(chemometrics) 표준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적은 표본에서도 동작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여전히 본질은 선형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잠재변수는 원변수보다 해석 어려움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Wold, Sjöström &amp; Eriksson, Chemom Intell Lab Syst 2001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랜덤포레스트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랜덤포레스트 (RF) — 나무들의 투표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기반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다수의 결정트리를 독립적으로 학습(bagging)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무작위성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표본·변수 무작위 추출로 트리 다양화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예측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회귀=평균, 분류=다수결로 앙상블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변수중요도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불순도 감소·순열 중요도 제공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OOB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out-of-bag 표본으로 내부 성능 추정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비선형·상호작용 자동 포착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스케일·이상치에 견고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튜닝이 비교적 쉬움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외삽(범위 밖)에 약함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개별 예측 해석은 제한적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Breiman, Machine Learning 2001 (Random Forests)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부스팅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그래디언트 부스팅 (GBM/XGBoost)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원리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약한 트리를 순차로 추가, 이전 오차를 보정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경사하강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잔차(그래디언트) 방향으로 단계적 학습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구현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XGBoost·LightGBM — 정규화·속도 강화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규제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학습률·트리깊이·서브샘플로 과적합 제어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현황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표 형태 기술자 QSAR에서 강력한 기본기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정형 데이터에서 최상위 성능 흔함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결측·혼합 변수 처리 유연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변수중요도·SHAP 해석 지원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튜닝·과적합 관리 필요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부적절 검증 시 성능 착시 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Chen &amp; Guestrin, KDD 2016 (XGBoost); Cherkasov et al. 2014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딥러닝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딥러닝 QSAR — 개요 (개념 위주)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MLP (기술자 입력)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2교시 기술자·지문을 입력 벡터로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다층 신경망으로 비선형 f 학습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대규모·다중과제(multi-task)에 강점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소량 데이터엔 과적합 위험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그래프 신경망 (GNN)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분자를 원자=노드·결합=엣지 그래프로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메시지 전달로 표현을 '학습'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사람이 만든 기술자 없이 end-to-end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데이터·계산 요구 큼·해석 난도↑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연결: 2교시가 '사람이 설계한 지문', GNN은 '데이터가 학습한 표현'. 다만 딥러닝이 항상 이기지는 않는다 — 중소 규모 QSAR에선 부스팅/RF가 대등하거나 우세한 경우가 많다(데이터 규모가 관건).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Cherkasov et al. 2014; GNN은 표현학습 개관 (개념 소개)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모델 선택 가이드 — 무엇부터?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00784"/>
            <a:ext cx="10698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먼저 단순 모델(MLR/PLS)로 baseline — 해석·비교의 기준선을 만든다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487168"/>
            <a:ext cx="10698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데이터가 수백~수천이면 RF/부스팅이 견고한 기본 선택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273552"/>
            <a:ext cx="10698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데이터가 매우 크고 표현학습이 필요하면 딥러닝/GNN 검토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059936"/>
            <a:ext cx="10698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규제·의사결정 설명이 중요하면 해석 가능한 모델을 우선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94690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846320"/>
            <a:ext cx="10698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성능은 '모델'보다 '데이터 질·검증 설계'가 좌우한다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모델 경쟁 이전의 문제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실무 순서: 좋은 데이터 → 정직한 검증 설계 → 단순 모델 baseline → 필요할 때만 복잡한 모델. 복잡한 모델을 부실한 검증에 얹으면 성능은 '보이기만' 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Tropsha 2010; Cherkasov et al. 2014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28/52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검증 (Validation)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'맞아 보인다'와 '정말 맞는다'는 다르다 — 3교시의 심장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29/52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검증이 QSAR의 심장인가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학습 데이터에서의 좋은 적합(R²)은 예측력을 보장하지 않는다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3405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33472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변수가 많으면 우연히 잘 맞는 모델(chance correlation)이 생긴다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75303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74720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과적합된 모델은 '본 적 있는 분자'만 잘 맞히고 새 분자엔 실패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1655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15968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따라서 '본 적 없는 데이터'에서의 예측력을 반드시 측정해야 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→ 내부·외부 검증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 구분: R²(적합도, fitting)와 Q²/외부 예측력(prediction)은 다르다. 높은 R²만 보고 좋은 모델이라 말하는 것이 QSAR 최대의 함정. Golbraikh &amp; Tropsha가 'q2를 조심하라'고 경고한 이유.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Golbraikh &amp; Tropsha, J Mol Graph Model 2002 ("Beware of q2!"); Tropsha 2010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30/52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분할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데이터 분할 — train / validation /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465575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874519"/>
            <a:ext cx="3465575" cy="310896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83663"/>
            <a:ext cx="337413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240279"/>
            <a:ext cx="3319271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계수·가중치 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874519"/>
            <a:ext cx="29260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874519"/>
            <a:ext cx="3465575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361688" y="1874519"/>
            <a:ext cx="3465575" cy="310896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1883663"/>
            <a:ext cx="337413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40279"/>
            <a:ext cx="3319271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하이퍼파라미터
·모델 선택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1874519"/>
            <a:ext cx="29260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5" y="1874519"/>
            <a:ext cx="3465575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8083295" y="1874519"/>
            <a:ext cx="3465575" cy="310896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5" y="1883663"/>
            <a:ext cx="337413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7" y="2240279"/>
            <a:ext cx="3319271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최종 예측력 평가
(한 번만)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2644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" y="3163824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Test는 모델 개발 내내 '봉인' — 딱 한 번, 최종 보고용으로만 사용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392277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6424" y="3822191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무작위 분할은 유사 분자가 train·test에 함께 들어가 성능을 과대평가할 수 있음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5811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" y="4480559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스캐폴드/시간 분할(scaffold·time split): 골격·시점으로 나눠 더 현실적 평가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23951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" y="5138928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분할 전에 전처리·특징선택을 하면 누수(leakage) — 반드시 분할 후 학습셋 기준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현실 예측은 대개 '학습에 없던 새로운 골격'을 만난다. 무작위 분할의 낙관적 수치보다 스캐폴드/시간 분할이 실제 배치 성능에 가깝다.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Sheridan, J Chem Inf Model 2013 (time-split); Tropsha 2010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31/52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교차검증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교차검증 (Cross-Validation)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k-fold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데이터를 k등분, 각 fold를 번갈아 검증셋으로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반복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k번 학습·평가 후 평균 → 안정적 성능 추정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LOO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leave-one-out: 표본이 적을 때(n만큼 반복)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Q² (Q2)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CV 예측 기반 결정계수 — 내부 예측력 지표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Nested CV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특징선택·튜닝을 내부 fold에 포함(누수 차단)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소량 데이터를 효율적으로 활용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단일 분할의 운(luck) 제거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하이퍼파라미터 선택에 필수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누수 시 Q²도 부풀 수 있음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CV 성능 ≠ 외부 예측력(보완 필요)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Gramatica, QSAR Comb Sci 2007; Tropsha 2010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32/52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y-randomization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y-무작위화 — 우연을 걸러내는 시험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y(활성)를 무작위로 섞어 '가짜 데이터셋'을 여러 번 만든다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3405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33472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같은 절차로 모델을 학습 → 성능(R²·Q²)을 기록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75303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74720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무작위 모델들이 낮은 성능이어야 정상 — 원래 모델이 뚜렷이 높아야 함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1655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15968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무작위인데도 성능이 높다면? 그 모델은 우연 상관(chance correlation)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경고 신호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y-scrambling(무작위화)은 '내 모델이 진짜 신호를 배웠나, 우연히 맞았나'를 가르는 표준 시험. 특히 변수가 많은 QSAR에서 반드시 수행하도록 권고된다.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Rücker et al., J Chem Inf Model 2007 (y-randomization); Tropsha 2010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33/52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외부검증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외부 검증 — 진짜 시험대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내부 검증(CV)만으로는 부족 — 개발에 전혀 쓰지 않은 외부셋이 필요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3405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33472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외부 예측 결정계수(Q²_ext)로 '보지 못한 분자'에서의 예측력 측정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75303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74720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이상적으로는 서로 다른 출처·시점의 데이터로 평가(현실 반영)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1655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15968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Golbraikh-Tropsha 수용 기준 등으로 모델 채택 여부 판단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다음 장 지표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강한 QSAR의 조건: 좋은 적합(R²) + 좋은 내부 예측(Q²) + 좋은 외부 예측(Q²_ext) + 적용범위(AD) 명시. 네 가지가 함께 갖춰져야 신뢰할 수 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Golbraikh &amp; Tropsha 2002; Gramatica 2007 (internal/external validation)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34/52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지표 (회귀)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회귀 성능 지표 —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54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54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주의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23774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20240"/>
            <a:ext cx="4937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학습 적합도(설명된 분산)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920240"/>
            <a:ext cx="3657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적합≠예측, 변수↑ 시 자동 상승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05456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23774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Q² (CV)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505456"/>
            <a:ext cx="4937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교차검증 예측 결정계수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505456"/>
            <a:ext cx="3657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내부 예측력, 누수 시 과대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90672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90672"/>
            <a:ext cx="23774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Q²_ext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090672"/>
            <a:ext cx="4937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외부셋 예측 결정계수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090672"/>
            <a:ext cx="3657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실제 예측력에 가장 근접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75887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75887"/>
            <a:ext cx="23774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675887"/>
            <a:ext cx="4937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예측 오차의 크기(원단위)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75887"/>
            <a:ext cx="3657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이상치에 민감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61104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261104"/>
            <a:ext cx="23774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MAE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261104"/>
            <a:ext cx="4937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평균 절대 오차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261104"/>
            <a:ext cx="3657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해석 직관적·이상치에 견고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R² 하나만 보고 판단 금지. R²는 높지만 Q²는 낮은 모델 = 과적합. 반드시 R²와 Q²/외부지표를 함께 본다.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Golbraikh &amp; Tropsha 2002; Gramatica 2007 (지표 정의)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35/52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지표 (분류)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분류 성능 지표 —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54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적합 상황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정확도(Accuracy)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20240"/>
            <a:ext cx="4572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전체 중 맞춘 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920240"/>
            <a:ext cx="3657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클래스 균형일 때만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05456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민감도/특이도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505456"/>
            <a:ext cx="4572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실제 양성/음성을 맞추는 비율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505456"/>
            <a:ext cx="3657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놓침·오경보 구분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90672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90672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ROC-AUC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90672"/>
            <a:ext cx="4572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임계값 전체 순위 성능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090672"/>
            <a:ext cx="3657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불균형에도 비교적 견고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75887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75887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PR-AUC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675887"/>
            <a:ext cx="4572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정밀도-재현율 곡선 면적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75887"/>
            <a:ext cx="3657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희귀 양성(불균형)에 유용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61104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261104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MCC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261104"/>
            <a:ext cx="4572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상관 기반 균형 지표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261104"/>
            <a:ext cx="3657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불균형 데이터 권장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활성/비활성처럼 클래스가 불균형(활성 소수)인 QSAR 분류에서는 정확도가 오해를 부른다. ROC-AUC·PR-AUC·MCC로 균형 있게 평가한다.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분류 평가 표준 지표 (개념 소개); Cherkasov et al. 2014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36/52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적용범위 &amp; 함정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모델이 '어디까지' 믿을 만한가 — 그리고 흔한 실수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37/52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적용범위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적용범위 (Applicability Domain, AD)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모델은 학습 데이터가 덮은 화학 공간 안에서만 신뢰할 수 있다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3405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33472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그 밖의 분자(외삽)에 대한 예측은 근거가 약함 → '모름'을 인정해야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75303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74720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모든 예측에 AD 판정을 붙여 in-domain / out-of-domain을 표시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1655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15968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AD는 OECD 5원칙 중 3번 — 규제 제출의 필수 요소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'정의된 적용 범위'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핵심: 좋은 QSAR는 '항상 답을 내는 모델'이 아니라 '언제 자기가 틀릴지 아는 모델'이다. AD는 확장성(넓은 화학 공간에서의 유효 범위)의 실무적 표현이기도 하다.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p.28 (확장성·통계적 독립성); Netzeva et al., ATLA 2005; OECD 2007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38/52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AD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적용범위를 정하는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0020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도구·비고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기술자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65960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각 기술자의 min-max 범위 내인지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965960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단순·직관적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946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69464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거리 기반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69464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학습셋 중심/최근접까지의 거리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569464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유클리드·마할라노비스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7296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72968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레버리지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172968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기술자 공간에서의 영향력(hat)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172968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Williams plot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76472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76472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밀도·신뢰도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776472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학습 데이터 밀집도·모델 분산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776472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앙상블 분산·conformal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Williams plot: 표준화 잔차 vs 레버리지 산점도로 이상치(y-outlier)와 외삽점(구조적 outlier)을 한눈에 구분. AD 방법은 여러 개를 함께 쓰는 것이 안전하다.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Gramatica, QSAR Comb Sci 2007 (leverage/Williams plot); Netzeva et al. 2005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39/52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과적합·편향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과적합과 데이터 편향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과적합 (Overfitting)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잡음까지 외워 학습셋만 잘 맞음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변수↑·데이터↓·검증 부실이 원인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증상: R² 높고 Q²·외부 낮음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대응: 정규화·특징선택·정직한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데이터 편향 (Bias)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특정 시리즈·표적에 치우친 데이터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좁은 화학 공간 → 좁은 AD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활성 분포 불균형·assay 잡음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대응: 다양성 확보·층화·외부셋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'화려한 모델'보다 '정직한 데이터·검증'이 먼저. 과적합과 편향은 모델을 바꿔서가 아니라 데이터·검증 설계로 잡는다.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Tropsha 2010; Cherkasov et al. 2014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40/52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논리 함정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상관 ≠ 인과, 그리고 activity cliff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상관 ≠ 인과: 기술자와 활성이 함께 움직여도 인과의 증거는 아님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7919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78608"/>
            <a:ext cx="10698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우연 상관(chance correlation): 변수가 많으면 의미 없는 상관이 생김 → y-scrambling으로 검출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65575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364991"/>
            <a:ext cx="10698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데이터 누수(leakage): test 정보가 학습에 새면 성능이 실제보다 좋아 보임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5196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151376"/>
            <a:ext cx="10698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activity cliff: 구조가 거의 같은데 활성이 급변 → 유사성 가정이 깨지는 지점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QSAR의 근본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activity cliff는 '유사한 구조=유사한 활성'이라는 QSAR 대전제(PART A)가 국소적으로 붕괴하는 곳. 이런 영역에서는 매끄러운 회귀가 원리적으로 실패하며, 별도 탐지·경고가 필요하다.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Maggiora, J Chem Inf Model 2006 (activity cliffs); Tropsha 2010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41/52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QSAR 함정 방지 체크리스트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108960" cy="603504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29260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554480"/>
            <a:ext cx="7406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동일 assay·단위 통일·중복/누수 제거·동적 범위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04288"/>
            <a:ext cx="3108960" cy="603504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04288"/>
            <a:ext cx="29260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분할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304288"/>
            <a:ext cx="7406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분할 후 전처리·스캐폴드/시간 분할·test 봉인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54096"/>
            <a:ext cx="3108960" cy="603504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54096"/>
            <a:ext cx="29260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054096"/>
            <a:ext cx="7406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CV + y-scrambling + 외부검증 (R²와 Q² 함께)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03904"/>
            <a:ext cx="3108960" cy="603504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03904"/>
            <a:ext cx="29260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적용범위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803904"/>
            <a:ext cx="7406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AD 판정 부착·외삽 예측은 '모름'으로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53712"/>
            <a:ext cx="3108960" cy="603504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53712"/>
            <a:ext cx="29260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해석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553712"/>
            <a:ext cx="7406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변수 중요도가 화학적으로 말이 되는지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303520"/>
            <a:ext cx="3108960" cy="603504"/>
          </a:xfrm>
          <a:prstGeom prst="round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303520"/>
            <a:ext cx="29260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5303520"/>
            <a:ext cx="7406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성능수치·조건·한계를 투명하게 기록(재현성)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Tropsha 2010; Cherkasov et al. 2014; OECD 2007 종합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42/52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규제 &amp; 실무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OECD 5원칙 · read-across — QSAR가 근거로 인정받는 법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43/52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OECD 5원칙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OECD QSAR 검증 5원칙 (2007)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459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원칙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45920"/>
            <a:ext cx="9418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내용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1247120" cy="6583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11680"/>
            <a:ext cx="9418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명확히 정의된 종말점(defined endpoint) — 무엇을 예측하나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24912"/>
            <a:ext cx="11247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724912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724912"/>
            <a:ext cx="9418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모호하지 않은 알고리즘(unambiguous algorithm) — 재현 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38144"/>
            <a:ext cx="11247120" cy="6583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438144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438144"/>
            <a:ext cx="9418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정의된 적용 범위(defined applicability domain) — 어디까지 유효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51376"/>
            <a:ext cx="11247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151376"/>
            <a:ext cx="9418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적합도·강건성·예측력의 적절한 척도(goodness-of-fit·robustness·predictivity)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64608"/>
            <a:ext cx="11247120" cy="65836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864608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864608"/>
            <a:ext cx="9418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가능하다면 기계론적 해석(mechanistic interpretation)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이 5원칙은 규제기관이 QSAR 예측을 근거로 받아들이기 위한 국제 표준이다. 오늘 배운 워크플로·검증·AD가 모두 이 원칙과 1:1로 대응한다(다음 장).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OECD 2007, Guidance Document on the Validation of (Q)SAR Models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44/52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OECD 5원칙 ↔ 표현자 3대 설계 프레임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PDF 3대 프레임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00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대응 OECD 원칙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수학적 무결성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96596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모호X·불변성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65960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② 모호하지 않은 알고리즘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946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69464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화학적 타당성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569464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해석·역해독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569464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⑤ 기계론적 해석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7296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72968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통계적 유용성(상관)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17296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예측 상관·독립성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172968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④ 예측력·강건성 척도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76472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76472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통계적 유용성(확장성)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776472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넓은 유효 범위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76472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③ 정의된 적용 범위(AD)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379976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379976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(데이터 준비 단계)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379976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종말점 정의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379976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① 명확히 정의된 종말점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연결: 2교시 PDF의 '완벽한 표현자 3대 프레임(수학적 무결성·화학적 타당성·통계적 유용성)'은 규제의 OECD 5원칙과 사실상 같은 이야기다. 좋은 기술자 요건이 곧 좋은 QSAR 요건.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4_Molecular_Descriptor.pdf p.22-29 (3대 프레임·진단 매트릭스); OECD 2007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45/52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read-across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read-across — 모델 없이 '이웃'으로 채우기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유사한 분자(구조적 이웃)의 알려진 특성으로 미지 분자의 특성을 추정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정식 QSAR 회귀식 대신 유사성·그룹핑에 근거 (범주 접근, category approach)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데이터가 적은 종말점(특히 독성)에서 규제적으로 널리 쓰임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QSAR와 같은 대전제(유사 구조=유사 특성)에 기댐 → AD·유사성 정의가 관건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read-across는 '한 분자씩 이웃을 보고 메우는' 접근, QSAR는 '전체에서 함수를 학습하는' 접근. 둘 다 유사성 원리에 기반하며, REACH 같은 규제에서 동물시험 대체 근거로 활용된다.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OECD 2007; 규제적 read-across (category approach) 개념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46/52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생태계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실무 도구·데이터 생태계 (개념)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데이터·기술자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활성 DB: ChEMBL·PubChem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기술자·지문: RDKit·Mordred(2교시)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표준화: 구조 정규화 파이프라인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공개 벤치마크 데이터셋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모델·검증·규제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모델링: scikit-learn·XGBoost 등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검증: CV·y-scramble·외부셋·AD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규제 도구: OECD QSAR Toolbox·VEGA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보고: QMRF 양식(모델 문서화)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실무는 '데이터(공개 DB) → 기술자(2교시 도구) → 모델·검증(ML 라이브러리) → 규제 문서화(QMRF·Toolbox)'로 이어진다. 도구는 바뀌어도 원칙(워크플로·검증·AD)은 그대로다.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OECD QSAR Toolbox; ChEMBL; RDKit (실재 도구 · 개념 소개)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47/52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종합 &amp; 클로징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1교시 → 2교시 → 3교시, 하나의 흐름으로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48/52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G ·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7/23 전체 종합 — 구조표현 → 기술자 → QSAR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10515600" cy="896112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201168" cy="896112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B2A4A"/>
                </a:solidFill>
                <a:latin typeface="Malgun Gothic"/>
              </a:rPr>
              <a:t>1교시 · 구조 표현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2316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분자를 컴퓨터가 읽을 수 있게: SMILES·그래프 등 표현 체계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10515600" cy="896112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971800"/>
            <a:ext cx="201168" cy="896112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06324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B2A4A"/>
                </a:solidFill>
                <a:latin typeface="Malgun Gothic"/>
              </a:rPr>
              <a:t>2교시 · 기술자·지문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47472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표현에서 숫자를 뽑는다: 0D~4D 기술자·물리화학·Fingerprint → 벡터 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23360"/>
            <a:ext cx="10515600" cy="896112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023360"/>
            <a:ext cx="201168" cy="896112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11480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B2A4A"/>
                </a:solidFill>
                <a:latin typeface="Malgun Gothic"/>
              </a:rPr>
              <a:t>3교시 · QSAR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52628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그 X로 활성·물성을 예측: 워크플로·모델·검증·AD·규제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하나의 문장: '분자를 표현하고(1교시), 숫자로 만들고(2교시), 그 숫자로 예측한다(3교시)'. 세 교시는 신약 초기 발굴의 in-silico 파이프라인 그 자체다.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7/23 전체 종합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49/52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3교시 정리 — 기억할 다섯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733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QSAR = 기술자(X)와 활성(y)의 정량 관계 f — 대전제는 '유사 구조=유사 활성'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877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워크플로 7단계: 데이터→기술자→선택→학습→검증→해석→적용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데이터 질이 성패의 80%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021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모델은 해석성↔성능의 저울 — 데이터 규모·목적이 선택을 정한다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348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165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검증이 핵심: R²(적합)≠Q²(예측). CV+y-scramble+외부검증을 함께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'맞아 보임' 경계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492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309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적용범위(AD)·함정(과적합·상관≠인과·cliff)·OECD 5원칙으로 신뢰 확보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3교시 요약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50/52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G · 실무 권고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현장에서 지킬 것 — Do &amp; Don't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DO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데이터 큐레이션에 가장 많은 시간을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단순 baseline부터, 정직한 검증부터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R²와 Q²·외부지표를 함께 보고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모든 예측에 적용범위(AD)를 부착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892040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모델·조건·한계를 재현 가능하게 문서화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DON'T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R² 하나로 '좋은 모델' 선언 금지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분할 전 전처리·특징선택(누수) 금지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test셋을 튜닝에 반복 사용 금지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AD 밖 분자에 확신 있는 예측 금지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892040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성능수치·데이터 임의 미화 금지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QSAR의 신뢰는 화려한 모델이 아니라 정직한 데이터·검증·범위 표시에서 나온다. 이 원칙은 도구·모델이 바뀌어도 변하지 않는다.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Tropsha 2010; Cherkasov et al. 2014; OECD 2007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51/52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(3교시)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27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원자료: 4_Molecular_Descriptor.pdf (CanIT) — QSAR 워크플로(p.3)·활성=f(구조)(p.7)·유사성 전이(p.2,21)·표현자 3대 프레임/진단 매트릭스(p.22-29).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30552"/>
            <a:ext cx="10927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고전: Crum-Brown &amp; Fraser 1868; Hansch &amp; Fujita, JACS 1964; Free &amp; Wilson, J Med Chem 1964; Wiener 1947; Randić, JACS 1975.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60904"/>
            <a:ext cx="10927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표현자: Todeschini &amp; Consonni, Handbook of Molecular Descriptors (Wiley); Lipinski et al., Adv Drug Deliv Rev 1997 (Rule of 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91256"/>
            <a:ext cx="10927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검증: Golbraikh &amp; Tropsha, J Mol Graph Model 2002 (Beware of q2!); Gramatica, QSAR Comb Sci 2007; Rücker et al., J Chem Inf Model 2007 (y-randomization).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21608"/>
            <a:ext cx="10927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베스트프랙티스: Tropsha, Mol Inform 2010; Cherkasov et al., J Med Chem 2014 (QSAR Modeling review).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10927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모델: Breiman 2001 (Random Forests); Chen &amp; Guestrin, KDD 2016 (XGBoost); Wold et al. 2001 (PLS-regression).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82312"/>
            <a:ext cx="10927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적용범위·함정: Netzeva et al., ATLA 2005 (AD); Sheridan, JCIM 2013 (time-split); Maggiora, JCIM 2006 (activity cliffs).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12664"/>
            <a:ext cx="10927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규제: OECD 2007, Guidance on the Validation of (Q)SAR Models (5원칙); OECD QSAR Toolbox.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43016"/>
            <a:ext cx="10927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* 방법·개념·워크플로는 표준 QSAR 교육 내용으로 보완했으며, 성능수치·벤치마크는 제시하지 않음(무-날조 원칙).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52/52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9CD8"/>
                </a:solidFill>
                <a:latin typeface="Malgun Gothic"/>
              </a:rPr>
              <a:t>3교시 · QSAR — 기술자로 활성·물성을 예측하는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60520"/>
            <a:ext cx="10241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핵심 프레임: 2교시 기술자(X) → QSAR 모델 f → 활성·물성(y), 그리고 정직한 검증·적용범위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7/23 종합: 구조 표현(1교시) → 기술자·지문(2교시) → QSAR 예측(3교시) = in-silico 발굴 파이프라인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