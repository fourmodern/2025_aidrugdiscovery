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l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51560"/>
            <a:ext cx="6400800" cy="34913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977639"/>
            <a:ext cx="12191695" cy="2377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 i="0">
                <a:solidFill>
                  <a:srgbClr val="FFFFFF"/>
                </a:solidFill>
                <a:latin typeface="Malgun Gothic"/>
              </a:rPr>
              <a:t>1교시 · 화학정보학과 분자 구조 표현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분자를 컴퓨터로 표현하는 법 = 이후 모든 예측의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신약개발 화학정보학 3교시 과정 · 1교시 · 재직자·전공자 · 한국어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왜 여기서 시작하나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분자를 다루려면, 먼저 분자를 '표현'해야 한다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컴퓨터는 화학 구조(그림)를 직접 인식하지 못한다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기계가 보는 것은 오직 숫자·비트(0/1)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883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8775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그래서 분자를 수학적·논리적 기호로 '번역'하는 것이 화학정보학의 첫걸음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295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 번역(표현, representation) 위에 검색·예측·설계가 모두 올라간다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708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7024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1교시: 화학정보학이 무엇이며, 분자를 1D/2D/3D 로 어떻게 표현하는가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2·3교시의 토대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관통 메시지: '무엇을 어떻게 표현하나'를 모르면 어떤 모델도 세울 수 없다. 표현이 담는 정보의 종류·정밀도가 뒤 단계(예측·설계)의 상한을 정한다.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(구조 표현의 중요성) · 본 과정 도입 프레임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전체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과정 지도 — 지금 어디에 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960120"/>
          </a:xfrm>
          <a:prstGeom prst="roundRect">
            <a:avLst/>
          </a:prstGeom>
          <a:solidFill>
            <a:srgbClr val="009CD8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93976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Malgun Gothic"/>
              </a:rPr>
              <a:t>1교시 · 화학정보학과 분자 구조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9EDF1"/>
                </a:solidFill>
                <a:latin typeface="Malgun Gothic"/>
              </a:rPr>
              <a:t>개요·역사·신약 파이프라인·DB · 분자를 1D/2D/3D 로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09397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◀ 현재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28416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2교시 · SMILES &amp; 분자 기술자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SMILES/SMARTS 문법·정규화 · fingerprint · molecular descriptor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10515600" cy="9601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562855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0B2A4A"/>
                </a:solidFill>
                <a:latin typeface="Malgun Gothic"/>
              </a:rPr>
              <a:t>3교시 · QSAR &amp; 모델링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7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정량적 구조-활성 관계(QSAR) · 예측 모델 ·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'분자를 표현한다(1교시)' → '문자열·기술자로 특징을 뽑는다(2교시)' → '구조-활성 관계를 모델링한다(3교시)'. 뒤로 갈수록 표현이 예측으로 이어진다.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과정 구성 (원본 강의 요약 슬라이드 재구성)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1교시가 끝나면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화학정보학의 정의·역사·신약개발 내 위치를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Gasteiger 정의·50년 역사·CADD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6946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화학 데이터를 다루는 정보 시스템과 공개 DB 를 안다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93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924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왜 이름(명명법)이 아닌 수학적 표기가 필요한지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translation gap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159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153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분자를 0D→1D→2D→3D 로 표현하는 계층을 구분한다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138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50383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표준 식별자(InChI)·파일 포맷(MOL/SDF)·표현 비교를 이해한다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2·3교시로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학습목표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1교시에서 볼 것 — 두 갈래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PART 1 · 화학정보학 개요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A. 화학정보학이란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정의·vs 생물정보학·4대 과제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B. 발전의 역사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디지털화→QSAR→3D→빅데이터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C. 신약개발 파이프라인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CADD·SBDD/LBDD·가상탐색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D. 데이터·DB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정보 시스템·지식·공개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PART 2 · 분자 구조 표현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E. 왜 구조 표현?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명명법 한계·translation gap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F. 차원 계층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0D→1D→2D→3D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G. 1D 선형 표기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WLN·SMILES(개념)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H. 표준 식별자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InChI · InChIKey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I. 2D 분자 그래프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connection table·행렬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549554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42239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J. 3D·파일 포맷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컨포머·MOL/SDF/PDB</a:t>
            </a:r>
          </a:p>
        </p:txBody>
      </p:sp>
      <p:sp>
        <p:nvSpPr>
          <p:cNvPr id="32" name="Oval 31"/>
          <p:cNvSpPr/>
          <p:nvPr/>
        </p:nvSpPr>
        <p:spPr>
          <a:xfrm>
            <a:off x="6611112" y="609904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602589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K. 종합·브리지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표현 비교·2교시로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화학정보학이란?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화학 문제를 정보학 방법론으로 푸는 학문 — 데이터를 지식으로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화학정보학(Cheminformatics)의 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00200"/>
            <a:ext cx="5943600" cy="12801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5577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“화학적 문제를 해결하기 위해</a:t>
            </a:r>
          </a:p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정보학(Informatics) 방법론을 적용하는 학문”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— Johann Gasteiger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8211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데이터 관리 (Data Management)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방대한 화학 구조·반응의 디지털 저장·검색·체계화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33087"/>
            <a:ext cx="457200" cy="45720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33087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지식 추출 (Knowledge Extraction)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데이터 마이닝으로 화학 패턴·정량적 구조-활성 관계(QSAR) 발견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65776"/>
            <a:ext cx="457200" cy="45720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65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47488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합리적 예측 (Rational Prediction)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수학적 모델로 미지 화합물의 특성(독성·생리활성)을 사전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 (Gasteiger 정의 · 3대 활동)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인접 학문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화학정보학 vs 생물정보학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00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화학정보학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생물정보학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연구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4114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저분자 화합물 (small molecules)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65960"/>
            <a:ext cx="4023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유전자·단백질 (genes &amp; proteins)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87752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8775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발전 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87752"/>
            <a:ext cx="4114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1990년대 이후 본격화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87752"/>
            <a:ext cx="4023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상대적으로 더 일찍 정착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11247120" cy="566928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242B"/>
                </a:solidFill>
                <a:latin typeface="Malgun Gothic"/>
              </a:rPr>
              <a:t>주요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09544"/>
            <a:ext cx="4114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유기 합성 계획·신약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9544"/>
            <a:ext cx="4023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서열 분석·단백질 접힘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경계는 모호하다: 저분자 화합물이 단백질에 결합하는 과정을 연구할 때 두 학문의 경계는 완전히 융합된다 (예: 구조 기반 신약 설계).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4대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화학정보학의 4대 핵심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과제 (Task)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002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002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1. 표현 (Representation)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물리적 분자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965960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수학적 표현자(Descriptor)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659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그래프 이론·위상수학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6946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2. 데이터 (Data Systems)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569464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화학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569464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구조화된 정보/DB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946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시스템 아키텍처·검색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729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3. 학습 (Machine Learning)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172968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데이터 &amp;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7296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예측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729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통계·패턴 인식·AI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764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4. 응용 (Application)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76472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타겟 분자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776472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최적 합성 경로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77647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역합성 분석·지식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오늘(1교시)은 과제 1 '표현' 과 과제 2 '데이터' 를 다룬다. 과제 3 '학습'(QSAR)은 3교시, 표현자 산출은 2교시 몫이다.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p27 (4대 과제 매트릭스)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발전의 역사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구조의 디지털화에서 빅데이터·AI 까지 — 50년의 여정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화학정보학 발전의 50년 여정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201168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1950s–60s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00200"/>
            <a:ext cx="8321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70992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구조의 디지털화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305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화학 구조의 기계어 번역 및 데이터베이스 태동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15768"/>
            <a:ext cx="2011680" cy="96012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1970s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715768"/>
            <a:ext cx="8321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82549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규칙의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4612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부분 구조 검색과 정량적 구조-활성 관계(QSAR)의 등장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5"/>
            <a:ext cx="2011680" cy="96012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5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1980s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831335"/>
            <a:ext cx="8321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941063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3D 혁명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36168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개인용 컴퓨터 보급과 3D 분자 모델링의 실용화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46904"/>
            <a:ext cx="2011680" cy="9601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46904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1990s–현재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946904"/>
            <a:ext cx="8321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5056632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B2A4A"/>
                </a:solidFill>
                <a:latin typeface="Malgun Gothic"/>
              </a:rPr>
              <a:t>데이터 대폭발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477256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HTS·조합화학의 등장 및 'Cheminformatics' 명명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1950s–60s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구조의 디지털화와 검색의 시작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초기 컴퓨터의 제한된 저장·연산력을 극복하기 위한 '번역'의 시대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선형 표기법(Linear Notation): WLN 등 구조를 1차원 문자열로 압축 저장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연결 테이블(Connection Table): 1957년 Ray &amp; Kirsch — 원자·결합을 행렬로 명시 기록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CAS(Chemical Abstracts Service) 레지스트리 — 방대한 문헌 구조의 DB화 시작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현대 시스템의 근간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Connection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원자·결합을 수학적 행렬로 명시 기록해 컴퓨터가 화학적 위상(topology)을 이해하게 한 표현 (2D 파트에서 상세)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p11 (Ray &amp; Kirsch 1957; CAS)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1970s–80s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규칙의 발견과 3D 모델링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1970s · 규칙과 예측의 기원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DENDRAL (1965~): 최초의 화학 전문가 시스템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Feigenbaum &amp; Lederberg (Stanford)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질량 분석 데이터로 구조를 스스로 추론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QSAR 1964 Hansch &amp; Fujita: 물성↔활성 정량화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Log(1/C)=aπ+bσ+c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1980s · 3D 혁명·정보 대중화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CONCORD (1987, Pearlman): 2D→3D 자동 변환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PC 보급으로 책상 위 정보 검색 가능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Beilstein·Gmelin 등 전통 사전의 전자 DB화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수용체-리간드 도킹 등 3D 기반 설계의 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입체화학의 시대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p12, p13 (DENDRAL; Hansch &amp; Fujita 1964; CONCORD 1987)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1990s–현재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빅데이터와 'Cheminformatics' 명명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조합화학 &amp; HTS: 로봇으로 한 번에 수만 개 화합물 합성·시험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처리할 데이터가 상상 못할 규모로 다시 한 번 폭발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8444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83863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용어의 탄생 (1998): F. K. Brown 이 'Cheminformatics' 로 명명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5254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정의: 신약개발에서 방대한 데이터를 지식으로 변환해 더 나은 의사결정을 내리는 과정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데이터 규모: 100년간 100만 개에 불과하던 화합물이 2000년 1,500만 개로 기하급수 성장했고, 오늘날 3,500만 개 이상으로 확대 — 사람 손으로는 감당 불가.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p7, p14, p28 (F.K.Brown 1998; HTS·조합화학)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신약개발 파이프라인 속 화학정보학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무작위 실험에서 합리적 설계(CADD)로 — 표현이 만드는 예측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과거의 병폐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무작위 실험(Trial &amp; Error)의 한계</a:t>
            </a:r>
          </a:p>
        </p:txBody>
      </p:sp>
      <p:pic>
        <p:nvPicPr>
          <p:cNvPr id="6" name="Picture 5" descr="funnel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114800" cy="224443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과거: 물리적 합성·시험에 100% 의존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개발 기간 10~14년, 평균 비용 $800M~$1B+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성공률 단 0.01% 수준 (FDA 승인 기준)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병목: Phase II 임상의 높은 실패율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주원인 = 독성·약효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9893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998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9984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물리적 합성과 맹목적 무작위 시험에 의존하는 과거 방식은 시간·비용 측면에서 더 이상 지속 불가능하다.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p5, p44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개입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신약개발 파이프라인과 CADD</a:t>
            </a:r>
          </a:p>
        </p:txBody>
      </p:sp>
      <p:pic>
        <p:nvPicPr>
          <p:cNvPr id="6" name="Picture 5" descr="pipeline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94560"/>
            <a:ext cx="5669280" cy="316424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CADD (Computer-Aided Drug Design) = In silico 개입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단계: Target ID → Lead ID → Lead Opt → 전임상 → 임상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화학정보학은 주로 1~3단계(타겟~선도물질 최적화)에 집중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의미: 약을 '발견'에서 정밀하게 '설계'하는 패러다임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p45 (CADD 파이프라인)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CADD 두 기둥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기반(SBDD) vs 리간드 기반(LBDD)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SBDD (구조 기반 설계)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조건: 표적 단백질의 3D 구조를 알 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X-ray·NMR 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주요 기술: 분자 도킹·분자 동역학(MD)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원리: 자물쇠(단백질) 모양에 맞는 열쇠(약) 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LBDD (리간드 기반 설계)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조건: 표적 3D 구조는 모르나 활성 리간드는 알 때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주요 기술: pharmacophore 모델링·QSAR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QSAR 상세=3교시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원리: 작동하는 열쇠들의 공통 패턴으로 더 나은 열쇠 유추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두 접근 모두 '정확한 구조 표현'을 전제로 한다 — 도킹은 3D 좌표를, pharmacophore/QSAR 는 기술자를 필요로 한다. 그래서 표현이 먼저다.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가상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가상 탐색(Virtual Screening)</a:t>
            </a:r>
          </a:p>
        </p:txBody>
      </p:sp>
      <p:pic>
        <p:nvPicPr>
          <p:cNvPr id="6" name="Picture 5" descr="virtual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11680"/>
            <a:ext cx="4572000" cy="249381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대규모 화학 라이브러리: ZINC·ChEMBL 등 수백만~수천만 화합물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In silico 필터링: 결합력·독성·약물성(drug-likeness) 초고속 스크리닝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741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73552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결과: 물리 실험(in vitro)에서 테스트할 소수 Hit/Lead 선별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59936"/>
            <a:ext cx="6035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전제: 정확한 구조 표현(CT·fingerprint) 없이는 부분/유사도 검색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한 번의 물리 합성 전에 독성·비결합 화합물을 미리 걸러 천문학적 비용을 절감. 'fingerprint·유사도 검색'의 상세는 2교시.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p40, p47 (ZINC·ChEMBL)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데이터 · 데이터베이스 · 정보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방대한 화학 데이터를 관리·검색·지식화하는 골격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 정보 시스템의 작동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600200"/>
            <a:ext cx="2377440" cy="64008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사용자 (User)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697480"/>
            <a:ext cx="2377440" cy="6400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69748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애플리케이션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886200"/>
            <a:ext cx="3108960" cy="77724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데이터베이스 시스템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E9EDF1"/>
                </a:solidFill>
                <a:latin typeface="Malgun Gothic"/>
              </a:rPr>
              <a:t>(관계형·구조화 화학정보)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886200"/>
            <a:ext cx="3108960" cy="77724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플랫 파일 (Flat-File)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Malgun Gothic"/>
              </a:rPr>
              <a:t>SMILES·연결 테이블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514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검색(Search)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질의(Query)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4864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5046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046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방대·복잡한 화학 데이터를 최종 사용자가 쉽게 검색하도록, 어플리케이션 계층과 저장소 계층(DB / Flat-File)을 엄격히 분리해 관리한다.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p17, p50 (정보 시스템 아키텍처)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공개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 데이터베이스 landscape</a:t>
            </a:r>
          </a:p>
        </p:txBody>
      </p:sp>
      <p:pic>
        <p:nvPicPr>
          <p:cNvPr id="6" name="Picture 5" descr="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389120" cy="239406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화합물 라이브러리: ZINC · ChEMBL (수백만~수천만 화합물)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주석·매핑 DB: ChEBI · DrugBank · KEGG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식별자 체계: CAS Registry · Beilstein · Gmelin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Open Babel: 110종 화학 파일 포맷 상호 변환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MOL/SDF·PDB·MOL2 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이들은 원본 강의에 등장한 DB·도구다. 서로 다른 DB 를 잇는 '보편 키'가 필요한데 — 그 역할이 뒤에 나올 InChIKey 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p8, p47 · 2_분자구조표현방법.pdf p7, p22 (ZINC·ChEMBL·ChEBI·DrugBank·KEGG·Open Babel)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왜 '구조 표현'이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이름으로는 부족하다 — 기계가 읽는 수학적 표기로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번역 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화학자의 언어 vs 컴퓨터의 언어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화학자의 언어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인간의 직관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형태와 그림 (2D/3D 구조식)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공간적 성질로 사고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 사이 소통에 최적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컴퓨터의 언어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기계의 논리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비트(0과 1)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수학적 연산만 가능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그림·직관은 인식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기계는 원자도 결합도 '보지' 못한다. 화학 구조를 컴퓨터가 이해할 인공 언어로 번역하지 못하면 AI·QSAR·가상탐색 어떤 분석도 불가능하다 (Translation Gap).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이름의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하나의 구조, 수많은 이름 — 명명법의 함정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15600" cy="1051560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에탄올 한 물질 → </a:t>
            </a:r>
            <a:r>
              <a:rPr sz="1300" b="1" i="0">
                <a:solidFill>
                  <a:srgbClr val="C0392B"/>
                </a:solidFill>
                <a:latin typeface="Malgun Gothic"/>
              </a:rPr>
              <a:t>Ethanol · Ethyl alcohol · EtOH · 에탄올 · Hydroxyethane …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같은 구조가 수많은 동의어를 가져 컴퓨터는 'Ambiguous Input' 으로 처리 → DB 매칭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166360" cy="24231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640080" y="283464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관용명 (Trivial)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57530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02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Acetic Acid, Palytoxin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417880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05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직관적·소통 빠름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78231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규칙이 없어 알고리즘으로 구조 복원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40"/>
            <a:ext cx="5166360" cy="24231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283464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계통 명명법 (IUPAC)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57530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50215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Ethanoic Acid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417880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10565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이름에서 구조 도출 규칙 존재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478231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70916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이름이 매우 길어지고 파싱 비용 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결론: 명명법은 텍스트 인덱싱엔 적합하나, 부분 구조 검색·물성 계산·대규모 마이닝엔 한계 — 이름이 아닌 수학적·시스템적 표기가 필요하다.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p35 · 2_분자구조표현방법.pdf p5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공용어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표준 파일 포맷 = 글로벌 공용어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화학 SW 마다 내부 데이터 구조(Internal Format)가 모두 다르다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883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8775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이들을 연결할 글로벌 공용어(External Exchange Format)가 필수 — 보통 ASCII 텍스트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295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MDL Molfile &amp; SDF (.sdf): 2D/3D 구조+비구조 속성을 한 파일에 — 제약 산업 지배적 표준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708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7024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PDB (.pdb): 단백질 등 거대 분자(macromolecule)의 3D 좌표 표준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이런 표준 포맷이 없었다면 기관 간 데이터 공유와 AI 모델 구축은 불가능했을 것 — 표현은 '저장·교환'의 문제이기도 하다. (포맷 상세는 J 파트)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p33 (MDL Molfile/SDF · PDB)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표현의 차원 계층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0D → 1D → 2D → 3D · 담는 정보가 늘수록 복잡도도 는다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데이터 차원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분자 표현의 4가지 차원 (0D→3D)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371600" cy="841248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371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0D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91640"/>
            <a:ext cx="923544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783080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B2A4A"/>
                </a:solidFill>
                <a:latin typeface="Malgun Gothic"/>
              </a:rPr>
              <a:t>분자식 (Molecular Formula)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67128"/>
            <a:ext cx="8869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C₂H₄O₂ — 구성 원자의 종류·수, 위상 정보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15768"/>
            <a:ext cx="1371600" cy="84124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1371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1D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715768"/>
            <a:ext cx="923544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80720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B2A4A"/>
                </a:solidFill>
                <a:latin typeface="Malgun Gothic"/>
              </a:rPr>
              <a:t>선형 표기 (Line Notation)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91256"/>
            <a:ext cx="8869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C=CC(C)=O 등 SMILES·WLN 문자열, 기계 파싱에 최적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39896"/>
            <a:ext cx="1371600" cy="84124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9896"/>
            <a:ext cx="1371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2D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739896"/>
            <a:ext cx="923544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3831335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B2A4A"/>
                </a:solidFill>
                <a:latin typeface="Malgun Gothic"/>
              </a:rPr>
              <a:t>위상 그래프 (Connection Table)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215383"/>
            <a:ext cx="8869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원자(노드)·결합(에지)의 2차원 네트워크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64024"/>
            <a:ext cx="1371600" cy="841248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64024"/>
            <a:ext cx="1371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3D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764024"/>
            <a:ext cx="923544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4855464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B2A4A"/>
                </a:solidFill>
                <a:latin typeface="Malgun Gothic"/>
              </a:rPr>
              <a:t>공간 좌표 (3D Coordinates)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239512"/>
            <a:ext cx="8869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x,y,z 데카르트 좌표·입체화학, 물리 현실에 가장 근접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p6 · 표현 차원 피라미드 1_화학정보학.pdf p34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한 분자, 여러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같은 분자(카페인)를 다르게 표현하기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표현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값 (카페인, Caffeine)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관용명 (Common)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Caffeine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분자식 (0D)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C8H10N4O2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3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63239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IUPAC 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63239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1,3,7-trimethylpurine-2,6-dione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7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11879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CAS 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11879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58-08-2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6052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WLN (1D)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160520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T56 BN DN FNVNVJ B F 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0916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SMILES (1D)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09160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CN1C=NC2=C1C(=O)N(C(=O)N2C)C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5780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InChI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57800"/>
            <a:ext cx="6949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InChI=1/C8H10N4O2/c1-10-4-9-6-5(10)7(13)12(3)8(14)11(6)2/h4H,1-3H3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같은 분자여도 목적에 따라 표현이 다르다 — 이름은 사람용, 분자식은 요약, SMILES/WLN 은 전송, InChI 는 식별. 다음 파트부터 1D→2D→3D 순으로 본다.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 (Caffeine representations)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1D 선형 표기법 (Line Notation)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2D 구조를 한 줄 문자열로 — 저장·전송에 최적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왜 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2D에서 1D로의 번역 · 진화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문제 &amp; 해결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화학자의 2D 구조식은 직관적이나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DB 저장·검색엔 부적합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구조를 1D 알파벳·숫자 문자열로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변환하는 '선형 표기법'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진화 (1960s→현재)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WLN (1960s): 최초의 대중적 암호화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ROSDAL (1980s초): Beilstein DB용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SLN (1980s중): 명시적 수소·확장성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 (현재): 직관 문법·글로벌 표준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 원리: 2D 위상(topology) 구조를 1D 문자열로 '평면화(flattening)'하여 저장 용량을 최소화하고 검색·전송 속도를 극대화한다.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p10, p11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초기 표기법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WLN · ROSDAL · SLN — 무엇이 달랐나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 · 한계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21945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WLN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65960"/>
            <a:ext cx="32918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프래그먼트(Fragments) 기호화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212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최초 시스템; 같은 구조에 여러 코드(모호성)·인간 판독 난해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24328"/>
            <a:ext cx="21945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ROSDAL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24328"/>
            <a:ext cx="32918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그래프 노드-에지 (1-2=3)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24328"/>
            <a:ext cx="5212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원자에 번호 부여·기호로 결합 표현; Beilstein 검색에 최적화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8269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82696"/>
            <a:ext cx="21945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SLN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82696"/>
            <a:ext cx="32918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원자 + ID (Atom+ID)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82696"/>
            <a:ext cx="5212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명시적 수소 표기·데이터 확장성; 마쿠쉬 구조·3D 속성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프래그먼트(WLN)의 모호성 → 수학적 그래프(ROSDAL)로 명확성 확보 → 확장성(SLN) → 직관·호환성의 SMILES 로 수렴. 지금 표준은 SMILES.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p12, p13, p14, p19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SMILES (개념)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SMILES — 현재의 글로벌 표준 (문법은 2교시)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Simplified Molecular Input Line Entry System — Weininger 1988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9689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96312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Daylight Chemical Information Systems 개발 · 정의: opensmiles.org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467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46120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연결 테이블과 stereochemistry 를 한 줄 문자열로 표현 (예: 에탄올 CCO)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96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995928"/>
            <a:ext cx="10698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철학: 컴퓨터가 이해할 만큼 완벽하고, 사람이 키보드로 빠르게 칠 만큼 단순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한 분자가 여러 SMILES 로 표현됨(one-to-many) → DB 중복·ML 입력 시 'Canonical SMILES'로 정규화해야 안전. 정규화·문법 상세는 2교시.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p15, p16, p18 (Weininger, J Chem Inf Comput Sci 1988, 28, 31)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표준 식별자 (InChI / InChIKey)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하나의 구조 = 하나의 코드 · DB 를 잇는 보편 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H · 두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표기법이 갖춰야 할 두 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명확성 (Unambiguous)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하나의 코드 → 오직 하나의 구조로 복원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코드를 읽으면 구조가 유일하게 결정됨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 신뢰성의 전제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유일성 (Unique)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하나의 구조 → 오직 하나의 표준 코드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번호 매기는 순서와 무관하게 동일 코드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해결: Morgan Algorithm(정규화)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문제: 같은 구조라도 원자 번호 부여 순서에 따라 수천 개의 다른 코드가 생성될 수 있다. Morgan Algorithm 이 위상 대칭성을 계산해 항상 동일한 '표준(Canonical)' 코드를 부여 — 데이터 중복 방지의 핵심.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p38 (Morgan Algorithm)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H · InChI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InChI — 구조 기반 국제 표준 식별자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International Chemical Identifier — NIST &amp; IUPAC 개발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32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32304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목적: 분자를 고유하게 식별 · 구조 기반 생성(CAS 번호와 달리) · 구조와 1:1 매칭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163824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계층 구조: 분자식 / 원자 연결 / 수소 / 전하 / 입체화학 sub-layer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959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895344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80" b="1" i="0">
                <a:solidFill>
                  <a:srgbClr val="1C242B"/>
                </a:solidFill>
                <a:latin typeface="Malgun Gothic"/>
              </a:rPr>
              <a:t>특징: 구조 이성질체(tautomer)가 같은 InChI 를 가짐 (SMILES 는 아님)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83480"/>
            <a:ext cx="106070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10241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Aspirin InChI: </a:t>
            </a:r>
            <a:r>
              <a:rPr sz="1050" b="0" i="0">
                <a:solidFill>
                  <a:srgbClr val="1C242B"/>
                </a:solidFill>
                <a:latin typeface="Malgun Gothic"/>
              </a:rPr>
              <a:t>InChI=1/C9H8O4/c1-6(10)13-8-5-3-2-4-7(8)9(11)12/h2-5H,1H3,(H,11,12)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InChIKey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InChI 를 27자 고정 길이로 해시한 코드(예: BSYNRYMUTXBXSQ-…) — 사람이 쓰긴 어렵지만 DB 검색·매칭에 최적. InChI Trust 오픈소스로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p20, p21 (InChI Trust)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H · 보편 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InChIKey — 서로 다른 DB 를 잇는 열쇠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각 DB(ChEBI·DrugBank·KEGG …)는 자체 ID 체계를 가진다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883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8775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구조 기반 InChIKey 를 공통 키로 쓰면 DB 간 동일 분자를 상호 매칭 가능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295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예: Aspirin — ChEBI:15365 · InChIKey BSYNRYMUTXBXSQ-WXRBYKJCCW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708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7024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InChIKey 하나로 ChEBI ↔ DrugBank ↔ KEGG 를 연결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데이터 통합의 접착제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감각: 여러 DB 를 합칠 때 이름·CAS 로 매칭하면 놓치거나 충돌한다. 구조에서 계산되는 InChIKey 로 매칭하는 것이 가장 안전하다.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p22 (DB 간 구조 매칭 Key)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2D 분자 그래프 (Connection 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분자 = 수학적 그래프 · 화학정보학의 가장 핵심 기반 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I · 그래프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분자 = 수학적 그래프</a:t>
            </a:r>
          </a:p>
        </p:txBody>
      </p:sp>
      <p:pic>
        <p:nvPicPr>
          <p:cNvPr id="6" name="Picture 5" descr="gnn_molec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20240"/>
            <a:ext cx="4663440" cy="254369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원자(Atom) = 노드(Node)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결합(Bond) = 에지(Edge)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결합의 실제 길이·각도 같은 기하 정보는 무시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'무엇이 무엇과 연결되어 있는가'라는 순수 연결성(topology)만 추출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위상(Topology)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기하(거리·각도)를 뺀 순수 연결 관계 — 2D 그래프가 담는 정보이자 부분 구조 검색·그래프 분석의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p24 · 1_화학정보학.pdf p37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I · 그래프→행렬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구조를 데이터로: 행렬(Matrix) 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행렬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00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화학적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인접 행렬 (Adjacency)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두 원자의 연결 여부 1/0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6596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분자의 기본 골격 구조 인식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946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6946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거리 행렬 (Distance)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69464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두 원자 간 최단 경로의 결합 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69464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3D 공간 특성·원자 간 거리 유추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7296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결합 행렬 (Bond)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72968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결합 차수(단일/이중 등)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172968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다중 결합의 화학적 성질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발생 행렬 (Incidence)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76472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원자-결합(간선) 직접 관계 매핑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76472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다중 결합·네트워크 위상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N개 원자 분자 → N×N 행렬. 인접 행렬은 이중 결합 정보를 잃으므로, 위상 거리엔 distance matrix, 다중 결합엔 bond matrix 를 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p25, p26, p27 (acetaldehyde 예)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I · CT의 등장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행렬의 한계와 Connection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문제 · Sparse Matrix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실제 분자는 크지만 결합은 국지적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행렬은 불필요한 0 을 무수히 저장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메모리 낭비(비효율)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해결 · Connection Table (CTab)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Atom List: 원소·좌표(x,y,z)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Bond List: 결합한 원자쌍·결합 종류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존재하는 결합만 리스트로 나열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산업 표준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CTab 은 원자 정보와 '존재하는 결합의 쌍'만 리스트로 저장 — 컴퓨터가 위상을 완벽히 파악하면서 메모리를 절약. 현대 파일 포맷(MOL/SDF)의 심장이다.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p28 · 1_화학정보학.pdf p37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3D 좌표와 파일 포맷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위상을 넘어 공간으로 · MOL/SDF/PDB 로 저장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J · 왜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2D를 넘어: 입체화학과 3D의 필연성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때로는 위상(topology)만으로는 부족하다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8833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8775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생체 내 단백질 수용체는 3D 지형(topography)을 인식한다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295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2900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연결이 같아도 입체(stereochemistry) 배치가 다르면 — 하나는 약(Drug), 하나는 독(Toxin)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708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7024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현대 표기는 Wedge 결합·3D 좌표 보관으로 표현 체계를 현실에 가깝게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거울상 이성질체(Enantiomer)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2D 연결은 동일하나 3D 배치가 거울상인 한 쌍 — 생체 반응이 전혀 다를 수 있어 3D 표현이 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p42 (R/S enantiomer)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J · 3D 좌표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3D 구조와 컨포머(Conformer)</a:t>
            </a:r>
          </a:p>
        </p:txBody>
      </p:sp>
      <p:pic>
        <p:nvPicPr>
          <p:cNvPr id="6" name="Picture 5" descr="conformer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20240"/>
            <a:ext cx="4663440" cy="254369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0078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 i="0">
                <a:solidFill>
                  <a:srgbClr val="1C242B"/>
                </a:solidFill>
                <a:latin typeface="Malgun Gothic"/>
              </a:rPr>
              <a:t>3D 표현 = 각 원자의 x, y, z 데카르트 좌표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 i="0">
                <a:solidFill>
                  <a:srgbClr val="1C242B"/>
                </a:solidFill>
                <a:latin typeface="Malgun Gothic"/>
              </a:rPr>
              <a:t>물리적 현실에 가장 근접 — 도킹·물리화학 상호작용에 사용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 i="0">
                <a:solidFill>
                  <a:srgbClr val="1C242B"/>
                </a:solidFill>
                <a:latin typeface="Malgun Gothic"/>
              </a:rPr>
              <a:t>한 분자도 회전·유연성으로 여러 3D 형태(컨포머)를 가짐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 i="0">
                <a:solidFill>
                  <a:srgbClr val="1C242B"/>
                </a:solidFill>
                <a:latin typeface="Malgun Gothic"/>
              </a:rPr>
              <a:t>CONCORD(1987) 등: 2D 연결 테이블 → 3D 구조 자동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주의: 3D 는 정보량이 가장 크지만 기계 처리 비용도 크고 사람이 읽긴 불가능하다 — 목적에 맞는 차원을 고르는 것이 실무 감각.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p6 · 1_화학정보학.pdf p13 (CONCORD)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J · MOL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MOL file — 연결 테이블의 파일화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73736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acetaldehyde.mol (MDL Molfile, 발췌)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39696"/>
            <a:ext cx="10607040" cy="281635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102412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7EC699"/>
                </a:solidFill>
                <a:latin typeface="Consolas"/>
              </a:rPr>
              <a:t>NSC7594 acetaldehyde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7  6  0  0  0 ...  V2000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  0.0000  0.0000  0.0000 </a:t>
            </a:r>
            <a:r>
              <a:rPr sz="1150">
                <a:solidFill>
                  <a:srgbClr val="59C2D6"/>
                </a:solidFill>
                <a:latin typeface="Consolas"/>
              </a:rPr>
              <a:t>C</a:t>
            </a:r>
            <a:r>
              <a:rPr sz="1150">
                <a:solidFill>
                  <a:srgbClr val="7EC699"/>
                </a:solidFill>
                <a:latin typeface="Consolas"/>
              </a:rPr>
              <a:t>   ← Atom block (x,y,z·원소)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  1.5000  0.0000  0.0000 </a:t>
            </a:r>
            <a:r>
              <a:rPr sz="1150">
                <a:solidFill>
                  <a:srgbClr val="59C2D6"/>
                </a:solidFill>
                <a:latin typeface="Consolas"/>
              </a:rPr>
              <a:t>C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  2.1200 -1.0200 -0.0200 </a:t>
            </a:r>
            <a:r>
              <a:rPr sz="1150">
                <a:solidFill>
                  <a:srgbClr val="59C2D6"/>
                </a:solidFill>
                <a:latin typeface="Consolas"/>
              </a:rPr>
              <a:t>O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1  2  1  0  0  0  0</a:t>
            </a:r>
            <a:r>
              <a:rPr sz="1150">
                <a:solidFill>
                  <a:srgbClr val="7EC699"/>
                </a:solidFill>
                <a:latin typeface="Consolas"/>
              </a:rPr>
              <a:t>        ← Bond block (원자1 원자2 결합차수)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E6EDF3"/>
                </a:solidFill>
                <a:latin typeface="Consolas"/>
              </a:rPr>
              <a:t>  2  3  2  0  0  0  0</a:t>
            </a:r>
            <a:r>
              <a:rPr sz="1150">
                <a:solidFill>
                  <a:srgbClr val="7EC699"/>
                </a:solidFill>
                <a:latin typeface="Consolas"/>
              </a:rPr>
              <a:t>        (2번C = 3번O, 이중결합)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M 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1091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20055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Header(이름) · Counts line(원자·결합 수) · Atom block · Bond block — Fortran 기반 고정 컬럼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p30, p31, p32 (Mol file 형식)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J · SDF &amp; PDB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대규모 저장(SDF)과 거대 분자(PDB)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SDF (Structure-Data File)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Molfile(단일 분자) 여러 개를 이어붙임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분자 뒤에 속성 필드 추가 (예: &lt;E_LOGP&gt;)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$$$$ 구분자로 분자 경계 표시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수만 화합물+속성 → ML 데이터셋의 뼈대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PDB (Protein Data Bank)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Brookhaven 개발 · 단백질 결정 구조 저장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3D 좌표 중심, 컬럼 고정 크기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한계: bond order 정보 없음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후속: mmCIF 포맷으로 대체 진행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실무: 저분자는 MOL/SDF, 단백질 구조는 PDB/mmCIF. Open Babel 은 이런 110여 종 포맷을 서로 변환한다 (2교시 실습에서 다룸).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2_분자구조표현방법.pdf p29, p33, p35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종합 &amp; 2교시 브리지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표현 방법 비교 · 문자열 표현과 기술자로 이어짐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K ·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표현 방법 비교 — 목적에 맞는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표기법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사람 가독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저장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부분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45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주요 용도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구조식 (Drawings)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116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최상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01168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수동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논문·인간 소통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1518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615184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SMILES (1D)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615184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1518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매우 작음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615184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어려움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615184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DB 저장·빠른 교환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1868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1868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Connection Table (2D)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218688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18688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중간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218688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빠름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18688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계산·모델링·그래프 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822191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22191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Fingerprint (비트)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822191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822191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매우 작음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822191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매우 빠름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22191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유사도 검색·ML (2교시)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단일 최강 표현은 없다: SMILES 는 전송, Connection Table 은 정밀 위상 계산, Fingerprint 는 초고속 스크리닝에 최적. Fingerprint·기술자 상세는 2교시.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1_화학정보학.pdf p39 · 2_분자구조표현방법.pdf p19, p36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화학정보학 = 화학 문제를 정보학으로 푸는 학문(데이터→지식→예측)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Gasteiger; 1998 명명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컴퓨터는 그림을 못 본다 → 분자를 수학적 기호로 '번역'하는 것이 첫걸음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translation gap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표현은 차원 계층: 0D 분자식 → 1D 선형(SMILES) → 2D 그래프(CT) → 3D 좌표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유일·명확한 식별엔 InChI/InChIKey; 저장·교환엔 MOL/SDF/PDB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단일 최강 표현은 없다 — 목적(검색·계산·ML)에 맞게 고른다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2·3교시의 토대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2교시 브리지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구조 표현이 곧 2교시의 'feature 축'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1교시에서 본 것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분자를 1D/2D/3D 로 표현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 = 1D 선형 문자열(개념)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Connection Table = 2D 그래프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InChI·MOL/SDF = 식별·저장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2교시에서 숫자가 된다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SMILES/SMARTS 문법·정규화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fingerprint (구조 → 비트 벡터)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molecular descriptor (물성·위상 지표)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QSAR 모델 입력(3교시)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문장 브리지 — 오늘 배운 '분자 표현'이 그대로 2교시에서 문자열(SMILES)과 기술자로 정량화되고, 3교시 QSAR 예측의 입력이 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2교시(SMILES &amp; 분자 기술자) 예고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2교시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SMILES &amp; 분자 기술자 — 구조를 숫자로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SMILES/SMARTS 문법·정규화 · fingerprint · molecular descriptor · 공개 DB·Open Babel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분자를 표현하는 법을 알았으니 — 이제 그것을 '숫자 특징(feature)'으로 바꾼다.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(1교시)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원본 강의자료: 1_화학정보학.pdf (52p); 2_분자구조표현방법.pdf (46p).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95144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정의·역사: Gasteiger (화학정보학 정의); Ray &amp; Kirsch 1957 (Connection Table); Feigenbaum &amp; Lederberg (DENDRAL).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9864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QSAR·3D: Hansch &amp; Fujita 1964 (QSAR); Pearlman 1987 (CONCORD); F. K. Brown 1998 ('Cheminformatics' 명명).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02152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선형 표기·식별자: Weininger, J Chem Inf Comput Sci 1988, 28, 31 (SMILES); opensmiles.org; NIST &amp; IUPAC / InChI Trust (InChI).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05656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포맷·표준: MDL Molfile &amp; SDF; PDB(Brookhaven)·mmCIF; Open Babel (110 formats); Pistoia Alliance (HELM).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DB: ZINC · ChEMBL · ChEBI · DrugBank · KEGG · CAS Registry · Beilstein · Gmelin (원본 강의 등장 범위).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12664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모든 수치·명칭은 위 두 원본 PDF 정독 내용에 근거 (무-날조). 문법·기술자·QSAR 상세는 2·3교시에서 다룸.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53/53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1교시 · 화학정보학과 분자 구조 표현 — 표현이 모든 예측의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다음: 2교시 SMILES &amp; 분자 기술자 → 3교시 QSAR &amp; 모델링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핵심 프레임: 분자를 어떻게 표현하나(0D→3D) = 이후 검색·예측·설계의 상한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