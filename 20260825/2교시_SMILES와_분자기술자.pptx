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2교시 · 분자 구조 표현 방법 II</a:t>
            </a:r>
          </a:p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9CD8"/>
                </a:solidFill>
                <a:latin typeface="Malgun Gothic"/>
              </a:rPr>
              <a:t>SMILES와 분자 기술자 — 구조를 '문자열'과 '벡터'로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E9EDF1"/>
                </a:solidFill>
                <a:latin typeface="Malgun Gothic"/>
              </a:rPr>
              <a:t>문자열 표현(SMILES·canonical·입체·SMARTS) → 벡터 표현(기술자 0D~4D·지문)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분자 구조 표현 3교시 과정 · 2교시 · 재직자·전공자 · 한국어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전체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3교시 과정 지도 — 지금 어디에 있나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10515600" cy="9601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09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93976"/>
            <a:ext cx="6949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0B2A4A"/>
                </a:solidFill>
                <a:latin typeface="Malgun Gothic"/>
              </a:rPr>
              <a:t>1교시 · 분자 구조 표현의 기초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514600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화학정보학 개요 · 분자 그래프 · InChI · 파일 포맷(MOL/SDF)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00400"/>
            <a:ext cx="10515600" cy="960120"/>
          </a:xfrm>
          <a:prstGeom prst="roundRect">
            <a:avLst/>
          </a:prstGeom>
          <a:solidFill>
            <a:srgbClr val="1F5C99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328416"/>
            <a:ext cx="6949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FFFFFF"/>
                </a:solidFill>
                <a:latin typeface="Malgun Gothic"/>
              </a:rPr>
              <a:t>2교시 · SMILES와 분자 기술자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39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E9EDF1"/>
                </a:solidFill>
                <a:latin typeface="Malgun Gothic"/>
              </a:rPr>
              <a:t>문자열 표현(SMILES·canonical·입체·SMARTS) + 벡터 표현(기술자·지문)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3328416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◀ 현재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434840"/>
            <a:ext cx="10515600" cy="9601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562855"/>
            <a:ext cx="6949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0B2A4A"/>
                </a:solidFill>
                <a:latin typeface="Malgun Gothic"/>
              </a:rPr>
              <a:t>3교시 · QSAR 모델링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83479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기술자·지문을 입력으로 → 구조-활성 관계 학습 · 검증 · 적용범위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흐름: '구조를 어떻게 그리나(1교시)' → '구조를 문자열·벡터로 어떻게 바꾸나(2교시)' → '그 벡터로 활성을 어떻게 예측하나(3교시)'. 표현이 있어야 모델이 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본 과정 구성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1교시 → 2교시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구조 표현에서 문자열·벡터 표현으로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09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1교시에서 본 것 (참조)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분자를 그래프로: 노드=원자, 엣지=결합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InChI·파일 포맷(MOL/SDF)으로 구조 저장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2D 그림 = 사람이 보는 표현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2교시에서 할 것</a:t>
            </a:r>
          </a:p>
        </p:txBody>
      </p:sp>
      <p:sp>
        <p:nvSpPr>
          <p:cNvPr id="18" name="Oval 17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SMILES: 그래프를 한 줄 문자열로 직렬화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Canonical: 1분자 = 1문자열 (중복 제거)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기술자·지문: 구조를 숫자 벡터로 변환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핵심 전환: 1교시의 '분자 그래프'를 (a) 사람·기계가 주고받는 문자열(SMILES)과 (b) 모델이 먹는 숫자 벡터(기술자·지문)로 바꾼다. 둘 다 '구조를 잃지 않고' 옮기는 표현.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본 과정 도입 프레임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2교시 지도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2교시에서 볼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4480560" cy="54864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A. SMILES 문법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417320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원자·결합·분지·고리·방향족·단절·반응 (6대 규칙)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93976"/>
            <a:ext cx="4480560" cy="548640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93976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B. Canonical SMILES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093976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1분자 1문자열 · Morgan / Cangen 알고리즘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70632"/>
            <a:ext cx="4480560" cy="54864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70632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C. 입체·SMARTS·함정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770632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Isomeric SMILES · 부분구조 검색 · RDKit · 흔한 함정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447287"/>
            <a:ext cx="4480560" cy="548640"/>
          </a:xfrm>
          <a:prstGeom prst="round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47287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D. 분자 기술자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447287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0D~4D 분류 · constitutional·topological·geometrical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23944"/>
            <a:ext cx="4480560" cy="5486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23944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E. 지문(Fingerprint)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4123944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구조키 · 해시 · 원형(ECFP) · 기술자 vs 지문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00600"/>
            <a:ext cx="4480560" cy="548640"/>
          </a:xfrm>
          <a:prstGeom prst="round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800600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F. 표현자 품질 요건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4800600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무결성·타당성·유용성 (좋은 표현의 조건)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477255"/>
            <a:ext cx="4480560" cy="548640"/>
          </a:xfrm>
          <a:prstGeom prst="roundRect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477255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G. 3교시 브리지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5477255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기술자·지문 → QSAR 모델의 입력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2교시 구성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SMILES 문법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분자 그래프를 한 줄 문자열로 — 6대 규칙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6/50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SMILES — 화학을 위한 언어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언어로서의 성질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의미론적 명확성: 왼→오른쪽으로 읽으면 구조가 유일하게 도출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LR-1 문법: 백트래킹 없이 스트림으로 초고속 파싱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유한함: 무한한 예외가 아닌 극소수(6개) 규칙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왜 문자열인가</a:t>
            </a:r>
          </a:p>
        </p:txBody>
      </p:sp>
      <p:sp>
        <p:nvSpPr>
          <p:cNvPr id="18" name="Oval 17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SMILES = Simplified Molecular Input Line Entry System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확장성: 새 화학 개념도 기존 시스템 안 깨고 확장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그래프(1교시)를 텍스트 한 줄로 직렬화 → 저장·검색·입력 용이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824727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SMILES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5824727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분자 그래프를 ASCII 문자열로 표기하는 1D 표현법 — 사람·기계 모두 읽고 쓰는 화학의 공용어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Weininger 1988; OpenSMILES 명세(opensmiles.org); Daylight Theory Manual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7/50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1D 표현 위치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1D 문자열 표현들 — SMILES · InChI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SMILES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사람이 읽고 쓰기 쉬움 · 입력 친화적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실습: MolDraw(SMILES→구조 시각화)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본 2교시의 주 표현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8A9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InChI (1교시 참조만)</a:t>
            </a:r>
          </a:p>
        </p:txBody>
      </p:sp>
      <p:sp>
        <p:nvSpPr>
          <p:cNvPr id="18" name="Oval 17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IUPAC 표준 · 계층적 레이어 구조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주로 기계가 생성·대조하는 식별자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파일 포맷과 함께 1교시에서 다룸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1D = 한 줄 문자열 표현. SMILES와 InChI가 대표. InChI·파일 포맷의 상세는 1교시 소관이므로 여기서는 위치만 짚고, 2교시는 SMILES에 집중한다.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3_SMILES표현.pdf p.2 (1D 표현 방법)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8/50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문법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원자(Atoms) — 문장의 알파벳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원자는 원소 기호로 표기한다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609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유기물 부분집합(B C N O P S F Cl Br I)은 대괄호 [ ] 생략 가능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예: C(메탄), O(물), S(황화수소), Cl(염화수소)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75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753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수소(H) 개수는 정상 원자가에 맞춰 자동 계산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B(3) C(4) N(3) O(2) P(3,5) S(2,4,6) F/Cl/Br/I(1)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90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97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그 외 모든 상태(동위원소·전하·기타 원소)는 대괄호 안에 명시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예: [235U](동위원소), [Fe+2](전하), [Au](기타 원소)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94360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95274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95274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대괄호를 쓰면 H는 더 이상 자동 계산되지 않는다 — [C]는 수소 0개(흑연 탄소), C는 메탄(H 4개).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3_SMILES표현.pdf p.4~5 (Atoms)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9/50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원자 속성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원자의 속성 — 전하·수소·질량 (대괄호 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속성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6002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표기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6002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예시·의미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65960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전하(charge)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965960"/>
            <a:ext cx="3657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부호+숫자 또는 부호 반복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965960"/>
            <a:ext cx="41148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[Co+2] 또는 [Co++] · Cobalt(II)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3288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32888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수소 수(H count)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532888"/>
            <a:ext cx="3657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기호 뒤 H+정수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532888"/>
            <a:ext cx="41148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[NH4+] · 암모늄, implicit H 명시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99815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99815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하전된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099815"/>
            <a:ext cx="3657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H 자체가 원자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099815"/>
            <a:ext cx="41148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[H+] · 양성자(proton)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66744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666744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동위원소(mass)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666744"/>
            <a:ext cx="3657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기호 앞 정수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666744"/>
            <a:ext cx="41148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[13C] · Carbon-13, [2H] 중수소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233672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233672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중수(예)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233672"/>
            <a:ext cx="3657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조합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233672"/>
            <a:ext cx="41148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[2H]O[2H] · Heavy Water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원자 속성(전하·chirality 포함)을 지정하려면 반드시 대괄호가 필요하다. H는 보통 원자로 세지 않는(implicit) 속성이지만, 하전·질량 지정 시엔 explicit H로 취급된다.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3_SMILES표현.pdf p.6 (Properties of Atoms)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10/50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문법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결합(Bonds) — 원자를 잇는 접착제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결합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600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기호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예시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65960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단일 결합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965960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-  (생략 가능)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에탄: CC 또는 C-C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69464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6946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방향족 결합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569464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:  (생략 가능)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69464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방향족 고리 내부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72968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1729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이중 결합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172968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72968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에텐: C=C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76472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776472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삼중 결합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776472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#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776472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사이안화수소: C#N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379976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37997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비결합(단절)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379976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.  (dot)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379976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[Na+].[Cl-] · 이온쌍·혼합물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인접 원자 사이의 단일(-)·방향족(:) 결합 기호는 입력 단순화를 위해 생략 가능 — 그래서 물은 O, 에탄올은 CCO로 짧게 쓴다. dot(.)은 결합 차수 0을 뜻한다.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3_SMILES표현.pdf p.7~8 (Bonds)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11/50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문법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분지(Branches) — 분자의 곁가지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곁가지(Branch)는 괄호 ( ) 로 묶어 표현한다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609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괄호는 무한히 중첩(nested)되거나 연속(stacked)될 수 있다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예: C(F)(F)F 플루오로폼 · CCCC(C(=O)O)CCC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75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753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괄호 안에서 결합 기호도 지정 가능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예: CC(=O)O 아세트산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90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97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예: 아이소부티르산 골격 CC(C)C(=O)O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주사슬 C-C-C-O · 첫 가지 (C) · 둘째 가지 (=O)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괄호는 트리(tree) 구조를 만든다 — 주사슬에서 갈라지는 곁가지를 괄호로 감싸 표현. 중첩·연속으로 임의의 분지 골격을 직렬화한다.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3_SMILES표현.pdf p.9~10 (Branching)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12/50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문법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고리(Rings) — 그래프의 무한 루프 해제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연결된 고리의 결합 하나를 임의로 끊어 선형 사슬로 만든다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609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끊어진 두 원자 뒤에 같은 숫자(Ring Closure Digit)를 붙인다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예: 사이클로헥세인 C1CCCCC1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75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753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한 원자가 둘 이상의 고리 닫힘을 가질 수 있다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데칼린 C1CCC2CCCCC2C1 · 닫힘 번호는 재사용 가능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90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97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고리 닫힘의 기본 결합은 단일(또는 방향족)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결합 기호를 숫자 앞에 넣어 지정: C1=CCCCC1 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핵심 아이디어: 그래프의 고리는 그대로 직렬화할 수 없으므로 '결합 하나를 끊고 번호표를 붙여' 선형 문자열로 만든 뒤, 같은 번호끼리 다시 이어 붙여 고리를 복원한다.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3_SMILES표현.pdf p.11~12 (Rings)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13/50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방향족성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방향족성(Aromaticity) — 소문자 표기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방향족 원자는 소문자로 표기: 벤젠 c1ccccc1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609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소문자 허용 원자: c, n, o, p, s, as, se, * (wildcard)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75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753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탐지 기준: 고리의 여분 p-전자 수가 Hückel 4N+2를 만족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90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97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질소는 문맥에 따라 다르다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피리딘 n1ccccc1 · 피롤 [nH]1cccc1 (H 명시 필요)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94360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95274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95274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n(피리딘형, p-전자 1개 기여)과 [nH](피롤형, p-전자 2개 기여)는 다르다 — 피롤 질소는 H를 반드시 명시해야 방향족으로 인식된다.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3_SMILES표현.pdf p.13 (Aromaticity)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14/50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문법 5·6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단절(.)과 흐름(&gt;) — 문장 부호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마침표 ( . ) — 단절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결합 차수 0을 의미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형식적으로 연결 안 된 이온쌍·혼합물 나열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예: [Na+].[Cl-] · CCO.O(에탄올+물)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각 조각이 하나의 'component'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부등호 ( &gt; ) — 반응식</a:t>
            </a:r>
          </a:p>
        </p:txBody>
      </p:sp>
      <p:sp>
        <p:nvSpPr>
          <p:cNvPr id="18" name="Oval 17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두 개의 &gt; 로 반응 흐름 표현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형식: 반응물 &gt; 시약/촉매 &gt; 생성물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예: CCO.CC(=O)O &gt; [H+] &gt; CC(=O)OCC.O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완벽한 양론 균형 없이 관찰 사실만 기록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dot(.)은 '분리', 부등호(&gt;)는 '변환의 흐름'. reaction SMILES에서는 [C:1] 같은 atom map으로 반응 전후 원자를 추적할 수 있다(반응물&gt;시약&gt;생성물).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3_SMILES표현.pdf p.14~15 (Disconnections · Reactions)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15/50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SMILES 6대 기본 구문 — 치트 시트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566160" cy="20116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600200"/>
            <a:ext cx="3566160" cy="457200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636776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원자 (Atoms)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유기물 대괄호 생략 · H 자동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08152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5A636B"/>
                </a:solidFill>
                <a:latin typeface="Malgun Gothic"/>
              </a:rPr>
              <a:t>예: </a:t>
            </a:r>
            <a:r>
              <a:rPr sz="1100" b="1" i="0">
                <a:solidFill>
                  <a:srgbClr val="1F5C99"/>
                </a:solidFill>
                <a:latin typeface="Malgun Gothic"/>
              </a:rPr>
              <a:t>C, O, [Fe+2]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566160" cy="20116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389120" y="1600200"/>
            <a:ext cx="3566160" cy="457200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1636776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결합 (Bonds)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-, =, #, : (단일/방향족 생략)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08152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5A636B"/>
                </a:solidFill>
                <a:latin typeface="Malgun Gothic"/>
              </a:rPr>
              <a:t>예: </a:t>
            </a:r>
            <a:r>
              <a:rPr sz="1100" b="1" i="0">
                <a:solidFill>
                  <a:srgbClr val="1AA68C"/>
                </a:solidFill>
                <a:latin typeface="Malgun Gothic"/>
              </a:rPr>
              <a:t>C=C, C#N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1600200"/>
            <a:ext cx="3566160" cy="20116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8138159" y="1600200"/>
            <a:ext cx="3566160" cy="457200"/>
          </a:xfrm>
          <a:prstGeom prst="round2Same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9" y="1636776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분지 (Branches)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219456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괄호 ( )로 중첩 트리 표현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9" y="308152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5A636B"/>
                </a:solidFill>
                <a:latin typeface="Malgun Gothic"/>
              </a:rPr>
              <a:t>예: </a:t>
            </a:r>
            <a:r>
              <a:rPr sz="1100" b="1" i="0">
                <a:solidFill>
                  <a:srgbClr val="6A4C93"/>
                </a:solidFill>
                <a:latin typeface="Malgun Gothic"/>
              </a:rPr>
              <a:t>CC(C)C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94760"/>
            <a:ext cx="3566160" cy="20116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>
            <a:off x="640080" y="3794760"/>
            <a:ext cx="3566160" cy="457200"/>
          </a:xfrm>
          <a:prstGeom prst="round2Same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19" y="3831336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고리 (Rings)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38912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결합 끊고 숫자 라벨링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5276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5A636B"/>
                </a:solidFill>
                <a:latin typeface="Malgun Gothic"/>
              </a:rPr>
              <a:t>예: </a:t>
            </a:r>
            <a:r>
              <a:rPr sz="1100" b="1" i="0">
                <a:solidFill>
                  <a:srgbClr val="E88A1A"/>
                </a:solidFill>
                <a:latin typeface="Malgun Gothic"/>
              </a:rPr>
              <a:t>C1CCCC1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794760"/>
            <a:ext cx="3566160" cy="20116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>
            <a:off x="4389120" y="3794760"/>
            <a:ext cx="3566160" cy="457200"/>
          </a:xfrm>
          <a:prstGeom prst="round2Same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59" y="3831336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단절 (Disconnect)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38912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마침표 . 로 비결합 표현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276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5A636B"/>
                </a:solidFill>
                <a:latin typeface="Malgun Gothic"/>
              </a:rPr>
              <a:t>예: </a:t>
            </a:r>
            <a:r>
              <a:rPr sz="1100" b="1" i="0">
                <a:solidFill>
                  <a:srgbClr val="C0392B"/>
                </a:solidFill>
                <a:latin typeface="Malgun Gothic"/>
              </a:rPr>
              <a:t>[Na+].[Cl-]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59" y="3794760"/>
            <a:ext cx="3566160" cy="20116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09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8138159" y="3794760"/>
            <a:ext cx="3566160" cy="457200"/>
          </a:xfrm>
          <a:prstGeom prst="round2Same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9" y="3831336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반응 (Reactions)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9" y="438912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부등호 &gt; 로 흐름 정의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39" y="5276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5A636B"/>
                </a:solidFill>
                <a:latin typeface="Malgun Gothic"/>
              </a:rPr>
              <a:t>예: </a:t>
            </a:r>
            <a:r>
              <a:rPr sz="1100" b="1" i="0">
                <a:solidFill>
                  <a:srgbClr val="009CD8"/>
                </a:solidFill>
                <a:latin typeface="Malgun Gothic"/>
              </a:rPr>
              <a:t>A&gt;B&gt;C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3_SMILES표현.pdf p.16 (6대 기본 구문 요약)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16/50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Canonical SMILES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같은 분자, 여러 문자열 → 단 하나의 표준 문자열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17/50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SMILES의 한계 — 하나의 분자, 여러 문자열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일반 SMILES는 시작 원자·방향에 따라 같은 분자를 여러 유효 문자열로 표현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6090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에탄올 하나가 CCO, OCC, C(C)O, C(O)C, O1.C1C … 모두 유효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301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2958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인간 입력에는 유연하지만, 데이터베이스 검색엔 치명적 중복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988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39826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딥러닝 입력으로도 불안정 — 같은 분자가 다른 벡터로 인코딩될 위험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94360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95274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95274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'문자열이 다르다 ≠ 분자가 다르다.' 정규화 없이 문자열을 그대로 키(key)로 쓰면 같은 화합물이 중복 등록되거나 검색에서 누락된다.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3_SMILES표현.pdf p.19 (SMILES의 한계점)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18/50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해법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Canonical SMILES — 1분자 = 1문자열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동일한 화학 구조에 오직 하나의 고유(unique) 표준 문자열을 부여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6090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'1 분자 = 1 고유 문자열' → 신뢰성 있는 저장·검색의 절대 기준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301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2958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CCO / OCC / C(C)O / C(O)C / O1.C1C → 표준화 → 모두 CCO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988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39826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실습 도구: openbabel 등으로 canonical 변환 가능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canonical 형태는 DB dedup·딥러닝 일관 입력에 필수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94360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96188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Canonical SMILES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96188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위상(topology) 기반 규칙으로 원자에 유일한 순서를 부여해 만든 표준 문자열 — 같은 구조면 항상 같은 문자열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3_SMILES표현.pdf p.20~21 (Canonical SMILES)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19/50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원리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정규화 알고리즘 — Canonical Labeling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① 위상수학(topology) 기반으로 원자의 우선순위를 평가한다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6090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② 이웃 원자 수·원자 유형·수소 수 등으로 초기값(invariant)을 할당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301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2958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③ 이웃에 부여된 값으로 각 원자 값을 갱신(반복)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988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39826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④ 원자들이 고유하게 구분될 때까지(또는 값 변화가 없을 때까지) 반복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→ 이 순위대로 문자열을 생성하면 유일한 canonical SMILES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핵심: 분자 그래프에서 '누가 먼저 나오는 원자인가'를 구조만으로 결정하는 것. 라벨링(numbering)에 흔들리지 않는 불변의 순서를 찾으면 문자열이 유일해진다.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3_SMILES표현.pdf p.21~23 (Canonical Labeling)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20/50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알고리즘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Morgan 알고리즘 — 이웃값 합으로 순위 매기기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초기 invariant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모든 원자에 값 1 부여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이웃값 합산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새 invariant = 이웃 원자 값들의 합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서로 다른 값 개수(#values) 확인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반복할수록 값 종류가 늘어남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반복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#values가 더 이상 늘지 않을 때까지 합산 반복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우선순위 확정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최종 invariant로 원자 우선순위 부여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6.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SMILES 생성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우선순위 순서대로 문자열 조립 (동점은 원자 유형·결합 차수로 해소)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· 강점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직관적: 그래프 연결도를 반복 확산으로 요약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1965 Morgan 제안 — canonical labeling의 원형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아스피린 등 실제 분자에 단계별 적용 가능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초기값이 단순 → 원자 유형 결합순서 구분 못함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수치 값이 폭발적으로 증가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대칭 원자를 충분히 구분 못 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3_SMILES표현.pdf p.24~31 (Morgan Algorithm)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21/50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알고리즘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Cangen 알고리즘 — 소수(prime) 곱으로 안정화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초기 invariants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이웃 수·결합차수 합·원자번호·전하·H 수를 인코딩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→ 순위(rank)로 변환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초기 invariant를 정렬해 rank 부여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rank→소수 매핑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rank 1,2,3,…를 소수 2,3,5,7,11,13,…에 대응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새 invariant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이웃들의 소수를 '곱한' 값 (합이 아닌 곱)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재랭킹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(옛 rank, 새 invariant)로 다시 순위 매김 — stable해질 때까지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6.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SMILES 생성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최종 우선순위대로 canonical SMILES 출력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· 강점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Weininger 그룹이 Morgan 단점 보완 위해 제안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곱셈 → 초기값 결합 모호성 방지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대칭 원자 문제 해결 · 안정적 우선순위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절차가 Morgan보다 복잡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구현체마다 세부 규칙(tie-break) 차이 가능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3_SMILES표현.pdf p.32~42 (Cangen Algorithm); Weininger et al. 1989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22/50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입체화학 · SMARTS · 함정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연결성을 넘어 3D 기하와 부분구조 검색까지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23/50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Isomeric SMILES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이성질체 표현 — 기하와 속성 부여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종류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60020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표기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6002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예시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65960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242B"/>
                </a:solidFill>
                <a:latin typeface="Malgun Gothic"/>
              </a:rPr>
              <a:t>동위원소(Isotopes)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965960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질량수를 대괄호 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965960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[13CH4]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69464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69464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242B"/>
                </a:solidFill>
                <a:latin typeface="Malgun Gothic"/>
              </a:rPr>
              <a:t>이중결합 방향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569464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슬래시 / \ 로 cis/trans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569464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F/C=C/F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72968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172968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242B"/>
                </a:solidFill>
                <a:latin typeface="Malgun Gothic"/>
              </a:rPr>
              <a:t>입체 중심(Stereo)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172968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@ / @@ (테트라헤드랄)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172968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C[C@H](N)O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76472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776472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242B"/>
                </a:solidFill>
                <a:latin typeface="Malgun Gothic"/>
              </a:rPr>
              <a:t>반응원자 매핑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776472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[atom:n]으로 추적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776472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[OH:1]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기본 SMILES가 분자의 '연결성'만 보여준다면, Isomeric 규칙은 3차원 기하학(geometry)과 물리화학적 속성(동위원소·전하·입체)까지 부여한다.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3_SMILES표현.pdf p.17 (Isomeric SMILES)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24/50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입체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입체 이성질 — @, @@ 와 / \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이중결합 방향 (E/Z)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/ 와 \ 문자로 cis/trans 지정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예: F/C=C/F (trans-2-butene류 표기)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지정 안 하면 방향 미정(CC=CC)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테트라헤드랄 카이랄 (@)</a:t>
            </a:r>
          </a:p>
        </p:txBody>
      </p:sp>
      <p:sp>
        <p:nvSpPr>
          <p:cNvPr id="18" name="Oval 17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@ = 반시계, @@ = 시계 방향(visual mnemonic)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SMILES에 나열된 첫 이웃에서 '바라볼 때' 순서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예: L-alanine N[C@@H](C)C(=O)O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미지정: N[CH](C)C(=O)O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@/@@는 카이랄 중심 주위 이웃의 나열 순서를 3D 회전 방향으로 해석하는 규칙. 같은 원자 연결이라도 @와 @@는 서로 거울상(enantiomer)이 된다.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3_SMILES표현.pdf p.17~18 (Stereo Isomerism)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25/50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SMARTS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SMARTS — 부분구조 검색을 위한 확장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SMARTS = SMILES를 확장한 '부분구조 질의(query) 언어'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609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SMILES가 '하나의 분자'라면, SMARTS는 '찾고 싶은 패턴'을 기술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75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753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와일드카드·원자/결합 조건·논리 연산으로 유연한 매칭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예: 임의 원자 * , 방향족 탄소 c , 고리 원자 [R]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90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97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용도: 작용기 탐지·필터링·반응 규칙·독성 경보(structural alert)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라이브러리에서 특정 골격을 가진 분자만 골라내기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SMARTS는 SMILES 문법 위에 '질의 원자/결합' 개념을 얹은 표준(Daylight). 부분구조 검색(substructure search)은 화학 라이브러리 스크리닝의 기본 연산이다.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Daylight SMARTS 명세 (SMILES 확장) · 부분구조 검색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26/50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실습 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RDKit 한 줄 예시 (개념 코드)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73736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python — SMILES 파싱 · canonical · 부분구조 · 지문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39696"/>
            <a:ext cx="10607040" cy="2523744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31136"/>
            <a:ext cx="10241280" cy="2432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59C2D6"/>
                </a:solidFill>
                <a:latin typeface="Consolas"/>
              </a:rPr>
              <a:t>from rdkit import </a:t>
            </a:r>
            <a:r>
              <a:rPr sz="1150">
                <a:solidFill>
                  <a:srgbClr val="E6EDF3"/>
                </a:solidFill>
                <a:latin typeface="Consolas"/>
              </a:rPr>
              <a:t>Chem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59C2D6"/>
                </a:solidFill>
                <a:latin typeface="Consolas"/>
              </a:rPr>
              <a:t>from rdkit.Chem import </a:t>
            </a:r>
            <a:r>
              <a:rPr sz="1150">
                <a:solidFill>
                  <a:srgbClr val="E6EDF3"/>
                </a:solidFill>
                <a:latin typeface="Consolas"/>
              </a:rPr>
              <a:t>AllChem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mol = Chem.MolFromSmiles(</a:t>
            </a:r>
            <a:r>
              <a:rPr sz="1150">
                <a:solidFill>
                  <a:srgbClr val="7EC699"/>
                </a:solidFill>
                <a:latin typeface="Consolas"/>
              </a:rPr>
              <a:t>'CC(=O)Oc1ccccc1C(=O)O'</a:t>
            </a:r>
            <a:r>
              <a:rPr sz="1150">
                <a:solidFill>
                  <a:srgbClr val="E6EDF3"/>
                </a:solidFill>
                <a:latin typeface="Consolas"/>
              </a:rPr>
              <a:t>)  </a:t>
            </a:r>
            <a:r>
              <a:rPr sz="1150">
                <a:solidFill>
                  <a:srgbClr val="7EC699"/>
                </a:solidFill>
                <a:latin typeface="Consolas"/>
              </a:rPr>
              <a:t># 아스피린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canon = Chem.MolToSmiles(mol)      </a:t>
            </a:r>
            <a:r>
              <a:rPr sz="1150">
                <a:solidFill>
                  <a:srgbClr val="7EC699"/>
                </a:solidFill>
                <a:latin typeface="Consolas"/>
              </a:rPr>
              <a:t># canonical SMILES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patt = Chem.MolFromSmarts(</a:t>
            </a:r>
            <a:r>
              <a:rPr sz="1150">
                <a:solidFill>
                  <a:srgbClr val="7EC699"/>
                </a:solidFill>
                <a:latin typeface="Consolas"/>
              </a:rPr>
              <a:t>'c1ccccc1'</a:t>
            </a:r>
            <a:r>
              <a:rPr sz="1150">
                <a:solidFill>
                  <a:srgbClr val="E6EDF3"/>
                </a:solidFill>
                <a:latin typeface="Consolas"/>
              </a:rPr>
              <a:t>)  </a:t>
            </a:r>
            <a:r>
              <a:rPr sz="1150">
                <a:solidFill>
                  <a:srgbClr val="7EC699"/>
                </a:solidFill>
                <a:latin typeface="Consolas"/>
              </a:rPr>
              <a:t># 벤젠 고리 질의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hit  = mol.HasSubstructMatch(patt) </a:t>
            </a:r>
            <a:r>
              <a:rPr sz="1150">
                <a:solidFill>
                  <a:srgbClr val="7EC699"/>
                </a:solidFill>
                <a:latin typeface="Consolas"/>
              </a:rPr>
              <a:t># 부분구조 매칭 True/False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fp = AllChem.GetMorganFingerprintAsBitVect(mol, </a:t>
            </a:r>
            <a:r>
              <a:rPr sz="1150">
                <a:solidFill>
                  <a:srgbClr val="7EC699"/>
                </a:solidFill>
                <a:latin typeface="Consolas"/>
              </a:rPr>
              <a:t>2</a:t>
            </a:r>
            <a:r>
              <a:rPr sz="1150">
                <a:solidFill>
                  <a:srgbClr val="E6EDF3"/>
                </a:solidFill>
                <a:latin typeface="Consolas"/>
              </a:rPr>
              <a:t>, </a:t>
            </a:r>
            <a:r>
              <a:rPr sz="1150">
                <a:solidFill>
                  <a:srgbClr val="7EC699"/>
                </a:solidFill>
                <a:latin typeface="Consolas"/>
              </a:rPr>
              <a:t>2048</a:t>
            </a:r>
            <a:r>
              <a:rPr sz="1150">
                <a:solidFill>
                  <a:srgbClr val="E6EDF3"/>
                </a:solidFill>
                <a:latin typeface="Consolas"/>
              </a:rPr>
              <a:t>) </a:t>
            </a:r>
            <a:r>
              <a:rPr sz="1150">
                <a:solidFill>
                  <a:srgbClr val="7EC699"/>
                </a:solidFill>
                <a:latin typeface="Consolas"/>
              </a:rPr>
              <a:t># ECFP4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718303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727447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MolFromSmiles로 그래프 생성 → MolToSmiles(canonical) / SMARTS 매칭 / Morgan(ECFP) 지문. 개념 예시.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RDKit 표준 API (개념) — Chem/AllChem 모듈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27/50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함정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SMILES 흔한 함정 — 원본 예시로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함정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60020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무엇이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0020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바른 이해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65960"/>
            <a:ext cx="3657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다중 표현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965960"/>
            <a:ext cx="40233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CCO=OCC=C(C)O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965960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canonical로 통일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1460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14600"/>
            <a:ext cx="3657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대괄호와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514600"/>
            <a:ext cx="40233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[C] vs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514600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[C]=수소0, C=메탄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6323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63239"/>
            <a:ext cx="3657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방향족 소문자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063239"/>
            <a:ext cx="40233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c vs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063239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c=방향족, C=지방족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11879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611879"/>
            <a:ext cx="3657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피롤 질소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611879"/>
            <a:ext cx="40233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n vs [nH]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611879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피롤은 [nH] 필수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6052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160520"/>
            <a:ext cx="3657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고리 번호 재사용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160520"/>
            <a:ext cx="40233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닫힌 뒤 숫자 재활용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160520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다른 고리에 같은 번호 OK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70916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709160"/>
            <a:ext cx="3657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결합 생략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709160"/>
            <a:ext cx="40233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-, : 생략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709160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= # 는 반드시 명시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98932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99846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599846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가장 잦은 실수: 문자열이 다르면 다른 분자라 착각(→canonical 필요), 그리고 방향족/지방족 대소문자 혼동. 입력 후 반드시 재파싱해 구조를 확인.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3_SMILES표현.pdf p.13·19 (Aromaticity · 비유일성)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28/50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분자 기술자 (Molecular Descriptor)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구조를 '계산 가능한 숫자'로 — 표현으로서의 기술자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29/50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분자 기술자란 — 구조를 숫자로 옮기는 번역기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화학적 정보(2D 그래프·3D 구조)를 → 논리·수학적 절차로 → 유용한 숫자로 변환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6090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즉, 화학 구조를 컴퓨터가 계산할 수 있는 '수치형'으로 옮기는 Translator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301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2958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결과는 예측에 활용 가능한 데이터 벡터 [1.4, 0, 5, 22 …]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988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39826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Todeschini &amp; Consonni의 정의에 기반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'기호적 표현에 인코딩된 화학 정보 → 유용한 숫자'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Molecular Descriptor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824727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분자의 기호적 표현 내에 담긴 화학 정보를 엄격한 수학 절차로 유용한 숫자로 변환한 값 — 모델의 입력 feature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4_Molecular_Descriptor.pdf p.4·20 (정의; Todeschini &amp; Consonni)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30/50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직관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왜 기술자인가 — '선수 카드' 비유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사람 — 농구 능력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키·몸무게·윙스팬(피지컬 스펙)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3점 성공률·자유투 성공률(퍼포먼스)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올스타 경험 [1/0](이진 데이터)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→ 숫자 벡터만으로 선수 가치 평가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분자 — 활성(Activity)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분자량(MW)·친유성(LogP)(물리화학 스펙)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수소결합 수용체 수·회전결합 수(구조 능력치)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특정 작용기 존재 [1/0]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→ 숫자 벡터만으로 특성·활성 설명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핵심 전제: '유사한 구조 → 유사한 특성(Structure-Property Relationship)'. 그러므로 구조를 잘 요약한 숫자(기술자)가 비슷하면 특성도 비슷할 것으로 기대한다.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4_Molecular_Descriptor.pdf p.5~6·21 (직관·유사성의 전이)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31/50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차원 분류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차원에 따른 표현자 분류 — 0D~4D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차원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60020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성격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6002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내용·예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65960"/>
            <a:ext cx="2377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0D (스칼라)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965960"/>
            <a:ext cx="40233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원자 개수·분자량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965960"/>
            <a:ext cx="43891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위상·기하 정보 없는 가장 단순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3288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32888"/>
            <a:ext cx="2377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1D (벡터)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532888"/>
            <a:ext cx="40233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하위구조·파편 개수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532888"/>
            <a:ext cx="43891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특정 작용기·결합 존재 여부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99815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99815"/>
            <a:ext cx="2377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2D (위상학)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099815"/>
            <a:ext cx="40233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그래프 이론 기반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099815"/>
            <a:ext cx="43891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원자 연결성 (예: Wiener Index)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66744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666744"/>
            <a:ext cx="2377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3D (기하학)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666744"/>
            <a:ext cx="40233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3D 공간좌표 기반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666744"/>
            <a:ext cx="43891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RDF·3D-MoRSE (회전/이동 불변)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233672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233672"/>
            <a:ext cx="2377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4D (앙상블)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4233672"/>
            <a:ext cx="40233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형태·전하 분포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233672"/>
            <a:ext cx="43891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conformational ensemble·CoMFA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아래로 갈수록 복잡도·정보량이 증가한다. 0D→4D는 '무엇이 얼마나 있나(조성)' → '어떻게 연결됐나(위상)' → '공간에 어떻게 놓였나(기하)' 순으로 정보를 더한다.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4_Molecular_Descriptor.pdf p.8·10 (차원별 분류 체계)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32/50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0D·1D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기본 구조와 개수 — Constitutional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개념: 분자의 기본 조성·구조 요소를 3D 정보 없이 2D 분자식 기반으로 수치화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609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주요 지수: 분자량(MW)·원자 수(nH, nC 등)·결합 수·특정 작용기 개수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75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753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포함 블록: Constitutional indices · Functional group counts · Atom-centred fragments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90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97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특징: 무거운 연산 없이 매우 빠름 → HTS(고속 대량 스크리닝) 1차 필터링에 유용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1D 표현자 = 분자의 '부품 명세서'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Constitutional descriptor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입체·연결 방식을 배제하고 '무엇이 얼마나 들어있는지'만 세는 구성적 데이터 — atom/bond counts, MW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4_Molecular_Descriptor.pdf p.13·31~32 (1D Descriptor)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33/50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2D 위상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2D 그래프와 위상 — Topological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개념: 분자를 2D 수학 그래프로 추상화 → 가지치기·크기·고리 형태를 수치화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609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거리 행렬(Distance Matrix)·인접 행렬(Adjacency Matrix)로 연결성을 완전 수치화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75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753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주요 지수: Zagreb index · Randić connectivity index(χ) · Wiener index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90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97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특징: 입체 이성질체 완전 구분은 어렵지만, 분지 정도·골격 형상 표현에 탁월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QSAR의 가장 기초적 변수로 널리 쓰임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위상학적 표현자는 3D 좌표 없이도 '누가 누구와 연결됐는가'를 그래프 행렬로 완전히 담는다. 대표가 Wiener index(1947)와 Randić χ 지수.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4_Molecular_Descriptor.pdf p.14·33 (2D 위상학적 표현자)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34/50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예시 지수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Wiener · Randić — 위상 지수의 계산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Wiener Index (W, 1947)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W = ½ · Σ Dij (거리행렬 원소 합의 절반)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모든 (비수소) 원자 쌍 간 최단경로 수의 총합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절차: 수소 제거 → 거리행렬 → 상삼각 합산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의미: 분자의 크기·조밀도를 정수 하나로 압축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예: 곧은 4원자 사슬 → W=10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Randić 지수 (χ)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χ = Σ (di × dj)^(−1/2)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각 결합을 이루는 두 원자의 차수(degree)로 계산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단순 거리가 아닌 '가지침(branching)' 정량화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의미: 골격이 얼마나 복잡하게 얽혔는가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복잡한 2D 그림이 '고유한 정수/실수 하나'로 변환된다 — 이것이 위상 지수의 힘. 같은 원자 수라도 가지침이 다르면 W·χ 값이 달라진다.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4_Molecular_Descriptor.pdf p.34~36 (Wiener · Randić)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35/50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2D 행렬·전하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2D 행렬·스펙트럼 · 전기위상·전하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2D 행렬·스펙트럼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그래프 행렬(거리·인접·Laplacian)의 고유값 분석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노드에 원자량·전기음성도·분극율 가중치 부여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포함: Burden eigenvalues · Edge adjacency indices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→ 연결성 + 원자 고유 특성 결합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전기위상·전하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원자 전자 상태 + 위상 거리 영향을 통합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주요: partial charge · Max/Min charge · E-state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포함: Atom-type E-state · Charge · ETA indices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→ 수소결합·정전기·반응성 부위 예측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행렬 기반은 '연결성의 고유값 스펙트럼'으로 더 정밀한 특징을 뽑고, 전기위상·전하 기술자는 '어디가 전자가 풍부/부족한가'를 수치화한다.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4_Molecular_Descriptor.pdf p.15·17 (2D Matrix · Electrotopological·Charge)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36/50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3D 기하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3D 기하·표면 — Geometrical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개념: 원자 간 공간 거리와 질량·전하 등 특성값의 상관을 함수화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609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주요: RDF(원자쌍 거리 분포) · 3D-MoRSE · WHIM(3D 비대칭성) · GETAWAY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75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753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형태: 타원도(Ovality) = Smol / Ssphere — 구에서 얼마나 벗어났나(최소 1)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90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97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표면: 반데르발스(vdW) · 분자표면(MS/Connolly) · 용매접근(SAS)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회전·평행이동에 불변 → 단백질-바인딩 모델링에 필수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3D 기술자는 conformer에 의존하므로 '회전·이동해도 값이 안 변하는(invariant)' 설계가 핵심. 표면 종류(vdW/MS/SAS)는 프로브(용매) 취급 방식이 다르다.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4_Molecular_Descriptor.pdf p.16·37~40 (3D·Ovality·Surface)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37/50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물성·약물유사성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물리화학·약물 유사성 — PhysChem &amp; Drug-likeness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개념: 실제 실험값과 1:1로 매칭되는 거시적 물리화학 스코어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609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주요 지수: AlogP/MlogP · TPSA · Lipinski's Rule of 5 스코어 · AMR(몰 굴절률)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75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753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포함 블록: Molecular properties · P_VSA-like · Drug-like indices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90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97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역할: 라이브러리 스크리닝(HTS)·ADME/Tox 예측의 가이드라인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실무에서 가장 직관적으로 쓰이는 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TPSA / LogP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TPSA=위상 극성 표면적, LogP=친유성 — 흡수·투과 등 약물성 평가의 핵심 물리화학 기술자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4_Molecular_Descriptor.pdf p.18 (PhysChem &amp; Drug-likeness)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38/50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전체 지도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기술자 카탈로그 — 6대 분류와 Dragon 블록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6대 분류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0020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대표 블록(예)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6002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성격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65960"/>
            <a:ext cx="3840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1. 기본 구조·개수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965960"/>
            <a:ext cx="3840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constitutional · functional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965960"/>
            <a:ext cx="3017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0D·1D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1460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14600"/>
            <a:ext cx="3840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2. 2D 그래프·위상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514600"/>
            <a:ext cx="3840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topological · connectivity · walk/path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514600"/>
            <a:ext cx="3017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2D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6323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63239"/>
            <a:ext cx="3840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3. 2D 행렬·스펙트럼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063239"/>
            <a:ext cx="3840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Burden · edge adjacency · eigenvalue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063239"/>
            <a:ext cx="3017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2D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11879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611879"/>
            <a:ext cx="3840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4. 자기상관·공간분포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611879"/>
            <a:ext cx="3840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2D/3D autocorr · RDF · 3D-MoRSE · WHIM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611879"/>
            <a:ext cx="3017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2D·3D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6052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160520"/>
            <a:ext cx="3840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5. 전기위상·전하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160520"/>
            <a:ext cx="3840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E-state · charge · Randic profiles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160520"/>
            <a:ext cx="3017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2D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70916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709160"/>
            <a:ext cx="3840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6. 물리화학·약물유사성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709160"/>
            <a:ext cx="3840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molecular properties · drug-like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4709160"/>
            <a:ext cx="3017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실측 매칭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Dragon 같은 도구는 기술자를 20여 개 블록(constitutional 48개, topological 119개, RDF 150개 …)으로 수천 개까지 계산한다 — 표현자는 '많이' 만들 수 있고, 고르는 것이 관건.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4_Molecular_Descriptor.pdf p.11~12 (Dragon 20 blocks · 6대 분류)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39/50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지문 (Fingerprints)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구조적 특징의 존재/부재를 비트로 — 유사성 검색의 언어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40/50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지문(Fingerprint)이란 — 비트 스트링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특정 구조적 특징(fragment)이 존재(1)/부재(0)를 이진 비트 스트링으로 인코딩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609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예: [벤젠 고리? 1][질소 원자? 0][OH 기? 1] → [1, 0, 1]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75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753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각 비트 = '이 조각이 분자에 있는가?'라는 예/아니오 질문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90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97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고차원·희소(sparse) 벡터 → 분자 간 유사도 계산에 최적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(농구 지문 비유: 올스타?1 · 왼손잡이?0 · 해외리그?1)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Fingerprint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분자 내 구조적 특징의 존재 여부를 비트로 나열한 벡터 — 유사성 검색·클러스터링·ML 입력에 쓰임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4_Molecular_Descriptor.pdf p.9 (Fingerprints)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41/50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종류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지문 3대 계열 — 구조키·해시·원형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4592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계열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645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459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특징·용도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11247120" cy="603503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011680"/>
            <a:ext cx="292608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구조키(structural key)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011680"/>
            <a:ext cx="45720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사전에 정의된 조각 목록의 존재/부재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011680"/>
            <a:ext cx="32004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해석 쉬움 · 고정 길이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70048"/>
            <a:ext cx="11247120" cy="60350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670048"/>
            <a:ext cx="292608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해시(hashed/path)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670048"/>
            <a:ext cx="45720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경로(path)를 해시해 비트에 매핑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670048"/>
            <a:ext cx="32004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사전 불필요 · 범용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28416"/>
            <a:ext cx="11247120" cy="603503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328416"/>
            <a:ext cx="292608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원형(circular, ECFP)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328416"/>
            <a:ext cx="45720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각 원자 주변 반경 확장 환경을 인코딩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328416"/>
            <a:ext cx="32004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부분구조·유사성에 강함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원형 지문(ECFP/Morgan)은 canonical의 Morgan 아이디어와 동일하게 '원자 주변 이웃을 반복 확장'해 각 반경의 환경을 비트로 남긴다 — 그래서 부분구조·유사성 검색에서 사실상 표준.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4_Molecular_Descriptor.pdf p.9; Morgan(p.24~) 확장 · Rogers &amp; Hahn 2010(ECFP)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42/50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기술자 vs 지문 — 무엇이 다른가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분자 기술자 (Descriptor)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실수값(연속): MW·LogP·Wiener 등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해석 가능: 각 값의 화학적 의미가 명확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차원: 수십~수천 개 (선택이 관건)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용도: 물성 예측·회귀 모델 입력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지문 (Fingerprint)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이진/카운트: 조각 존재 여부(0/1)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고차원·희소: 1024~2048비트 이상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유사성에 강함: Tanimoto 등으로 비교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용도: 유사 검색·클러스터링·분류 입력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둘 다 '구조 → 벡터' 표현이지만, 기술자는 '해석 가능한 물성 축', 지문은 '부분구조 존재의 지도'. 실무에선 둘을 상황에 맞게(또는 함께) 쓴다.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4_Molecular_Descriptor.pdf p.4·9 (기술자 정의 · 지문) 종합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43/50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좋은 표현자의 조건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같은 '벡터'라도 아무 숫자나 표현이 되는 건 아니다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44/50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F · 3대 프레임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완벽한 표현자를 위한 3대 설계 프레임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10972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201168" cy="109728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993392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B2A4A"/>
                </a:solidFill>
                <a:latin typeface="Malgun Gothic"/>
              </a:rPr>
              <a:t>[1] 수학적 무결성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50592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A636B"/>
                </a:solidFill>
                <a:latin typeface="Malgun Gothic"/>
              </a:rPr>
              <a:t>모호함 없는 계산 + 불변성의 원칙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08960"/>
            <a:ext cx="10515600" cy="10972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108960"/>
            <a:ext cx="201168" cy="10972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273552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B2A4A"/>
                </a:solidFill>
                <a:latin typeface="Malgun Gothic"/>
              </a:rPr>
              <a:t>[2] 화학적 타당성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730752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A636B"/>
                </a:solidFill>
                <a:latin typeface="Malgun Gothic"/>
              </a:rPr>
              <a:t>구조 변화를 민감하게 반영·해석할 수 있는 능력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389120"/>
            <a:ext cx="10515600" cy="10972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389120"/>
            <a:ext cx="201168" cy="10972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553712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B2A4A"/>
                </a:solidFill>
                <a:latin typeface="Malgun Gothic"/>
              </a:rPr>
              <a:t>[3] 통계적 유용성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010912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A636B"/>
                </a:solidFill>
                <a:latin typeface="Malgun Gothic"/>
              </a:rPr>
              <a:t>데이터 독립성 + 예측 모델에서의 실용적 가치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대전제: '유사한 표현자를 가진 분자는 유사한 특성을 가져야 한다.' 이 전제가 성립하려면 표현자가 무결·타당·유용해야 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4_Molecular_Descriptor.pdf p.21~22 (유사성의 전이 · 3대 프레임)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45/50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F · 세부 요건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무결성 · 타당성 · 유용성 —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프레임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60020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핵심 요건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002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의미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65960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수학적 무결성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965960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알고리즘적 계산의 명확성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965960"/>
            <a:ext cx="3200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같은 입력=같은 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3288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32888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수학적 무결성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532888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라벨링·회전·병진 이동에 불변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532888"/>
            <a:ext cx="3200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관점에 안 흔들림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99815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99815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화학적 타당성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099815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구조 변화 → 값의 점진적 변화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099815"/>
            <a:ext cx="3200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민감도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66744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666744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화학적 타당성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666744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이성질체 판별력 · 역해독(decodability)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666744"/>
            <a:ext cx="3200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구별·해석 가능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233672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233672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통계적 유용성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233672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최소 1개 특성과 유의한 상관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233672"/>
            <a:ext cx="3200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예측력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800600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800600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통계적 유용성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4800600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중복성 배제 · 넓은 적용 범위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800600"/>
            <a:ext cx="3200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독립성·확장성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특히 '실험 측정값에 의존하지 않고 순수 구조 정보에서 도출'되어야 in silico 예측 인자로 쓸 수 있다 — 표현자가 정답을 미리 훔쳐보면 안 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4_Molecular_Descriptor.pdf p.23~29 (설계 요건 · 진단 매트릭스)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46/50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2교시 정리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7335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SMILES: 분자 그래프를 6대 규칙으로 한 줄 문자열로 직렬화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원자·결합·분지·고리·방향족·단절/반응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60604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8775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Canonical SMILES: 1분자=1문자열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Morgan·Cangen으로 유일한 원자 순서 부여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52044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0215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Isomeric·SMARTS: 3D 기하 부여 + 부분구조 검색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@/@@·/\ · 부분구조 질의 · RDKit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4348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1655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기술자: 구조를 해석 가능한 숫자 벡터로 (0D~4D)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constitutional·topological·geometrical·physchem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34924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3492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33095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지문: 구조적 특징의 존재를 비트로 → 유사성 검색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구조키·해시·원형(ECFP)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47/50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3교시 브리지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이 기술자·지문이 곧 QSAR 모델의 '입력'이 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2교시에서 만든 것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SMILES / canonical 문자열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기술자 벡터 (MW·LogP·Wiener·χ …)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지문 비트 (ECFP 등)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= 구조를 담은 숫자 표현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3교시에서 할 것 (예고)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표현자 → 예측 모델 → 활성/물성 출력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QSAR: 구조-활성 정량 관계 학습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검증·적용범위(Applicability Domain)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* 모델링 상세는 3교시 전담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한 문장 브리지 — 오늘 만든 기술자·지문 벡터가 그대로 3교시 QSAR 모델의 입력 feature가 된다. '표현이 있어야 모델이 있다.' 모델 학습·검증은 3교시에서.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4_Molecular_Descriptor.pdf p.3·27 (표현자 → 모델 입력, 다리 개념)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48/50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9CD8"/>
                </a:solidFill>
                <a:latin typeface="Malgun Gothic"/>
              </a:rPr>
              <a:t>3교시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10241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FFFFFF"/>
                </a:solidFill>
                <a:latin typeface="Malgun Gothic"/>
              </a:rPr>
              <a:t>QSAR 모델링 — 표현에서 예측으로</a:t>
            </a:r>
          </a:p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기술자·지문 → 구조-활성 관계 학습 → 검증(교차검증·외부셋) → 적용범위 판단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577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9CD8"/>
                </a:solidFill>
                <a:latin typeface="Malgun Gothic"/>
              </a:rPr>
              <a:t>구조를 문자열·벡터로 표현했으니 — 이제 그 벡터로 활성을 예측한다.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49/50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주요 출처 (2교시)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SMILES: 3_SMILES표현.pdf (전 42p) — 문법(원자·결합·분지·고리·방향족·단절/반응), canonical, isomeric.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SMILES 표준: Weininger, J Chem Inf Comput Sci 1988; OpenSMILES 명세(opensmiles.org); Daylight Theory Manual.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Canonical: Morgan, J Chem Doc 1965; Weininger et al. (CANGEN) 1989; 3_SMILES표현.pdf p.21~42.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39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SMARTS: Daylight SMARTS 명세 (SMILES 확장) — 부분구조 검색.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기술자: 4_Molecular_Descriptor.pdf (표현으로서의 기술자·지문 부분) — 정의·차원분류·6대 블록.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기술자 정본: Todeschini &amp; Consonni, Handbook of Molecular Descriptors; Dragon software (20 blocks).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59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위상 지수: Wiener 1947 (W); Randić 1975 (χ). 지문: Rogers &amp; Hahn 2010 (ECFP).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실습: RDKit(Chem/AllChem, 개념 예시); openbabel(canonical); MolDraw(SMILES→구조).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3504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* QSAR 모델링·검증·적용범위는 3교시 전담 — 본 교시는 '표현'까지만 다룸.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50/50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9CD8"/>
                </a:solidFill>
                <a:latin typeface="Malgun Gothic"/>
              </a:rPr>
              <a:t>2교시 · SMILES와 분자 기술자 — 구조를 문자열·벡터로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206240"/>
            <a:ext cx="10241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이전: 1교시 분자 구조 표현 기초(그래프·InChI·파일포맷) → 다음: 3교시 QSAR 모델링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핵심 프레임: 문자열(SMILES) + 벡터(기술자·지문) = 3교시 모델의 입력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