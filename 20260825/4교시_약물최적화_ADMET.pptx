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331720"/>
            <a:ext cx="9144000" cy="54864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화학정보학 실습 · 4교시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4400" b="1" i="0">
                <a:solidFill>
                  <a:srgbClr val="FFFFFF"/>
                </a:solidFill>
                <a:latin typeface="Malgun Gothic"/>
              </a:rPr>
              <a:t>약물 최적화 &amp; ADMET</a:t>
            </a:r>
          </a:p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Malgun Gothic"/>
              </a:rPr>
              <a:t>약효만으론 약이 되지 않는다 — 다중 파라미터 최적화(MPO)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9CD8"/>
                </a:solidFill>
                <a:latin typeface="Malgun Gothic"/>
              </a:rPr>
              <a:t>~10^60 개의 가능한 화합물 중에서, 동시에 여러 조건을 맞추는 최적화의 과학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9EDF1"/>
                </a:solidFill>
                <a:latin typeface="Malgun Gothic"/>
              </a:rPr>
              <a:t>재직자·전공자 · 한국어 · 1 구조표현 → 2 기술자 → 3 QSAR → 4 최적화·ADMET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3교시 → 4교시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QSAR로 약효를 예측했다 — 그러나 약효만으론 약이 되지 않는다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465575" cy="10515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874519"/>
            <a:ext cx="3465575" cy="310896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83663"/>
            <a:ext cx="337413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3교시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2240279"/>
            <a:ext cx="3319271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A636B"/>
                </a:solidFill>
                <a:latin typeface="Malgun Gothic"/>
              </a:rPr>
              <a:t>QSAR로
활성·물성 예측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1874519"/>
            <a:ext cx="292608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9CD8"/>
                </a:solidFill>
                <a:latin typeface="Malgun Gothic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874519"/>
            <a:ext cx="3465575" cy="10515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361688" y="1874519"/>
            <a:ext cx="3465575" cy="310896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7" y="1883663"/>
            <a:ext cx="337413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문제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40279"/>
            <a:ext cx="3319271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A636B"/>
                </a:solidFill>
                <a:latin typeface="Malgun Gothic"/>
              </a:rPr>
              <a:t>약효(potency)가
높아도 약이 안 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1874519"/>
            <a:ext cx="292608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9CD8"/>
                </a:solidFill>
                <a:latin typeface="Malgun Gothic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5" y="1874519"/>
            <a:ext cx="3465575" cy="10515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8083295" y="1874519"/>
            <a:ext cx="3465575" cy="310896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9015" y="1883663"/>
            <a:ext cx="337413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4교시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7" y="2240279"/>
            <a:ext cx="3319271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A636B"/>
                </a:solidFill>
                <a:latin typeface="Malgun Gothic"/>
              </a:rPr>
              <a:t>ADMET·PK를 함께
맞추는 최적화(MPO)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326440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6424" y="3163824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3교시: 기술자(X) → QSAR 모델 f → 활성/물성(y)을 예측했다 (potency 예측)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392277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6424" y="3822191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그러나 강한 활성 하나로는 약이 되지 않는다 — 흡수·대사·독성·선택성이 모두 맞아야 한다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58114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6424" y="4480559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실제로 임상 실패의 상당 부분이 효능 부족이 아니라 ADMET·안전성 문제에서 온다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523951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6424" y="5138928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4교시 = '약효 예측'을 넘어 '약이 되게 만드는' 다중 조건 동시 최적화의 원리와 실무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핵심 전환: 3교시가 '한 가지 값(활성)을 잘 예측하기'였다면, 4교시는 '여러 값(활성+ADMET+PK+선택성)을 동시에 좋게 만들기'다. 이것이 리드 최적화(lead optimization)의 본질.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강의 연계 (3교시 QSAR → 4교시 최적화); Kola &amp; Landis, Nat Rev Drug Discov 2004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4교시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4교시가 끝나면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01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007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합성가능 화학공간의 규모(~10^60)와 전수탐색 불가 → 왜 '최적화'인지 설명한다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Bohacek 1996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243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5237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리드→약물 과정의 물성 팽창(molecular obesity)과 리간드 효율(LE/LLE)을 안다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Leeson 2007·Hopkins 2004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447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3467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ADMET(흡수·분포·대사·배설·독성) 각 축과 in silico 예측 가능성을 설명한다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3교시 QSAR 연계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2702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169663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다중 파라미터 최적화(MPO)·CNS MPO·QED·Pareto front·가중합의 함정을 안다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Wager 2010·Bickerton 2012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509320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49926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DMTA 사이클과 임상 attrition의 원인, AI/ML의 역할을 실무 감각으로 안다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Kola&amp;Landis·Waring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4교시 학습목표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전체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강의 시리즈 지도 — 지금 어디에 있나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10515600" cy="8686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09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709928"/>
            <a:ext cx="74980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B2A4A"/>
                </a:solidFill>
                <a:latin typeface="Malgun Gothic"/>
              </a:rPr>
              <a:t>1교시 · 화학정보학 &amp; 분자 구조 표현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0312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분자를 컴퓨터로 표현 (SMILES·그래프)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97480"/>
            <a:ext cx="10515600" cy="8686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807208"/>
            <a:ext cx="74980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B2A4A"/>
                </a:solidFill>
                <a:latin typeface="Malgun Gothic"/>
              </a:rPr>
              <a:t>2교시 · SMILES &amp; 분자 기술자·지문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0040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분자를 숫자 벡터 X 로 (Descriptor·Fingerprint)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94760"/>
            <a:ext cx="10515600" cy="8686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904488"/>
            <a:ext cx="74980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B2A4A"/>
                </a:solidFill>
                <a:latin typeface="Malgun Gothic"/>
              </a:rPr>
              <a:t>3교시 · QSAR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29768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그 X 로 활성·물성 예측 (모델·검증·적용범위)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892040"/>
            <a:ext cx="10515600" cy="868680"/>
          </a:xfrm>
          <a:prstGeom prst="roundRect">
            <a:avLst/>
          </a:prstGeom>
          <a:solidFill>
            <a:srgbClr val="E88A1A"/>
          </a:solidFill>
          <a:ln w="222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001768"/>
            <a:ext cx="74980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4교시 · 약물 최적화 &amp; ADMET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394959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E9EDF1"/>
                </a:solidFill>
                <a:latin typeface="Malgun Gothic"/>
              </a:rPr>
              <a:t>예측을 넘어: ADMET·PK·선택성을 동시 최적화(MPO)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5001768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◀ 현재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94360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596188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96188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흐름: 표현(1) → 숫자화(2) → 예측(3) → 최적화(4). 앞 세 교시가 '분자를 이해·예측하는 도구'라면, 4교시는 그 도구들을 엮어 '실제로 약이 될 분자를 찾는' 의사결정 단계다.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강의 시리즈 구성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4교시 지도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4교시에서 볼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4480560" cy="54864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A. 화학공간의 규모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417320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C242B"/>
                </a:solidFill>
                <a:latin typeface="Malgun Gothic"/>
              </a:rPr>
              <a:t>~10^60 · GDB-17 · 전수탐색 불가 → 왜 최적화인가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93976"/>
            <a:ext cx="4480560" cy="548640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93976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B. 약효만으론 부족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093976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C242B"/>
                </a:solidFill>
                <a:latin typeface="Malgun Gothic"/>
              </a:rPr>
              <a:t>molecular obesity · 리간드 효율(LE/LLE/LipE)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70632"/>
            <a:ext cx="4480560" cy="54864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70632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C. ADMET 심화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770632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C242B"/>
                </a:solidFill>
                <a:latin typeface="Malgun Gothic"/>
              </a:rPr>
              <a:t>흡수·분포·대사·배설·독성 + in silico 예측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447287"/>
            <a:ext cx="4480560" cy="548640"/>
          </a:xfrm>
          <a:prstGeom prst="round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47287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D. 다중 파라미터 최적화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447287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C242B"/>
                </a:solidFill>
                <a:latin typeface="Malgun Gothic"/>
              </a:rPr>
              <a:t>MPO·desirability·CNS MPO·QED·Pareto front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23944"/>
            <a:ext cx="4480560" cy="5486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23944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E. 최적화 실무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4123944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C242B"/>
                </a:solidFill>
                <a:latin typeface="Malgun Gothic"/>
              </a:rPr>
              <a:t>DMTA 사이클 · 리드 최적화 · 임상 attrition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00600"/>
            <a:ext cx="4480560" cy="548640"/>
          </a:xfrm>
          <a:prstGeom prst="round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800600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F. AI/ML의 역할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4800600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C242B"/>
                </a:solidFill>
                <a:latin typeface="Malgun Gothic"/>
              </a:rPr>
              <a:t>예측모델 MPO 통합 · 생성모델+스코어링 · 실습 연계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477255"/>
            <a:ext cx="4480560" cy="548640"/>
          </a:xfrm>
          <a:prstGeom prst="roundRect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477255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G. 종합·클로징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5477255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C242B"/>
                </a:solidFill>
                <a:latin typeface="Malgun Gothic"/>
              </a:rPr>
              <a:t>1→2→3→4교시 종합 · 정리 · 참고문헌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4교시 구성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6/49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화학공간의 규모와 최적화 문제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~10^60 개의 가능성 — 왜 '탐색'이 아니라 '최적화'인가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7/49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화학공간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화학공간(chemical space)이란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화학공간 = 이론적으로 존재 가능한 모든 분자의 집합 (각 분자가 하나의 '점')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3405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33472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의약품 후보가 될 만한 small-molecule 공간만 따져도 상상 이상으로 크다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75303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74720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반면 지금까지 인류가 합성한 화합물은 이 공간의 극히 일부에 불과하다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41655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315968"/>
            <a:ext cx="1069848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따라서 신약 발굴 = 이 거대한 공간에서 '약이 될 소수의 점'을 찾는 문제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건초더미에서 바늘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직관: 화학공간의 크기가 '전수탐색(하나씩 다 만들어 시험)'을 원천적으로 불가능하게 만든다. 그래서 '똑똑하게 좁혀 가는' 최적화와 in-silico 예측(1~3교시)이 필수가 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Bohacek et al., Med Res Rev 1996; Reymond, Acc Chem Res 2015 (chemical space)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8/49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규모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합성가능 화학공간의 크기 — ~10^60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691640"/>
            <a:ext cx="9966960" cy="105156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91640"/>
            <a:ext cx="99669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가능한 drug-like 소분자  ≈  10^60 개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E9EDF1"/>
                </a:solidFill>
                <a:latin typeface="Malgun Gothic"/>
              </a:rPr>
              <a:t>(Bohacek et al. 1996 — 최대 ~30개 중원자, 통상적 원소·규칙 하에서의 추정)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1272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3026664"/>
            <a:ext cx="106984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비교 감각: 관측 가능한 우주의 별 개수 추정치(~10^22)조차 10^60 앞에서는 무의미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84048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739896"/>
            <a:ext cx="106984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HTS(고속대량스크리닝)로 시험하는 라이브러리는 보통 10^6~10^7 규모 — 공간의 10^-53배 수준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5371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53128"/>
            <a:ext cx="106984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즉 어떤 실험적 스크리닝도 화학공간의 '먼지 한 톨'만 훑을 뿐이다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9788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90702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90702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10^60 은 '정확한 개수'가 아니라 '자릿수(order of magnitude) 추정'이다. 가정(원자 수·규칙)에 따라 값은 달라진다 — 요점은 '전수탐색 불가'라는 규모 감각.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Bohacek, McMartin &amp; Guida, Med Res Rev 1996 (~10^60 drug-like molecules)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9/49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열거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실제로 열거해 본 공간 — GDB 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데이터베이스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7830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범위(중원자 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78308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열거된 분자 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48840"/>
            <a:ext cx="11247120" cy="603503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148840"/>
            <a:ext cx="27432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GDB-11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301752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최대 11개 (C·N·O·F)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148840"/>
            <a:ext cx="475488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약 2,640만 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07208"/>
            <a:ext cx="11247120" cy="60350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807208"/>
            <a:ext cx="27432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GDB-13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807208"/>
            <a:ext cx="301752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최대 13개 (C·N·O·S·Cl)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807208"/>
            <a:ext cx="475488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약 9.7억 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65576"/>
            <a:ext cx="11247120" cy="603503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465576"/>
            <a:ext cx="27432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GDB-17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465576"/>
            <a:ext cx="301752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최대 17개 (drug-like)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465576"/>
            <a:ext cx="475488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약 1,664억 개 (~166 billion)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0416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6424" y="3941063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C242B"/>
                </a:solidFill>
                <a:latin typeface="Malgun Gothic"/>
              </a:rPr>
              <a:t>Reymond 그룹은 규칙에 맞는 소분자를 실제로 '컴퓨터로 전부 세어(enumerate)' 데이터베이스로 만들었다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60857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6424" y="450799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C242B"/>
                </a:solidFill>
                <a:latin typeface="Malgun Gothic"/>
              </a:rPr>
              <a:t>GDB-17만 해도 약 1,664억 개 — 그런데도 중원자 17개까지의 극히 일부 공간일 뿐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517550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6424" y="507492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C242B"/>
                </a:solidFill>
                <a:latin typeface="Malgun Gothic"/>
              </a:rPr>
              <a:t>공간은 원자 수가 늘수록 조합폭발(combinatorial explosion)로 급격히 커진다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→ ~10^60 이 실감된다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Ruddigkeit, van Deursen, Blum &amp; Reymond, J Chem Inf Model 2012 (GDB-17); Reymond, Acc Chem Res 2015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10/49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왜 최적화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전수탐색 불가 → 왜 '최적화'가 필요한가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탐색(search)의 한계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공간이 10^60 → 하나씩 만들 수 없음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합성·시험은 비싸고 느리다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무작위 스크리닝은 히트율 낮음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발견한 히트도 대부분 '약'이 못 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최적화(optimization)의 발상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전부 보는 대신 좋은 방향으로 이동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한 히트/리드에서 국소 개선 반복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예측 모델로 만들기 전에 걸러냄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여러 목표를 동시에 만족하도록 유도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핵심 전환: 신약 화학은 '거대한 공간을 다 뒤지기(불가능)'가 아니라 '유망한 출발점에서 여러 조건을 함께 좋게 만들며 이동하기'다. 그 이동을 이끄는 것이 QSAR·ADMET 예측과 MPO 점수.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Bohacek 1996; 최적화 관점 (lead optimization) 개념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11/49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최적화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약물 최적화 = 다차원 제약 최적화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737360"/>
            <a:ext cx="9966960" cy="868680"/>
          </a:xfrm>
          <a:prstGeom prst="roundRect">
            <a:avLst/>
          </a:prstGeom>
          <a:solidFill>
            <a:srgbClr val="EEF2F6"/>
          </a:solidFill>
          <a:ln w="1587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9966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0B2A4A"/>
                </a:solidFill>
                <a:latin typeface="Malgun Gothic"/>
              </a:rPr>
              <a:t>max 약효(potency)  s.t.  ADMET·선택성·PK·합성가능성 동시 만족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944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843784"/>
            <a:ext cx="1069848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목적함수 하나가 아니라 여러 목표(활성↑·독성↓·용해도↑·대사안정성↑ …)가 동시에 걸림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3931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38728"/>
            <a:ext cx="1069848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게다가 목표들이 서로 충돌한다 — 예: 지용성↑ 하면 투과↑ 지만 용해도↓·독성↑ 위험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3425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33672"/>
            <a:ext cx="1069848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좁은 '약이 되는 영역(druggable window)'을 여러 축에서 동시에 통과해야 한다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502920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4928616"/>
            <a:ext cx="1069848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이것이 뒤에서 볼 다중 파라미터 최적화(MPO, PART D)의 문제 정의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870448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MPO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87044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Multi-Parameter Optimization — 서로 충돌하는 여러 목표를 동시에 만족시키는 최적화. 4교시의 중심 개념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MPO 문제 정의 (Segall, Curr Pharm Des 2012; Wager et al. 2010)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12/49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약효만으론 부족하다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potency만 좇으면 왜 실패하는가 — molecular obesity와 리간드 효율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13/49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여정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히트 → 리드 → 약물, 그 사이의 함정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2535174" cy="10515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874519"/>
            <a:ext cx="2535174" cy="310896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83663"/>
            <a:ext cx="244373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Hit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2240279"/>
            <a:ext cx="238887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A636B"/>
                </a:solidFill>
                <a:latin typeface="Malgun Gothic"/>
              </a:rPr>
              <a:t>스크리닝에서
활성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6966" y="1874519"/>
            <a:ext cx="292608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9CD8"/>
                </a:solidFill>
                <a:latin typeface="Malgun Gothic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1286" y="1874519"/>
            <a:ext cx="2535174" cy="10515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3431286" y="1874519"/>
            <a:ext cx="2535174" cy="310896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7006" y="1883663"/>
            <a:ext cx="244373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4438" y="2240279"/>
            <a:ext cx="238887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A636B"/>
                </a:solidFill>
                <a:latin typeface="Malgun Gothic"/>
              </a:rPr>
              <a:t>활성·물성
일부 최적화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8172" y="1874519"/>
            <a:ext cx="292608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9CD8"/>
                </a:solidFill>
                <a:latin typeface="Malgun Gothic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874519"/>
            <a:ext cx="2535174" cy="10515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6222492" y="1874519"/>
            <a:ext cx="2535174" cy="310896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8212" y="1883663"/>
            <a:ext cx="244373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Candidate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5644" y="2240279"/>
            <a:ext cx="238887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A636B"/>
                </a:solidFill>
                <a:latin typeface="Malgun Gothic"/>
              </a:rPr>
              <a:t>ADMET·안전성
통과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9378" y="1874519"/>
            <a:ext cx="292608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9CD8"/>
                </a:solidFill>
                <a:latin typeface="Malgun Gothic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13698" y="1874519"/>
            <a:ext cx="2535174" cy="10515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>
            <a:off x="9013698" y="1874519"/>
            <a:ext cx="2535174" cy="310896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9418" y="1883663"/>
            <a:ext cx="244373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Drug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6850" y="2240279"/>
            <a:ext cx="238887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A636B"/>
                </a:solidFill>
                <a:latin typeface="Malgun Gothic"/>
              </a:rPr>
              <a:t>임상 통과
·시판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326440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6424" y="3163824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최적화 과정에서 화학자는 활성을 높이려 자연히 분자를 '키우고' '기름지게' 만드는 경향이 있다</a:t>
            </a:r>
          </a:p>
        </p:txBody>
      </p:sp>
      <p:sp>
        <p:nvSpPr>
          <p:cNvPr id="27" name="Oval 26"/>
          <p:cNvSpPr/>
          <p:nvPr/>
        </p:nvSpPr>
        <p:spPr>
          <a:xfrm>
            <a:off x="777240" y="392277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6424" y="3822191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작용기를 더하면 표적 결합(활성)은 좋아지지만, 크기·지용성이 함께 커진다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" y="458114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6424" y="4480559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커지고 기름진 분자는 용해도·투과·대사·독성에서 대가를 치른다 (다음 장)</a:t>
            </a:r>
          </a:p>
        </p:txBody>
      </p:sp>
      <p:sp>
        <p:nvSpPr>
          <p:cNvPr id="31" name="Oval 30"/>
          <p:cNvSpPr/>
          <p:nvPr/>
        </p:nvSpPr>
        <p:spPr>
          <a:xfrm>
            <a:off x="777240" y="523951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6424" y="5138928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→ '활성만 보고 최적화'하면 리드는 좋아 보여도 약이 못 되는 경우가 많다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핵심: 활성 개선은 종종 '분자를 키워서' 얻는다. 그 부작용(크기·지용성 팽창)을 통제하지 못하면 뒤 단계(ADMET)에서 무너진다. 그래서 '효율' 개념이 필요하다.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Leeson &amp; Springthorpe, Nat Rev Drug Discov 2007; Hopkins et al., Drug Discov Today 2004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14/49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molecular obesity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분자 비만(molecular obesity)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Leeson &amp; Springthorpe(2007): 리드 최적화 중 분자량·지용성(logP)이 계속 증가하는 경향을 지적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이런 '물성 팽창'이 용해도·투과성·off-target 결합·독성 위험을 함께 키운다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즉 활성을 좇다 얻은 크고 기름진 분자는 개발 가능성(developability)이 낮다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처방: 크기·지용성 예산을 정해두고, 활성을 '효율'로 관리한다 (다음 장 LE/LLE)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연결: 1교시 SMILES·구조, 2교시 기술자(MW·logP·TPSA)가 여기서 '지켜야 할 지표'로 되살아난다. molecular obesity는 그 지표들을 방치했을 때 벌어지는 일에 대한 경고.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Leeson &amp; Springthorpe, Nat Rev Drug Discov 2007 ("molecular obesity"); Lipinski et al. 2001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15/49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리간드 효율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리간드 효율 (Ligand Efficiency, 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동기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활성 절대값이 아니라 '원자당 활성'을 본다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정의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LE ≈ 1.37 × pIC50 / 중원자 수(HAC)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의미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같은 활성이면 더 작은 분자가 더 효율적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용도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히트/리드의 '성장 여지'를 판단하는 기준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확장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크기 페널티로 molecular obesity를 견제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· 강점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활성을 '크기 예산' 대비로 관리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작은 고효율 출발점을 선호하게 함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히트 우선순위화에 널리 사용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단일 지표로 과신 금지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HAC 정의·assay에 민감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효율≠최종 약물성(참고 지표)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Hopkins, Groom &amp; Alex, Drug Discov Today 2004 (Ligand efficiency)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16/49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LLE/LipE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지용성 효율 (LLE / LipE) — 기름값을 뺀 활성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737360"/>
            <a:ext cx="9966960" cy="822960"/>
          </a:xfrm>
          <a:prstGeom prst="roundRect">
            <a:avLst/>
          </a:prstGeom>
          <a:solidFill>
            <a:srgbClr val="EEF2F6"/>
          </a:solidFill>
          <a:ln w="1587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9966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0B2A4A"/>
                </a:solidFill>
                <a:latin typeface="Malgun Gothic"/>
              </a:rPr>
              <a:t>LLE (LipE)  =  pIC50  −  logP   (혹은 logD)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8986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798064"/>
            <a:ext cx="106984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활성(pIC50)에서 지용성(logP)을 '빼서' — 지용성에 기대지 않은 순수 결합 기여를 본다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11879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11296"/>
            <a:ext cx="106984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LLE가 높다 = 기름지지 않으면서도 활성이 높다 = 질 좋은(quality) 화합물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2511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24528"/>
            <a:ext cx="106984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통상 LLE 5~7 이상을 양질의 리드 목표로 삼는 경향 (분야·표적별 상이)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503834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4937759"/>
            <a:ext cx="106984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LE(크기 효율)와 LLE(지용성 효율)를 함께 보면 '효율적 성장'을 관리할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직관: 지용성만 올려도 활성 수치는 쉽게 오른다(비특이 결합). LLE는 그 '싸구려 활성'을 걷어내 진짜 결합 품질을 드러낸다. molecular obesity에 대한 정량적 처방.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Leeson &amp; Springthorpe, Nat Rev Drug Discov 2007; Hopkins et al. 2004 (효율 지표 개념)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17/49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왜 potency만 좇으면 실패하나 — 한 장 요약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potency 단독 추구의 함정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활성↑ 위해 분자를 키움(팽창)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용해도·투과·대사 악화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off-target·독성 위험 증가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좋아 보이는 리드가 약이 못 됨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892040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1888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후기 단계에서 비싸게 실패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효율·다지표 관리의 처방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LE로 '크기당 활성' 관리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LLE로 '기름값 뺀 활성' 관리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MW·logP·TPSA 예산 설정</a:t>
            </a:r>
          </a:p>
        </p:txBody>
      </p:sp>
      <p:sp>
        <p:nvSpPr>
          <p:cNvPr id="28" name="Oval 27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ADMET를 처음부터 함께 본다</a:t>
            </a:r>
          </a:p>
        </p:txBody>
      </p:sp>
      <p:sp>
        <p:nvSpPr>
          <p:cNvPr id="30" name="Oval 29"/>
          <p:cNvSpPr/>
          <p:nvPr/>
        </p:nvSpPr>
        <p:spPr>
          <a:xfrm>
            <a:off x="6611112" y="4892040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81888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→ PART C·D로 확장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메시지: '약효'는 필요조건이지 충분조건이 아니다. 약이 되려면 활성 옆에 반드시 ADMET·PK·선택성이 함께 최적화돼야 한다 — 그 지도가 다음 두 파트(C: ADMET, D: MPO)다.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Leeson &amp; Springthorpe 2007; Hopkins et al. 2004; Lipinski et al. 2001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18/49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ADMET 심화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흡수·분포·대사·배설·독성 — 약이 몸속에서 겪는 모든 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19/49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ADMET — 다섯 글자로 보는 약의 일생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73736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질문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7373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대표 지표·이슈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11247120" cy="603503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103120"/>
            <a:ext cx="237744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A 흡수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103120"/>
            <a:ext cx="4023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몸 안으로 잘 들어오나?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103120"/>
            <a:ext cx="475488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용해도·투과성·경구 생체이용률(F)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61487"/>
            <a:ext cx="11247120" cy="60350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7"/>
            <a:ext cx="237744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D 분포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761487"/>
            <a:ext cx="4023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필요한 곳에 가나?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761487"/>
            <a:ext cx="475488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혈장단백결합(PPB)·분포용적·BBB 투과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19856"/>
            <a:ext cx="11247120" cy="603503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419856"/>
            <a:ext cx="237744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M 대사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419856"/>
            <a:ext cx="4023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얼마나 빨리 분해되나?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419856"/>
            <a:ext cx="475488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CYP 대사·대사안정성·청소율(CL)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78224"/>
            <a:ext cx="11247120" cy="60350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078224"/>
            <a:ext cx="237744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E 배설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078224"/>
            <a:ext cx="4023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어떻게 빠져나가나?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078224"/>
            <a:ext cx="475488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신/담즙 배설·반감기(t½)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736592"/>
            <a:ext cx="11247120" cy="603503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736592"/>
            <a:ext cx="237744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T 독성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736592"/>
            <a:ext cx="4023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해롭지는 않나?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736592"/>
            <a:ext cx="475488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hERG·간독성·변이원성·off-target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ADME = 약물동태(PK, 몸이 약에 하는 일), T = 안전성(약이 몸에 하는 일). 활성(PD, 약효)이 아무리 좋아도 이 다섯이 무너지면 약이 되지 못한다. 각 축은 in silico로 예측을 시도한다(3교시 QSAR).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ADMET 개념 표준; Lipinski et al. 2001; Waring et al., Nat Rev Drug Discov 2015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20/49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A 흡수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흡수 (Absorption) — 경구약의 첫 관문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핵심 요소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수용해도(solubility): 녹아야 흡수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막 투과성(permeability): 장벽 통과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경구 생체이용률 F: 실제 혈중 도달률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용해도·투과의 균형이 관건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경험 규칙 (druglikeness)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Lipinski Ro5: MW≤500·logP≤5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HBD≤5·HBA≤10 (경구 흡수 경향)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Veber: 회전결합≤10·TPSA≤140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규칙은 '경향'이지 절대 컷오프 아님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연결: Ro5·Veber의 MW·logP·TPSA·HBD/HBA·회전결합은 모두 2교시에서 배운 기술자다. 흡수 최적화 = 이 기술자들을 '흡수에 유리한 범위'로 유지하는 일. QSAR로 용해도·Caco-2 투과를 예측한다.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Lipinski et al., Adv Drug Deliv Rev 2001 (Rule of 5); Veber et al., J Med Chem 2002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21/49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D 분포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분포 (Distribution) — 어디로, 얼마나 퍼지나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혈장단백결합(PPB): 단백질에 묶인 약은 유리약물(free)만 작용 — 높은 PPB는 유효농도↓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분포용적(Vd): 조직으로 얼마나 퍼지는지 — 지용성·조직친화도에 좌우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혈액뇌장벽(BBB): CNS 약은 통과해야, 비-CNS 약은 오히려 피해야(부작용 회피)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표적 조직에 충분한 유리약물 농도가 유지돼야 약효로 이어진다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free drug hypothesis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CNS 약물은 BBB 투과가 '필수 목표'가 되어 별도의 최적화 규칙을 만든다 — PART D의 CNS MPO(Wager 2010)가 바로 이 분포 문제를 물성으로 관리하려는 시도다.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분포·PPB·BBB 표준 개념; Wager et al., ACS Chem Neurosci 2010 (CNS MPO)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22/49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M 대사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대사 (Metabolism) — 간의 CYP와 대사안정성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주역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간 CYP450 효소군(CYP3A4·2D6·2C9 등)이 약물 대사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대사안정성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빨리 분해되면 반감기↓·약효 지속↓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청소율(CL)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단위시간당 제거량 — 용량·투여간격 결정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약물상호작용(DDI)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CYP 저해/유도 → 병용약 농도 교란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반응성 대사체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일부 대사산물이 독성(간독성)의 원인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· 강점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대사안정성은 경구약의 핵심 물성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microsomal stability 등으로 조기 스크리닝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in silico로 대사 부위(SoM) 예측 시도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대사는 종(species)마다 달라 번역 어려움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CYP 저해는 안전성 이슈로 직결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대사·CYP 표준 개념; Waring et al., Nat Rev Drug Discov 2015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23/49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E 배설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배설 (Excretion)과 PK 종합 — 반감기가 말해주는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배설 (Excretion)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신장 배설: 소변으로 (수용성 유리)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담즙/대변 배설: 큰·지용성 분자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배설 경로가 용량·축적 위험 좌우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신·간 기능 저하 시 축적 주의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PK 종합 지표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반감기 t½: 대사+배설의 결과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적정 t½ = 하루 1~2회 복용 가능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CL·Vd·F가 함께 노출(AUC) 결정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PK가 용법·용량 설계의 토대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ADME는 따로 노는 게 아니라 하나로 엮여 '체내 노출(exposure)'을 만든다. 흡수(F)·분포(Vd)·대사+배설(CL)이 반감기와 유효농도를 결정 → 약효·안전성의 물리적 토대.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배설·PK 표준 개념 (CL·Vd·t½·AUC); ADMET 통합 관점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24/49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T 독성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독성 (Toxicity) — 임상 실패의 큰 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독성 유형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3736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무엇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737360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스크리닝·비고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11247120" cy="603503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103120"/>
            <a:ext cx="292608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심장독성(hERG)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03120"/>
            <a:ext cx="4023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hERG 칼륨채널 차단→QT 연장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103120"/>
            <a:ext cx="3749039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hERG 결합 assay·QSAR 조기 배제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61487"/>
            <a:ext cx="11247120" cy="60350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7"/>
            <a:ext cx="292608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간독성(DILI)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761487"/>
            <a:ext cx="4023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약물유발 간손상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761487"/>
            <a:ext cx="3749039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반응성 대사체·in vitro 간세포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19856"/>
            <a:ext cx="11247120" cy="603503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419856"/>
            <a:ext cx="292608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변이원성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419856"/>
            <a:ext cx="4023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DNA 손상·발암 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419856"/>
            <a:ext cx="3749039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Ames test·구조경보(alert)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78224"/>
            <a:ext cx="11247120" cy="60350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078224"/>
            <a:ext cx="292608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Off-target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078224"/>
            <a:ext cx="4023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의도외 표적 결합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078224"/>
            <a:ext cx="3749039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선택성 패널·secondary pharmacology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독성·안전성은 임상 실패의 주요 원인이며, 늦게 발견될수록 손실이 크다. 그래서 hERG·변이원성·구조경보 등은 '되도록 초기에' in silico/in vitro로 걸러낸다(early de-risking).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hERG·DILI·genotox 표준; Kola &amp; Landis 2004; Waring et al. 2015 (안전성 attrition)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25/49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선택성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선택성 (Selectivity) — '표적만' 때리기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선택성 = 의도한 표적에만 작용하고 유사 단백질(off-target)은 건드리지 않는 정도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낮은 선택성 → off-target 결합 → 예측 못한 부작용·독성(안전성 문제로 직결)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측정: 표적 vs 관련 단백질의 활성비, 키나아제 등에서는 selectivity 패널로 평가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최적화에서 활성(potency)만큼이나 '표적 대비 여유(selectivity window)'가 중요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선택성은 사용자 핵심 메시지의 한 축(ADMET·선택성·PK). 활성을 높이는 변형이 선택성을 깎을 수 있어, potency와 selectivity는 흔히 trade-off 관계 → MPO에서 함께 다뤄야 한다(PART D).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선택성·off-target 표준 개념; secondary pharmacology (안전성 연계)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26/49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예측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ADMET의 in silico 예측 — 3교시 QSAR의 무대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각 ADMET 축은 결국 '구조 → 성질'의 예측 문제 → 3교시 QSAR/QSPR가 그대로 적용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97479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596896"/>
            <a:ext cx="106984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용해도·logD·Caco-2 투과·대사안정성·hERG·변이원성 등에 예측 모델이 구축돼 있다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02151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01568"/>
            <a:ext cx="106984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초기 단계에서 예측으로 '만들기 전에' 나쁜 후보를 걸러 실험 부담을 줄인다(triage)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0682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06240"/>
            <a:ext cx="106984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단, 3교시 원칙 그대로: 적용범위(AD)·검증이 없으면 예측을 과신하면 안 된다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예측≠측정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실습 연계: 3교시에서 만든 QSAR 워크플로가 ADME/T 각 종말점에 반복 적용된다. 뒤 실습(03 ADME/T 노트북)에서 실제 ADMET 예측을 다룬다. 여러 종말점 예측을 모으면 → MPO(PART D)의 입력이 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3교시 QSAR 워크플로 연계; ADMET 예측 표준 관행 (검증·AD 원칙 동일)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27/49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다중 파라미터 최적화 (MPO)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여러 조건을 동시에 — 신약 최적화의 본질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28/49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왜 동시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왜 '동시에' 최적화해야 하나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한 축씩 순서대로 고치면(sequential), 앞서 고친 것이 뒤에서 다시 망가진다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97479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596896"/>
            <a:ext cx="106984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활성↑ 위해 지용성↑ → 그러자 용해도↓·hERG↑ → 다시 고치면 활성↓ … 무한 루프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02151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01568"/>
            <a:ext cx="106984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목표들이 서로 충돌(trade-off)하므로, 전체를 함께 보는 균형점 탐색이 필요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0682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06240"/>
            <a:ext cx="106984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이것이 다중 파라미터 최적화(MPO) — potency·ADMET·선택성·PK를 한 프레임에서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4교시 핵심 메시지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074920"/>
            <a:ext cx="10332720" cy="77724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"약효만 중요한 게 아니라, ADMET·선택성·PK를 동시에 맞추는 MPO가 최적화의 본질"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Segall, Curr Pharm Des 2012 (multi-parameter optimization); Wager et al. 2010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29/49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desirability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MPO 점수 — 여러 성질을 한 숫자로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desirability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각 성질을 0(나쁨)~1(좋음)로 환산하는 함수 d(x)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형태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목표범위=1, 벗어나면 완만/급격히 감점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종합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여러 d를 합/곱/가중으로 하나의 점수로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랭킹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점수로 후보를 정렬 → 우선순위화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불확실성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예측 오차를 반영해 '확실히 좋은' 것 선호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· 강점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여러 축을 공통 스케일로 비교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'하나의 결정 점수'로 소통 쉬움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임계 컷오프보다 부드러운 판단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가중치·함수 모양에 결과 민감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축들의 상호작용을 단순화함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점수는 '지도'이지 '정답' 아님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Segall, Curr Pharm Des 2012 (desirability/MPO); Wager et al. 2010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30/49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CNS 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CNS MPO (Wager et al. 2010)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동기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중추신경(CNS) 약은 물성 창(window)이 특히 좁다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6개 물성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ClogP·ClogD·MW·TPSA·HBD·염기성 pKa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점수화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각 물성을 0~1 desirability로 환산 후 합산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범위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총점 0~6 — 높을수록 CNS-우호적 물성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활용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라이브러리·리드의 CNS 적합성 신속 평가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· 강점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복잡한 물성을 직관적 한 점수로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실무에서 널리 채택된 대표 MPO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물성 균형을 초기에 유도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CNS 특화 — 다른 표적엔 그대로 X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점수 높다고 약효 보장 아님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가이드라인이지 규칙 아님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Wager et al., ACS Chem Neurosci 2010 (CNS MPO desirability)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31/49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QED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QED — 약물유사성의 정량화 (Bickerton 2012)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아이디어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'약물스러움'을 0~1 연속값으로 정량화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구성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MW·logP·HBA·HBD·PSA·회전결합·방향고리·구조경보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desirability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각 성질의 분포를 desirability로 환산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종합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기하평균으로 하나의 QED 값(0~1)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의미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1에 가까울수록 승인약과 유사한 물성 프로필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· 강점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Ro5의 '통과/탈락'을 연속값으로 개선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여러 물성을 균형 있게 요약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라이브러리 필터·랭킹에 유용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'약물유사성=좋은 약' 아님(경향일 뿐)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신규 모달리티엔 부적합할 수 있음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단일 점수 과신 금지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Bickerton et al., Nat Chem 2012 (Quantifying the chemical beauty of drugs, QED)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32/49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프로필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MPO 프로필 — 후보를 '한눈에'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459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성질(축)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64592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목표 방향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64592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desirability 예시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01168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활성 (pIC50)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011680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높을수록 좋음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011680"/>
            <a:ext cx="4480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목표 이상=1, 미달 시 감점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15184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615184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용해도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615184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높을수록 좋음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615184"/>
            <a:ext cx="4480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임계 이하 급감점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18688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218688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대사안정성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218688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높을수록 좋음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218688"/>
            <a:ext cx="4480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반감기 짧으면 감점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22191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822191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hERG (심장독성)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822191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낮을수록 좋음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822191"/>
            <a:ext cx="4480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위험 구간=0 (탈락)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425696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425696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logP / 크기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425696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적정 범위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425696"/>
            <a:ext cx="4480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창 벗어나면 양방향 감점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실무 감각: 후보마다 이런 축별 desirability를 뽑아 '프로필(레이더/막대)'로 겹쳐 보면, 어떤 후보가 어디서 약한지 한눈에 드러난다. 총점 하나보다 '프로필 형태'가 더 많은 것을 말해준다.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MPO 프로필/desirability 개념 (표 값은 방향 예시); Segall 2012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33/49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Pareto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Pareto front — trade-off를 정직하게 보기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Pareto 최적의 개념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두 목표(예: 활성 vs 용해도) 평면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'다른 목표 손해 없이 더 못 개선'인 점들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그 점들의 경계선 = Pareto front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front 위 점들은 서로 우열 없음(trade-off)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왜 유용한가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하나의 '정답' 대신 균형 선택지 제시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숨은 trade-off를 눈에 보이게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의사결정을 인간·맥락에 남김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가중합의 임의성을 피할 수 있음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Pareto front는 '이 이상은 공짜로 좋아질 수 없다'는 경계다. 활성을 더 원하면 용해도를 얼마 포기해야 하는지를 정량적으로 보여줘, MPO의 trade-off를 정직하게 드러낸다.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다목적 최적화(Pareto) 표준 개념; Segall, Curr Pharm Des 2012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34/49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D · 함정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가중합(weighted sum)의 함정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여러 점수를 '가중합 하나'로 뭉치면 편하지만, 가중치를 누가·어떻게 정했나가 결과를 좌우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79191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578608"/>
            <a:ext cx="1069848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한 축의 큰 강점이 다른 축의 치명적 약점을 '평균으로 가려'버릴 수 있다(보상 효과)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465575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364991"/>
            <a:ext cx="1069848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서로 다른 척도를 단순 합산하면 단위·스케일 왜곡이 생긴다 → desirability로 정규화 필요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25196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151376"/>
            <a:ext cx="1069848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치명 결함(예: 심한 hERG)은 '감점'이 아니라 '탈락 조건'으로 다뤄야 한다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hard constraint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5216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86130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86130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MPO 점수는 소통·랭킹 도구이지 '자동 의사결정기'가 아니다. 점수 뒤의 개별 축과 예측 불확실성·적용범위(3교시 AD)를 반드시 함께 본다.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Segall 2012 (MPO 실무 주의); 3교시 적용범위(AD) 연계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35/49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최적화 실무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DMTA 사이클과 임상 attrition — 현장의 최적화는 이렇게 돈다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36/49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DMTA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DMTA 사이클 — 최적화의 엔진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535174" cy="10972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920240"/>
            <a:ext cx="2535174" cy="310896"/>
          </a:xfrm>
          <a:prstGeom prst="round2Same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9384"/>
            <a:ext cx="244373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2286000"/>
            <a:ext cx="238887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A636B"/>
                </a:solidFill>
                <a:latin typeface="Malgun Gothic"/>
              </a:rPr>
              <a:t>가설·예측으로
다음 분자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6966" y="1920240"/>
            <a:ext cx="29260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9CD8"/>
                </a:solidFill>
                <a:latin typeface="Malgun Gothic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1286" y="1920240"/>
            <a:ext cx="2535174" cy="10972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3431286" y="1920240"/>
            <a:ext cx="2535174" cy="310896"/>
          </a:xfrm>
          <a:prstGeom prst="round2Same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7006" y="1929384"/>
            <a:ext cx="244373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Make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4438" y="2286000"/>
            <a:ext cx="238887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A636B"/>
                </a:solidFill>
                <a:latin typeface="Malgun Gothic"/>
              </a:rPr>
              <a:t>합성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8172" y="1920240"/>
            <a:ext cx="29260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9CD8"/>
                </a:solidFill>
                <a:latin typeface="Malgun Gothic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920240"/>
            <a:ext cx="2535174" cy="10972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6222492" y="1920240"/>
            <a:ext cx="2535174" cy="310896"/>
          </a:xfrm>
          <a:prstGeom prst="round2Same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8212" y="1929384"/>
            <a:ext cx="244373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5644" y="2286000"/>
            <a:ext cx="238887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A636B"/>
                </a:solidFill>
                <a:latin typeface="Malgun Gothic"/>
              </a:rPr>
              <a:t>활성·ADMET
측정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9378" y="1920240"/>
            <a:ext cx="29260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9CD8"/>
                </a:solidFill>
                <a:latin typeface="Malgun Gothic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13698" y="1920240"/>
            <a:ext cx="2535174" cy="10972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>
            <a:off x="9013698" y="1920240"/>
            <a:ext cx="2535174" cy="310896"/>
          </a:xfrm>
          <a:prstGeom prst="round2Same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9418" y="1929384"/>
            <a:ext cx="244373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Analyze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6850" y="2286000"/>
            <a:ext cx="238887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A636B"/>
                </a:solidFill>
                <a:latin typeface="Malgun Gothic"/>
              </a:rPr>
              <a:t>결과 해석→
다음 설계 갱신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34015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6424" y="3300984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Design–Make–Test–Analyze를 반복하며 리드를 점진적으로 개선한다(순환)</a:t>
            </a:r>
          </a:p>
        </p:txBody>
      </p:sp>
      <p:sp>
        <p:nvSpPr>
          <p:cNvPr id="27" name="Oval 26"/>
          <p:cNvSpPr/>
          <p:nvPr/>
        </p:nvSpPr>
        <p:spPr>
          <a:xfrm>
            <a:off x="777240" y="40416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6424" y="3941063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각 사이클에서 QSAR·ADMET 예측(1~3교시)이 Design을 이끌고, Test가 모델을 갱신한다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" y="468172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6424" y="4581144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사이클 '속도'와 '학습의 질'이 최적화 효율을 결정 — 한 바퀴가 곧 시간·비용</a:t>
            </a:r>
          </a:p>
        </p:txBody>
      </p:sp>
      <p:sp>
        <p:nvSpPr>
          <p:cNvPr id="31" name="Oval 30"/>
          <p:cNvSpPr/>
          <p:nvPr/>
        </p:nvSpPr>
        <p:spPr>
          <a:xfrm>
            <a:off x="777240" y="532180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6424" y="5221224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MPO 점수는 Analyze 단계에서 다음에 만들 후보를 고르는 기준이 된다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94360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" y="596188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96188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AI/ML의 역할(PART F)은 이 사이클을 '더 빠르고 똑똑하게' 돌리는 것 — 예측으로 만들 후보를 줄이고, 생성모델로 새 설계를 제안하고, 능동학습으로 다음 실험을 고른다.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DMTA 사이클 표준 개념; Plowright et al., Drug Discov Today 2012 (design cycle)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37/49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리드 최적화 전략 — 무엇을 어떻게 바꾸나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구조 변경 전략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bioisostere 치환(물성 개선·특허 회피)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scaffold hopping(골격 교체)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작용기 추가/제거로 활성·물성 조율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입체·구조제약으로 선택성↑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관리 원칙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LE·LLE로 '효율적 성장' 유지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MW·logP 예산 지키기(비만 방지)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ADMET liability 조기 제거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한 번에 한두 축씩 통제된 변경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리드 최적화는 '활성만 올리기'가 아니라 '활성을 유지·개선하면서 ADMET·선택성·물성을 함께 맞추기'다. PART B의 효율 지표와 PART D의 MPO가 이 결정을 이끄는 나침반.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리드 최적화 전략 표준; Leeson &amp; Springthorpe 2007; Meanwell, Chem Res Toxicol 2011 (bioisostere)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38/49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attrition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임상 실패(attrition) — 무엇 때문에 떨어지나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Kola &amp; Landis(2004): 후보의 임상 단계 탈락 원인을 분석 — 신약개발의 고전적 참조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97479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596896"/>
            <a:ext cx="106984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PK/생체이용률로 인한 실패는 1991년 ~40%에서 2000년 ~10%로 크게 감소(ADME 조기 스크리닝 효과)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02151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01568"/>
            <a:ext cx="106984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대신 효능 부족(efficacy)과 안전성·독성(safety/toxicology)이 주요 실패 원인으로 남았다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0682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06240"/>
            <a:ext cx="106984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Waring 등(2015): 4개 대형 제약사 데이터 분석 — 물성·독성이 여전히 attrition의 큰 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교훈: ADME를 초기에 챙기니(그 실패는 줄었다) 이제는 효능·안전성이 관문이다. 그래서 ADMET·안전성을 '가능한 한 초기에·동시에' 최적화하는 MPO가 더욱 중요해졌다.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Kola &amp; Landis, Nat Rev Drug Discov 2004; Waring et al., Nat Rev Drug Discov 2015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39/49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E · 비용의 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왜 '초기에·동시에'인가 — 실패 비용의 비대칭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후기 단계(임상)에서의 실패일수록 이미 투입한 시간·비용이 막대 → 손실이 기하급수적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초기 in silico/in vitro로 나쁜 후보를 걸러내면(fail fast·fail cheap) 자원을 아낀다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그래서 활성·ADMET·안전성을 리드 단계부터 함께 본다(순차 X, 동시 O)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MPO·효율 지표·예측모델은 모두 '값싼 초기 단계에서 옳은 결정을 내리기' 위한 도구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한 줄: 최적화의 경제학은 '늦게 크게 실패'하지 않기 위해 '일찍 싸게 거르는' 것이다. 이 원리가 4교시 전체(효율·ADMET·MPO·AI)를 하나로 꿴다.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Kola &amp; Landis 2004; Paul et al., Nat Rev Drug Discov 2010 (R&amp;D 생산성) 관점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40/49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AI/ML의 역할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예측을 최적화로 — 생성·스코어링·능동학습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41/49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F · 통합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QSAR·ADMET 예측을 MPO에 통합하기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465575" cy="10972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09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920240"/>
            <a:ext cx="3465575" cy="310896"/>
          </a:xfrm>
          <a:prstGeom prst="round2Same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9384"/>
            <a:ext cx="337413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예측모델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2286000"/>
            <a:ext cx="3319271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A636B"/>
                </a:solidFill>
                <a:latin typeface="Malgun Gothic"/>
              </a:rPr>
              <a:t>QSAR·ADMET
종말점별 예측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1920240"/>
            <a:ext cx="29260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9CD8"/>
                </a:solidFill>
                <a:latin typeface="Malgun Gothic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920240"/>
            <a:ext cx="3465575" cy="10972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09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361688" y="1920240"/>
            <a:ext cx="3465575" cy="310896"/>
          </a:xfrm>
          <a:prstGeom prst="round2Same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7" y="1929384"/>
            <a:ext cx="337413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MPO 스코어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86000"/>
            <a:ext cx="3319271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A636B"/>
                </a:solidFill>
                <a:latin typeface="Malgun Gothic"/>
              </a:rPr>
              <a:t>여러 예측을
desirability로 종합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1920240"/>
            <a:ext cx="29260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9CD8"/>
                </a:solidFill>
                <a:latin typeface="Malgun Gothic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5" y="1920240"/>
            <a:ext cx="3465575" cy="10972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09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8083295" y="1920240"/>
            <a:ext cx="3465575" cy="310896"/>
          </a:xfrm>
          <a:prstGeom prst="round2Same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9015" y="1929384"/>
            <a:ext cx="337413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의사결정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7" y="2286000"/>
            <a:ext cx="3319271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5A636B"/>
                </a:solidFill>
                <a:latin typeface="Malgun Gothic"/>
              </a:rPr>
              <a:t>랭킹·Pareto로
후보 선택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34015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6424" y="3300984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3교시에서 만든 활성·ADMET 예측 모델들이 MPO의 '입력 신호'가 된다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40416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6424" y="3941063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여러 종말점 예측을 desirability로 묶어 하나의 MPO 점수·프로필로 만든다(PART D)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68172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6424" y="4581144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예측 불확실성을 함께 전달해 '확실히 좋은' 후보를 우선 (적용범위 AD 존중)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532180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6424" y="5221224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→ AI는 '값을 예측'할 뿐 아니라 '무엇을 다음에 만들지' 결정을 돕는다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94360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96188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96188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핵심: AI/ML은 별도 주제가 아니라 1~3교시(표현·기술자·QSAR)를 4교시의 최적화 결정에 '연결하는 접착제'다. 예측 없이는 MPO도, 빠른 DMTA도 없다.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예측모델의 MPO 통합 관점; Segall 2012; 3교시 QSAR 연계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42/49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F · 생성모델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생성모델 + MPO 스코어링 — 설계를 제안하다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09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생성(generative) 접근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새로운 후보 구조를 '생성'(SMILES·그래프)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VAE·강화학습·확산모델 등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탐색을 넓히되 유효/합성가능성 유지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사람이 미처 못 떠올린 영역 제안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MPO로 방향 잡기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생성물을 MPO 점수로 평가·선별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좋은 점수 쪽으로 생성 유도(최적화)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goal-directed generation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예측+생성+스코어링의 순환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발상: '거대한 10^60 공간을 뒤지기(PART A)'를 생성모델이 '유망 영역을 만들어내며 좁히기'로 바꾼다. 그 방향키가 MPO 점수 — 생성과 최적화가 한 루프로 결합한다.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goal-directed molecular generation 관점; 생성모델+MPO 스코어링 개념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43/49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F · 실습 연계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실습으로 잇기 — 노트북 지도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78308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7830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4교시와의 연결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48840"/>
            <a:ext cx="11247120" cy="63093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148840"/>
            <a:ext cx="310896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02 QSAR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148840"/>
            <a:ext cx="402336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기술자로 활성/물성 예측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148840"/>
            <a:ext cx="365760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MPO의 potency·물성 입력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34640"/>
            <a:ext cx="11247120" cy="6309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834640"/>
            <a:ext cx="310896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03 ADME/T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834640"/>
            <a:ext cx="402336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ADMET 종말점 예측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834640"/>
            <a:ext cx="365760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MPO의 ADMET·안전성 입력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20440"/>
            <a:ext cx="11247120" cy="63093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520440"/>
            <a:ext cx="310896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(4일차) 생성모델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520440"/>
            <a:ext cx="402336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새 후보 구조 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520440"/>
            <a:ext cx="365760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MPO로 유도하는 설계 루프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0873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6424" y="3986784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C242B"/>
                </a:solidFill>
                <a:latin typeface="Malgun Gothic"/>
              </a:rPr>
              <a:t>02 QSAR·03 ADME/T 실습에서 만든 예측값들이 그대로 MPO 점수의 재료가 된다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63600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6424" y="4535424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C242B"/>
                </a:solidFill>
                <a:latin typeface="Malgun Gothic"/>
              </a:rPr>
              <a:t>생성모델 실습은 '탐색을 만들어내는' 쪽 — PART A의 규모 문제에 대한 실전 답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51846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6424" y="5084064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C242B"/>
                </a:solidFill>
                <a:latin typeface="Malgun Gothic"/>
              </a:rPr>
              <a:t>즉 실습들이 4교시의 '예측 → 스코어링 → 생성' 최적화 루프를 손으로 구현하는 과정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실습 노트북 연계 (02 QSAR · 03 ADME/T · 생성모델)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44/49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종합 &amp; 클로징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표현 → 기술자 → 예측 → 최적화, 하나의 파이프라인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45/49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G · 종합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전체 종합 — 1→2→3→4교시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768096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09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201168" cy="768096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856231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0B2A4A"/>
                </a:solidFill>
                <a:latin typeface="Malgun Gothic"/>
              </a:rPr>
              <a:t>1교시 · 구조 표현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221991"/>
            <a:ext cx="9875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분자를 컴퓨터가 읽게: SMILES·그래프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9191"/>
            <a:ext cx="10515600" cy="768096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679191"/>
            <a:ext cx="201168" cy="768096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752344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0B2A4A"/>
                </a:solidFill>
                <a:latin typeface="Malgun Gothic"/>
              </a:rPr>
              <a:t>2교시 · 기술자·지문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118103"/>
            <a:ext cx="9875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표현에서 숫자 벡터 X 를 뽑는다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75304"/>
            <a:ext cx="10515600" cy="768096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575304"/>
            <a:ext cx="201168" cy="768096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3648456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0B2A4A"/>
                </a:solidFill>
                <a:latin typeface="Malgun Gothic"/>
              </a:rPr>
              <a:t>3교시 · QSAR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014216"/>
            <a:ext cx="9875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그 X 로 활성·물성(y)을 예측한다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471416"/>
            <a:ext cx="10515600" cy="768096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471416"/>
            <a:ext cx="201168" cy="768096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544568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0B2A4A"/>
                </a:solidFill>
                <a:latin typeface="Malgun Gothic"/>
              </a:rPr>
              <a:t>4교시 · 최적화·ADMET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910327"/>
            <a:ext cx="9875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예측을 엮어 ADMET·PK를 동시 최적화(MPO)한다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94360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596188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96188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하나의 문장: '분자를 표현하고(1)·숫자로 만들고(2)·예측하고(3)·여러 조건으로 최적화한다(4)'. 네 교시가 곧 신약 초기 발굴의 in-silico 파이프라인 전체다.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강의 시리즈 전체 종합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46/49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4교시 정리 — 기억할 다섯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7335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화학공간은 ~10^60 — 전수탐색 불가, 그래서 '탐색'이 아니라 '최적화'다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Bohacek 1996·GDB-17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60604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8775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약효(potency)는 필요조건일 뿐 — 크기·지용성 팽창(비만)을 효율(LE/LLE)로 관리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Hopkins·Leeson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52044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0215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ADMET(흡수·분포·대사·배설·독성)이 무너지면 약이 못 된다 — 초기에 함께 본다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4348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1655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MPO가 최적화의 본질: 충돌하는 목표를 동시에 (CNS MPO·QED·Pareto)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Wager·Bickerton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34924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3492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33095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DMTA로 돌리고, 초기에 싸게 거르고(attrition), AI로 예측·생성·스코어링을 잇는다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Kola&amp;Landis·Waring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4교시 요약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47/49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G · 실무 권고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현장에서 지킬 것 — Do &amp; Don't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DO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활성을 '효율(LE/LLE)'로 관리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ADMET·안전성을 리드 단계부터 함께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MPO로 여러 축을 균형 있게 본다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치명 결함은 탈락 조건으로 처리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892040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1888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예측엔 적용범위(AD)·불확실성 부착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DON'T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potency 하나만 좇지 말 것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분자를 무작정 키우지 말 것(비만)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가중합 한 점수로 자동결정 금지</a:t>
            </a:r>
          </a:p>
        </p:txBody>
      </p:sp>
      <p:sp>
        <p:nvSpPr>
          <p:cNvPr id="28" name="Oval 27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후기까지 나쁜 후보 끌고 가지 말 것</a:t>
            </a:r>
          </a:p>
        </p:txBody>
      </p:sp>
      <p:sp>
        <p:nvSpPr>
          <p:cNvPr id="30" name="Oval 29"/>
          <p:cNvSpPr/>
          <p:nvPr/>
        </p:nvSpPr>
        <p:spPr>
          <a:xfrm>
            <a:off x="6611112" y="4892040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81888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예측을 측정처럼 과신하지 말 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최적화의 신뢰는 '한 지표 극대화'가 아니라 '여러 조건의 정직한 균형·조기 거름·불확실성 인정'에서 나온다. 도구·모델이 바뀌어도 이 원칙은 그대로다.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Leeson 2007; Hopkins 2004; Wager 2010; Segall 2012; Kola&amp;Landis 2004 종합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48/49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주요 출처 (4교시)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27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화학공간 규모: Bohacek, McMartin &amp; Guida, Med Res Rev 1996 (~10^60 drug-like molecules); Ruddigkeit, van Deursen, Blum &amp; Reymond, J Chem Inf Model 2012 (GDB-17 ~166 billion); Reymond, Acc Chem Res 2015.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76272"/>
            <a:ext cx="10927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약물유사성·물성 규칙: Lipinski et al., Adv Drug Deliv Rev 2001 (Rule of 5); Veber et al., J Med Chem 2002 (oral bioavailability).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98064"/>
            <a:ext cx="10927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효율·molecular obesity: Hopkins, Groom &amp; Alex, Drug Discov Today 2004 (Ligand efficiency); Leeson &amp; Springthorpe, Nat Rev Drug Discov 2007 (molecular obesity·drug-likeness).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19856"/>
            <a:ext cx="10927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MPO·점수: Wager et al., ACS Chem Neurosci 2010 (CNS MPO); Bickerton et al., Nat Chem 2012 (QED); Segall, Curr Pharm Des 2012 (multi-parameter optimization).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41648"/>
            <a:ext cx="10927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임상 실패·생산성: Kola &amp; Landis, Nat Rev Drug Discov 2004 (attrition rates); Waring et al., Nat Rev Drug Discov 2015 (attrition, 4개사 분석); Paul et al., Nat Rev Drug Discov 2010 (R&amp;D productivity).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10927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실습·강의 연계: 3교시 QSAR 워크플로 · 실습 02 QSAR · 03 ADME/T · (4일차) 생성모델 노트북.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85232"/>
            <a:ext cx="10927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* 개념·워크플로는 표준 신약화학/화학정보학 교육 내용으로 보완했으며, 특정 성능수치·벤치마크는 제시하지 않음(무-날조 원칙). ~10^60·GDB-17 수치는 위 실재 문헌 추정치를 그대로 인용.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49/49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 i="0">
                <a:solidFill>
                  <a:srgbClr val="FFFFFF"/>
                </a:solidFill>
                <a:latin typeface="Malgun Gothic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461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9CD8"/>
                </a:solidFill>
                <a:latin typeface="Malgun Gothic"/>
              </a:rPr>
              <a:t>4교시 · 약물 최적화 &amp; ADMET — 약효만으론 약이 되지 않는다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069080"/>
            <a:ext cx="10241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9EDF1"/>
                </a:solidFill>
                <a:latin typeface="Malgun Gothic"/>
              </a:rPr>
              <a:t>핵심 메시지: ~10^60 개의 가능한 화합물 중에서, potency만이 아니라 ADMET·선택성·PK를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9EDF1"/>
                </a:solidFill>
                <a:latin typeface="Malgun Gothic"/>
              </a:rPr>
              <a:t>동시에 맞추는 다중 파라미터 최적화(MPO)가 신약 최적화의 본질이다.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9EDF1"/>
                </a:solidFill>
                <a:latin typeface="Malgun Gothic"/>
              </a:rPr>
              <a:t>강의 종합: 구조표현(1) → 기술자·지문(2) → QSAR 예측(3) → 최적화·ADMET(4) = in-silico 발굴 파이프라인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