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FFFFFF"/>
                </a:solidFill>
                <a:latin typeface="Malgun Gothic"/>
              </a:rPr>
              <a:t>6일차 · 4교시 — 견고·안전하게: 하네스 엔지니어링 &amp; 보안</a:t>
            </a:r>
          </a:p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09CD8"/>
                </a:solidFill>
                <a:latin typeface="Malgun Gothic"/>
              </a:rPr>
              <a:t>컨텍스트 엔지니어링 · 서브에이전트 · 메모리/LLM wiki · MCP · 평가 · Agentic 보안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E9EDF1"/>
                </a:solidFill>
                <a:latin typeface="Malgun Gothic"/>
              </a:rPr>
              <a:t>에이전트를 '만들 수 있다'에서 '믿고 운영할 수 있다'로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재직자 3과정 · 6일차(9/12) · 대규모 언어모델과 신약개발 · 이론 · 스토리 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스토리 ③→④ · 4교시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작동하는 에이전트 → 믿을 수 있는 에이전트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17904"/>
            <a:ext cx="10515600" cy="566928"/>
          </a:xfrm>
          <a:prstGeom prst="roundRect">
            <a:avLst/>
          </a:prstGeom>
          <a:solidFill>
            <a:srgbClr val="E9EDF1"/>
          </a:solidFill>
          <a:ln w="9525">
            <a:solidFill>
              <a:srgbClr val="8A9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36192"/>
            <a:ext cx="10149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5A636B"/>
                </a:solidFill>
                <a:latin typeface="Malgun Gothic"/>
              </a:rPr>
              <a:t>3교시 </a:t>
            </a:r>
            <a:r>
              <a:rPr sz="1100" b="0" i="0">
                <a:solidFill>
                  <a:srgbClr val="1C242B"/>
                </a:solidFill>
                <a:latin typeface="Malgun Gothic"/>
              </a:rPr>
              <a:t>도구를 스스로 쓰는 에이전트 구현(ChemCrow·Coscientist)</a:t>
            </a:r>
            <a:r>
              <a:rPr sz="1100" b="1" i="0">
                <a:solidFill>
                  <a:srgbClr val="009CD8"/>
                </a:solidFill>
                <a:latin typeface="Malgun Gothic"/>
              </a:rPr>
              <a:t>   →   </a:t>
            </a:r>
            <a:r>
              <a:rPr sz="1100" b="1" i="0">
                <a:solidFill>
                  <a:srgbClr val="1F5C99"/>
                </a:solidFill>
                <a:latin typeface="Malgun Gothic"/>
              </a:rPr>
              <a:t>4교시 </a:t>
            </a:r>
            <a:r>
              <a:rPr sz="1100" b="0" i="0">
                <a:solidFill>
                  <a:srgbClr val="1C242B"/>
                </a:solidFill>
                <a:latin typeface="Malgun Gothic"/>
              </a:rPr>
              <a:t>컨텍스트 폭주·오류전파·보안구멍을 하네스로 막는다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95728"/>
            <a:ext cx="5303520" cy="86868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95728"/>
            <a:ext cx="5120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A. 하네스 엔지니어링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95728"/>
            <a:ext cx="52120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컨텍스트·서브에이전트·메모리/LLM wiki·MCP·평가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93008"/>
            <a:ext cx="5303520" cy="8686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493008"/>
            <a:ext cx="5120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B. Agentic 보안 통제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93008"/>
            <a:ext cx="52120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위협모델·권한·시크릿·sandbox·감사·인젝션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590288"/>
            <a:ext cx="5303520" cy="86868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590288"/>
            <a:ext cx="5120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C. 최근 기술 · 정리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90288"/>
            <a:ext cx="52120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MCP 생태계·Agent Skills·표준화·5교시 예고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6072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재직자 관점: '모델을 고르는 법'이 아니라 '모델을 운영 시스템에 안전하게 태우는 법' — 컨텍스트·도구연결·평가·보안이 실전의 90%.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 2024–2025 (Building effective agents; Effective context engineering)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관점 전환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'모델 고르기'에서 '시스템 운영'으로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5A6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691640"/>
            <a:ext cx="5166360" cy="530352"/>
          </a:xfrm>
          <a:prstGeom prst="round2SameRect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데모 단계 (되면 좋다)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32304"/>
            <a:ext cx="109728" cy="109728"/>
          </a:xfrm>
          <a:prstGeom prst="ellipse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프롬프트 몇 번으로 그럴듯한 답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35808"/>
            <a:ext cx="109728" cy="109728"/>
          </a:xfrm>
          <a:prstGeom prst="ellipse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한 번의 실행·사람이 지켜봄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39312"/>
            <a:ext cx="109728" cy="109728"/>
          </a:xfrm>
          <a:prstGeom prst="ellipse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실패해도 비용 없음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한 번 웃고 넘김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42816"/>
            <a:ext cx="109728" cy="109728"/>
          </a:xfrm>
          <a:prstGeom prst="ellipse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성능 = 모델 능력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69164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69164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운영 단계 (믿고 맡긴다)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3230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반복·무인·연쇄 도구 실행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3580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컨텍스트·메모리 상태를 관리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3931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실패가 데이터·돈·안전에 직결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감사·롤백 필요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4281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성능 = 하네스 설계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5216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8613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586130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많은 PoC가 데모에서는 되지만 운영에서 무너진다 — 이유의 대부분은 모델이 아니라 하네스(컨텍스트·평가·보안) 부재. 재직자는 이 격차를 먼저 봐야 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 2024 (Building effective agents)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하네스 엔지니어링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모델 주변 시스템을 설계한다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하네스란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하네스(harness) 엔지니어링이란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하네스 = 모델을 감싸는 '작업 환경' — 컨텍스트·도구·메모리·루프·평가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프롬프트 엔지니어링(문장) → 컨텍스트 엔지니어링(정보 전체 설계)로 확장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좋은 모델 + 나쁜 하네스 = 실패 / 같은 모델도 하네스가 성능을 좌우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신약 에이전트: DB·계산·시뮬 도구를 '언제·무엇을·어떻게' 붙일지가 핵심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똑똑한 사람도 '책상·자료·도구·메모'가 엉망이면 일을 못 한다. 하네스 엔지니어링 = 에이전트의 책상을 잘 차려주는 일. 모델 자체보다 이게 실전 성능을 가른다.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 2025 (Effective context engineering for AI agents)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6/45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패러다임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프롬프트 → 컨텍스트 엔지니어링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5A6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691640"/>
            <a:ext cx="5166360" cy="530352"/>
          </a:xfrm>
          <a:prstGeom prst="round2SameRect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프롬프트 엔지니어링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32304"/>
            <a:ext cx="109728" cy="109728"/>
          </a:xfrm>
          <a:prstGeom prst="ellipse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한 번의 '문장'을 잘 쓰는 기술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35808"/>
            <a:ext cx="109728" cy="109728"/>
          </a:xfrm>
          <a:prstGeom prst="ellipse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지시·예시·역할 지정에 집중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39312"/>
            <a:ext cx="109728" cy="109728"/>
          </a:xfrm>
          <a:prstGeom prst="ellipse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단발성 태스크에 효과적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42816"/>
            <a:ext cx="109728" cy="109728"/>
          </a:xfrm>
          <a:prstGeom prst="ellipse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한계: 상태·도구·장기작업 미고려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69164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69164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컨텍스트 엔지니어링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3230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창(window) 전체 '정보 구성'을 설계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3580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무엇을 넣고·빼고·요약·격리할지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3931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멀티턴·도구·메모리를 아우름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4281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에이전트 시대의 핵심 역량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컨텍스트 = 모델이 각 스텝에서 '보는 모든 토큰'(시스템·도구정의·이력·검색결과·메모리). 컨텍스트 엔지니어링은 이 유한한 창에 '무엇을 담을지'를 최적화하는 반복 규율이다.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 2025 (Effective context engineering for AI agents)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7/45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컨텍스트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컨텍스트를 '설계'한다 — 4대 기법</a:t>
            </a:r>
          </a:p>
        </p:txBody>
      </p:sp>
      <p:pic>
        <p:nvPicPr>
          <p:cNvPr id="6" name="Picture 5" descr="he_context_eng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5394960" cy="301114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70078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문제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창은 유한·비싸고 'lost in the middle' 발생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32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43230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선별(retrieval)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필요한 정보만 그때그때 주입(RAG)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644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16382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압축(compaction)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오래된 이력을 요약·정리해 자리 확보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9959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89534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구조화(structuring)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시스템/도구/작업 정보 역할 분리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7274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62686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격리(isolation)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서브에이전트로 컨텍스트 분할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04688"/>
            <a:ext cx="5440680" cy="56692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522975"/>
            <a:ext cx="914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효과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5522975"/>
            <a:ext cx="4389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토큰·비용 절감 · 정확도/집중도 향상 · 긴 작업 안정화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5504688"/>
            <a:ext cx="5212080" cy="566928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5522975"/>
            <a:ext cx="914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주의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5522975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과압축 시 정보 손실 · 무엇을 남길지 판단이 어렵다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 2025 (Effective context engineering); Liu et al. 2024 (Lost in the Middle, TACL)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8/45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창의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컨텍스트 창 — 물리적·경제적 제약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유한 길이: 모델별 최대 토큰 한도 — 넘으면 잘리거나 요약 필요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비용: 입력 토큰에 과금 — 긴 컨텍스트 = 매 호출 비용·지연 증가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주의 희석: 토큰이 많을수록 핵심에 대한 '주의'가 분산(context rot)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지연(latency): 긴 프리필(prefill)이 응답 시작을 늦춤 → UX·처리량 악화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 2025 (Effective context engineering); 확인 권장: 모델별 토큰 한도·과금은 벤더 문서 참조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9/45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Lost in the Middle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위치 편향 — 중간이 사라진다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691640"/>
            <a:ext cx="5166360" cy="530352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현상 (Liu 2024)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3230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긴 입력에서 정답이 '중간'에 있으면 정확도 급락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3580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성능이 U자형 — 처음·끝은 잘, 중간은 놓침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3931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문서를 많이 넣을수록 더 악화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'많이=좋다' 반증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69164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69164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설계 대응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3230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핵심 정보는 맨 앞/맨 뒤에 배치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3580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검색 결과 수를 늘리기보다 '재랭킹'으로 상위 소수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3931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불필요한 중간 토큰 제거·압축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424281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긴 이력은 요약 후 재삽입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85216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8613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86130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'컨텍스트에 다 넣었으니 모델이 봤겠지'는 착각. 중간에 묻힌 근거는 무시될 수 있다 — 배치·개수·순서가 성능 변수다.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Liu et al. 2024 (Lost in the Middle, TACL)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10/45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실패 모드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컨텍스트가 망가지는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실패 모드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0020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무엇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600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대응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Context rot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65960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길수록 주의 분산·품질 저하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965960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압축·핵심 선별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3288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32888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Poisoning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532888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오염된 사실이 이력에 남아 전파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532888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출처검증·격리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99815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99815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Distraction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099815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무관 정보가 추론을 흐림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099815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선별·재랭킹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66744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66744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Confusion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666744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불필요 도구·정의 과잉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666744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도구셋 최소화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33672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233672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Clash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233672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이력 내 모순 정보 충돌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233672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최신화·요약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 2025 (Effective context engineering); 업계 컨텍스트 실패 분류(확인 권장)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11/45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관리 기법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4대 기법 — 언제 무엇을 쓰나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기법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002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핵심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6002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신약 예시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965960"/>
            <a:ext cx="4206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질의에 맞는 조각만 검색해 주입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96596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질문 관련 PubMed 초록 top-k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69464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69464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Compaction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569464"/>
            <a:ext cx="4206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이력·중간결과를 요약해 자리 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569464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도킹 100건 → 상위 요약표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72968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172968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Structuring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172968"/>
            <a:ext cx="4206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역할별 섹션 분리·태깅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172968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타겟정보/도구정의/현재작업 분리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76472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776472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Isolation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776472"/>
            <a:ext cx="4206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서브에이전트로 컨텍스트 분할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776472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검색 vs 계산 에이전트 분리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70448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88736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88736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실전은 4가지를 조합한다: 검색으로 넣고 → 구조화로 정리 → 길어지면 압축 → 무거운 하위작업은 격리. 파이프라인 설계 = 이 순서·임계값을 정하는 일.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 2025 (Effective context engineering for AI agents)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12/45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RAG vs 롱컨텍스트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검색이냐, 다 넣느냐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166360" cy="4114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69164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RAG(검색 주입)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3230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필요한 조각만 그때그때 검색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3580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대규모·자주 바뀌는 지식에 적합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3931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출처 추적·최신화 용이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4281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비용·지연 절감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846320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77316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단점: 검색 품질에 의존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691640"/>
            <a:ext cx="5166360" cy="4114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355080" y="1691640"/>
            <a:ext cx="5166360" cy="530352"/>
          </a:xfrm>
          <a:prstGeom prst="round2Same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롱컨텍스트(다 넣기)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2432304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문서 전체를 한 번에 투입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035808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교차참조·전역 추론에 유리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3639312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파이프라인 단순</a:t>
            </a:r>
          </a:p>
        </p:txBody>
      </p:sp>
      <p:sp>
        <p:nvSpPr>
          <p:cNvPr id="28" name="Oval 27"/>
          <p:cNvSpPr/>
          <p:nvPr/>
        </p:nvSpPr>
        <p:spPr>
          <a:xfrm>
            <a:off x="6611112" y="4242816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단점: 비용·지연·위치편향</a:t>
            </a:r>
          </a:p>
        </p:txBody>
      </p:sp>
      <p:sp>
        <p:nvSpPr>
          <p:cNvPr id="30" name="Oval 29"/>
          <p:cNvSpPr/>
          <p:nvPr/>
        </p:nvSpPr>
        <p:spPr>
          <a:xfrm>
            <a:off x="6611112" y="4846320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77316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단점: 규모 한계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94360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596188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96188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이분법 아님 — 실무는 하이브리드: 롱컨텍스트로 큰 틀 + RAG로 정밀 근거. 자주 바뀌고 방대하면 RAG, 응집된 소규모 전역추론이면 롱컨텍스트가 유리.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Lewis et al. 2020 (RAG); Anthropic 2025 (context engineering)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13/45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서브에이전트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서브에이전트 — 분업으로 견고하게</a:t>
            </a:r>
          </a:p>
        </p:txBody>
      </p:sp>
      <p:pic>
        <p:nvPicPr>
          <p:cNvPr id="6" name="Picture 5" descr="he_subagent_orch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5394960" cy="301114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70078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왜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한 에이전트가 다 하면 컨텍스트 폭주·도구 혼동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32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43230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오케스트레이터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작업을 나누고 결과를 통합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644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16382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전문 서브에이전트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검색·계산·검증 등 역할별 (3교시 multi-agent)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9959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89534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컨텍스트 격리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각자 좁고 깨끗한 창 · 실패도 격리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7274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62686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신약 예시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검색/계산 분리, 설계·검증·순위 역할 분담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53212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555040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55040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역할을 쪼개면 각 서브에이전트가 자기 일에만 집중 → 정확·병렬·재사용. 대신 조율(오케스트레이션)·중복 비용이 새 과제 — 다음 장.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 2024 (Building effective agents; multi-agent research system)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14/45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오케스트레이션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조율 패턴 — 어떻게 나눌까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패턴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60020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60020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적합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247120" cy="530352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2743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Orchestrator–Worker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65960"/>
            <a:ext cx="4754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리더가 하위작업 배분·통합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965960"/>
            <a:ext cx="31089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동적·복합 탐색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51176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51176"/>
            <a:ext cx="2743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Parallel(병렬)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51176"/>
            <a:ext cx="4754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독립 작업을 동시에 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551176"/>
            <a:ext cx="31089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독립 후보 스크리닝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36391"/>
            <a:ext cx="11247120" cy="530352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136391"/>
            <a:ext cx="2743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Pipeline(순차)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136391"/>
            <a:ext cx="4754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단계별로 결과를 넘김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136391"/>
            <a:ext cx="31089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전처리→분석→보고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21608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721608"/>
            <a:ext cx="2743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Router(분기)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721608"/>
            <a:ext cx="4754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입력 유형별로 담당 배정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721608"/>
            <a:ext cx="31089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질문 종류별 라우팅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5216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613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86130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멀티에이전트는 공짜가 아니다 — 토큰·호출이 몇 배로 늘고, 조율 오류·중복이 새 리스크. '나누면 좋아진다'가 아니라 '나눌 값어치가 있을 때만' 나눈다.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 2024 (Building effective agents; multi-agent research system)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15/45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메모리·wiki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메모리 &amp; LLM wiki — 기억을 설계</a:t>
            </a:r>
          </a:p>
        </p:txBody>
      </p:sp>
      <p:pic>
        <p:nvPicPr>
          <p:cNvPr id="6" name="Picture 5" descr="he_memory_wiki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5394960" cy="301114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70078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단기 메모리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현재 세션의 작업 컨텍스트(대화 창)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32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43230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장기 메모리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파일·DB에 결과·지식 영속 저장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644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16382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LLM wiki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축적 지식을 문서로 정리·검색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9959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89534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provenance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각 사실의 출처·근거를 함께 저장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7274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62686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재사용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다음 작업이 과거 지식을 '회상'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53212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555040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55040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컨텍스트 창은 세션이 끝나면 사라진다. 메모리는 세션을 넘어 학습을 누적하는 층 — 팀·프로젝트 지식이 자산이 되고 provenance로 감사·재현이 가능해진다. 오염·노후 위험은 다음 장.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 2025 (memory tool; agent memory); 본 강의 예: project memory/wiki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16/45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메모리 심화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기억의 함정 — 오염·노후·비대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166360" cy="4114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691640"/>
            <a:ext cx="5166360" cy="530352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위험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3230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Memory poisoning: 틀린 사실이 저장돼 계속 재사용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3580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Staleness: 갱신 안 된 지식이 오답 유발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3931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비대화: 무한 축적 → 검색 품질 저하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42816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프라이버시: 민감정보가 장기 저장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B파트 연결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691640"/>
            <a:ext cx="5166360" cy="4114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69164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설계 원칙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3230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쓰기 시 provenance·타임스탬프 필수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3580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정기 검증·만료·갱신 정책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3931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요약·중복제거로 wiki 정돈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4281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민감정보 마스킹·접근통제</a:t>
            </a:r>
          </a:p>
        </p:txBody>
      </p:sp>
      <p:sp>
        <p:nvSpPr>
          <p:cNvPr id="28" name="Oval 27"/>
          <p:cNvSpPr/>
          <p:nvPr/>
        </p:nvSpPr>
        <p:spPr>
          <a:xfrm>
            <a:off x="6611112" y="4846320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77316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wiki lint로 무결성 점검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94360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95274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595274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장기 메모리는 '자산'이자 '부채'. 검증 없는 자동 기록은 오염을 영속화한다 — 무엇을·어떻게·얼마나 오래 기억할지 정책이 없으면 메모리가 곧 리스크가 된다.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 2025 (agent memory); OWASP 2025 (Data &amp; Model Poisoning, LLM04)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17/45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MCP — 도구를 표준으로 연결 (USB-C처럼)</a:t>
            </a:r>
          </a:p>
        </p:txBody>
      </p:sp>
      <p:pic>
        <p:nvPicPr>
          <p:cNvPr id="6" name="Picture 5" descr="he_mcp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5394960" cy="301114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7556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655064"/>
            <a:ext cx="56692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C242B"/>
                </a:solidFill>
                <a:latin typeface="Malgun Gothic"/>
              </a:rPr>
              <a:t>무엇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Model Context Protocol (Anthropic 2024.11 공개·오픈소스)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68879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368296"/>
            <a:ext cx="56692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C242B"/>
                </a:solidFill>
                <a:latin typeface="Malgun Gothic"/>
              </a:rPr>
              <a:t>역할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LLM ↔ 외부 도구·데이터의 'USB-C' 표준 단자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18211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081528"/>
            <a:ext cx="56692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C242B"/>
                </a:solidFill>
                <a:latin typeface="Malgun Gothic"/>
              </a:rPr>
              <a:t>구성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MCP 서버(도구·데이터 노출) ↔ 클라이언트(에이전트)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89534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794759"/>
            <a:ext cx="56692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C242B"/>
                </a:solidFill>
                <a:latin typeface="Malgun Gothic"/>
              </a:rPr>
              <a:t>생태계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한 번 만든 서버를 여러 에이전트·앱이 재사용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60857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507992"/>
            <a:ext cx="56692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C242B"/>
                </a:solidFill>
                <a:latin typeface="Malgun Gothic"/>
              </a:rPr>
              <a:t>신약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PubMed·UniProt·ChEMBL·RDKit·ADMET를 MCP 서버로 (6일차 실습 기반)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3218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5221224"/>
            <a:ext cx="56692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C242B"/>
                </a:solidFill>
                <a:latin typeface="Malgun Gothic"/>
              </a:rPr>
              <a:t>Claude for LS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Benchling·10x 등 MCP 커넥터로 연결(3교시)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 2024 (Model Context Protocol, 2024.11); MCP 생태계 2025–2026 (확인 권장)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18/45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MCP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MCP 아키텍처 — 호스트·클라이언트·서버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구성요소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60020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역할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1247120" cy="56692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Host(호스트)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65960"/>
            <a:ext cx="8138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사용자가 쓰는 앱(예: Claude Desktop·IDE) — 에이전트 실행 주체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87752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587752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Client(클라이언트)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587752"/>
            <a:ext cx="8138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호스트 내부에서 서버 1개와 1:1 연결을 관리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09544"/>
            <a:ext cx="11247120" cy="56692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209544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Server(서버)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09544"/>
            <a:ext cx="8138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도구·데이터를 표준 규격으로 노출(로컬/원격)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31335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831335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Primitives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831335"/>
            <a:ext cx="8138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Tools(실행)·Resources(데이터)·Prompts(템플릿) 3종 제공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53128"/>
            <a:ext cx="11247120" cy="56692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453128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Transport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453128"/>
            <a:ext cx="8138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stdio(로컬)·HTTP 기반 등으로 메시지(JSON-RPC) 교환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870448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5888736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888736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핵심: 서버는 '무엇을 할 수 있는지'를 표준 형식으로 알리고, 클라이언트는 그걸 발견해 호출한다. 덕분에 한 번 만든 도구 서버를 여러 에이전트·앱이 공유할 수 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 2024 (Model Context Protocol 사양, 2024.11); 세부 사양은 공식 문서 확인 권장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19/45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MCP 생태계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표준화의 빛과 그림자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166360" cy="4114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69164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확산 (2024→2026)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3230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Anthropic 2024.11 공개·오픈소스화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3580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OpenAI·Google 등 채택 → 2026 업계 표준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3931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커뮤니티 서버 급증(DB·검색·도구)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4281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신약: 문헌·구조·화합물 DB 서버화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691640"/>
            <a:ext cx="5166360" cy="4114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691640"/>
            <a:ext cx="5166360" cy="530352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새로운 책임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3230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서버 신뢰: 누가 만든 서버인가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3580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권한: 서버가 요구하는 접근 범위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3931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도구 설명이 인젝션 경로가 될 수 있음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42816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공급망(supply chain) 리스크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OWASP LLM03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94360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95274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595274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MCP는 연결을 쉽게 해주는 만큼 '무엇을 연결했는지' 관리가 중요해진다. 신뢰되지 않은 서버·도구 설명은 그대로 공격 표면 — A파트의 편의가 B파트의 위험과 맞닿는 지점.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 2024–2025 (MCP); OWASP 2025 (Supply Chain, LLM03)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20/45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평가(eval) — 믿으려면 측정하라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왜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'좋아 보임' ≠ '정확함' — 정량 평가 필수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방법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골든셋·회귀 테스트·A/B, LLM-as-judge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과학 벤치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LAB-Bench·Protocol QA·도메인 태스크(1·2교시)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추적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프롬프트·모델버전·도구로그 버전관리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게이트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임계 미달 시 배포·자율실행 차단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효과 · 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개선을 수치로 확인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회귀(퇴보) 방지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안전 배포 판단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주의 · 함정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평가셋 편향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judge 모델의 한계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Laurent et al. 2024 (LAB-Bench, arXiv:2407.10362); Anthropic 2025 (Claude for LS evals)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21/45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평가 심화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평가 파이프라인을 설계한다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166360" cy="4114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69164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구성요소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3230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골든셋: 정답이 붙은 대표 케이스 모음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3580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회귀 테스트: 바뀔 때마다 재실행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3931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LLM-as-judge: 모델이 출력 채점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4281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A/B·인간 평가: 실사용 비교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846320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77316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게이트: 임계 미달 시 배포 차단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691640"/>
            <a:ext cx="5166360" cy="4114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355080" y="1691640"/>
            <a:ext cx="5166360" cy="530352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재직자 주의점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2432304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골든셋 편향·소규모 → 과신 금지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035808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judge 모델도 틀림 → 인간 검수 병행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3639312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데이터 누수(train/test 겹침) 경계</a:t>
            </a:r>
          </a:p>
        </p:txBody>
      </p:sp>
      <p:sp>
        <p:nvSpPr>
          <p:cNvPr id="28" name="Oval 27"/>
          <p:cNvSpPr/>
          <p:nvPr/>
        </p:nvSpPr>
        <p:spPr>
          <a:xfrm>
            <a:off x="6611112" y="4242816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도메인 벤치로 실제 능력 측정</a:t>
            </a:r>
          </a:p>
        </p:txBody>
      </p:sp>
      <p:sp>
        <p:nvSpPr>
          <p:cNvPr id="30" name="Oval 29"/>
          <p:cNvSpPr/>
          <p:nvPr/>
        </p:nvSpPr>
        <p:spPr>
          <a:xfrm>
            <a:off x="6611112" y="4846320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77316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버전·프롬프트·로그를 함께 추적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Laurent et al. 2024 (LAB-Bench); Anthropic 2025 (evals)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22/45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과학 벤치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도메인 평가 — 과학은 더 엄격히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LAB-Bench(Laurent 2024): 문헌추론·DB·프로토콜 등 생물학 실무 능력 측정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일반 벤치(MMLU 등) 고득점 ≠ 실험실 태스크 능력 — 도메인 평가가 필요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Protocol QA·figure 해석 등 '실제로 쓰는 능력'을 과제화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신약 하네스: 타겟·ADMET·문헌 질의를 골든셋으로 회귀 관리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8613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86130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화려한 데모·리더보드 점수에 속지 말 것. 우리 업무 데이터로 만든 골든셋에서의 성능만이 도입 판단의 근거다 — '남의 벤치'가 아니라 '우리 벤치'.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Laurent et al. 2024 (LAB-Bench, arXiv:2407.10362)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23/45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Agentic 보안 통제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자율성이 곧 공격면이다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24/45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위협모델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왜 에이전트는 위험한가 — 위협 모델</a:t>
            </a:r>
          </a:p>
        </p:txBody>
      </p:sp>
      <p:pic>
        <p:nvPicPr>
          <p:cNvPr id="6" name="Picture 5" descr="he_threat_model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5394960" cy="301114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70078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에이전트는 '행동'한다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파일·API·DB·돈·실험을 실제로 건드림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32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43230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숨긴 지시(문서·웹)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외부 콘텐츠에 심긴 악성 명령이 에이전트를 탈취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644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16382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과도 권한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필요 이상 접근 → 유출·삭제·오작동 통로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9959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89534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시크릿 유출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API키·토큰 노출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7274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62686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신약 맥락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미공개 타겟·환자데이터·특허 = 유출 시 치명적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57784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586983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5586983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자율성이 커질수록 공격면도 커진다. '읽기 전용 챗봇'과 '도구를 실행하는 에이전트'의 위험은 급이 다르다 — 보안은 선택이 아니라 전제.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OWASP 2025 (Top 10 for LLM Applications; Agentic threats); NIST AI RMF 2023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25/45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OWASP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OWASP LLM Top 10 (2025) —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코드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60020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002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에이전트 관련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128016" cy="5120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965960"/>
            <a:ext cx="2194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LLM01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965960"/>
            <a:ext cx="4663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Prompt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965960"/>
            <a:ext cx="38404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숨긴 지시로 탈취 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3288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532888"/>
            <a:ext cx="128016" cy="5120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532888"/>
            <a:ext cx="2194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LLM02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532888"/>
            <a:ext cx="4663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Sensitive Info Disclosure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532888"/>
            <a:ext cx="38404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기밀·PII 유출 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99815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099815"/>
            <a:ext cx="128016" cy="5120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099815"/>
            <a:ext cx="2194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LLM06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099815"/>
            <a:ext cx="4663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Excessive Agency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099815"/>
            <a:ext cx="38404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과도 권한·자율 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66744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666744"/>
            <a:ext cx="2194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LLM03/04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666744"/>
            <a:ext cx="4663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Supply Chain / Poisoning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666744"/>
            <a:ext cx="38404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서버·데이터 오염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233672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233672"/>
            <a:ext cx="2194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LLM05/07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233672"/>
            <a:ext cx="4663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Improper Output / Prompt Leak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233672"/>
            <a:ext cx="38404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출력검증·시스템프롬프트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800600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800600"/>
            <a:ext cx="2194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LLM08/09/10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4800600"/>
            <a:ext cx="4663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Embedding·Misinfo·Unbounded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800600"/>
            <a:ext cx="38404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RAG·환각·자원남용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870448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" y="5888736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5888736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★ = 에이전트에서 특히 치명적. Prompt Injection은 2회 연속 1위, Sensitive Info Disclosure는 6위→2위로 급등. Excessive Agency(LLM06)는 '자율 실행' 그 자체의 위험을 명문화.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OWASP 2025 (Top 10 for LLM Applications; LLM01·02·06 확인)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26/45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위협 유형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Agentic 특유의 위협 4종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위협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0020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무엇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6002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주 방어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247120" cy="530352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Memory poisoning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65960"/>
            <a:ext cx="4937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오염된 기억이 계속 재사용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965960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검증·provenance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51176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51176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Tool misuse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551176"/>
            <a:ext cx="4937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도구를 의도 밖으로 호출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551176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최소권한·검증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36391"/>
            <a:ext cx="11247120" cy="530352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136391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Privilege compromise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136391"/>
            <a:ext cx="4937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권한 탈취·상승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136391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RBAC·격리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21608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721608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Cascading failure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721608"/>
            <a:ext cx="4937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한 에이전트 오류가 연쇄 전파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721608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격리·human gate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5216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613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86130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멀티에이전트·장기메모리·도구연결은 성능을 높이는 만큼 새 공격면을 만든다. 편의 기능 하나를 켤 때마다 '이게 어떻게 악용될 수 있나'를 함께 물어야 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OWASP 2025 (Agentic Security; LLM04·06); NIST AI RMF 2023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27/45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08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통제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150876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무엇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50876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신약 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최소권한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874519"/>
            <a:ext cx="48463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도구·데이터에 필요한 만큼만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874519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환자DB 읽기전용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4144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441448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인증·권한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441448"/>
            <a:ext cx="48463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사용자·에이전트 신원·역할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41448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랩 시스템 RBAC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0837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0837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시크릿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008376"/>
            <a:ext cx="48463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API키·토큰 코드/프롬프트 밖 저장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08376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금고(secret vault)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75303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575303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sandbox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575303"/>
            <a:ext cx="48463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코드·도구 실행 격리·자원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75303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격리 컨테이너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42231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142231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감사로그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142231"/>
            <a:ext cx="48463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모든 행동·도구호출 기록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142231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provenance 추적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709160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709160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인간 게이트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709160"/>
            <a:ext cx="48463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위험 행동은 승인 후 실행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709160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실험·주문 승인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통제 지도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Agentic 보안 통제 — 6가지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OWASP 2025 (LLM Top 10); NIST AI RMF; Anthropic responsible scaling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28/45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권한·인증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최소권한 &amp; 인증·권한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최소권한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각 도구에 꼭 필요한 범위만 부여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인증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에이전트·사용자 신원 검증(토큰·OAuth)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권한(RBAC)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역할별 접근 제어, 쓰기·삭제 제한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범위 격리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MCP 서버별 권한 분리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승인 흐름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위험 작업은 human-in-the-loop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효과 · 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피해 범위 최소화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탈취돼도 권한 제한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규제·감사 대응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주의 · 함정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설정 복잡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과잉 제한 시 무용지물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OWASP 2025 (Excessive Agency, LLM06); NIST AI RMF 2023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29/45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Excessive Agency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과도한 자율성 — LLM06을 끊는 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166360" cy="4114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691640"/>
            <a:ext cx="5166360" cy="530352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과도 권한의 3축 (OWASP)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3230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과도한 기능: 필요 없는 도구까지 노출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3580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과도한 권한: 읽기면 될 걸 쓰기·삭제까지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3931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과도한 자율: 사람 승인 없이 위험행동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42816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→ 셋 다 '피해 반경'을 키움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691640"/>
            <a:ext cx="5166360" cy="4114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69164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끊는 설계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3230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도구셋을 태스크 최소로 한정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3580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읽기/쓰기/삭제 권한 분리·기본 읽기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3931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MCP 서버별 scope 격리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4281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위험행동은 human-in-the-loop 승인</a:t>
            </a:r>
          </a:p>
        </p:txBody>
      </p:sp>
      <p:sp>
        <p:nvSpPr>
          <p:cNvPr id="28" name="Oval 27"/>
          <p:cNvSpPr/>
          <p:nvPr/>
        </p:nvSpPr>
        <p:spPr>
          <a:xfrm>
            <a:off x="6611112" y="4846320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77316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모든 호출 감사로그로 추적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94360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596188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96188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Excessive Agency의 처방은 '자율을 줄이는 것'이 아니라 '자율의 반경을 통제하는 것'. 기능·권한·자율 세 축을 각각 최소화하면, 탈취돼도 피해가 제한된다.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OWASP 2025 (Excessive Agency, LLM06:2025)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30/45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시크릿·감사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API키·시크릿 &amp; 감사로그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시크릿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API키·토큰을 코드·프롬프트에 넣지 않음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금고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환경변수·secret manager로 주입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회전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키 정기 교체·유출 시 즉시 폐기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감사로그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프롬프트·도구호출·결과 전부 기록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provenance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각 결과의 출처·모델·버전 기록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6.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모니터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이상 행동 탐지·알림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효과 · 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유출 방지·추적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재현·책임 규명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규제(감사) 대응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주의 · 함정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로그에 기밀 남지 않게 마스킹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로그 자체 보안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OWASP 2025 (Sensitive Info Disclosure, LLM02); 본 강의 provenance 원칙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31/45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시크릿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키·시크릿 — 하지 말 것 vs 할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166360" cy="4114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691640"/>
            <a:ext cx="5166360" cy="530352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하지 말 것 (안티패턴)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3230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코드·노트북에 키 하드코딩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3580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프롬프트·시스템 메시지에 키 삽입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3931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git·로그·에러메시지에 키 노출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42816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전 팀원이 같은 만능 키 공유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846320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77316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만료 없는 영구 키 방치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691640"/>
            <a:ext cx="5166360" cy="4114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355080" y="169164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할 것 (원칙)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243230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환경변수·.env(비커밋)·secret manager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03580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역할별 최소 scope 키 발급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363931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정기 회전 + 유출 시 즉시 폐기</a:t>
            </a:r>
          </a:p>
        </p:txBody>
      </p:sp>
      <p:sp>
        <p:nvSpPr>
          <p:cNvPr id="28" name="Oval 27"/>
          <p:cNvSpPr/>
          <p:nvPr/>
        </p:nvSpPr>
        <p:spPr>
          <a:xfrm>
            <a:off x="6611112" y="424281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로그에서 자동 마스킹</a:t>
            </a:r>
          </a:p>
        </p:txBody>
      </p:sp>
      <p:sp>
        <p:nvSpPr>
          <p:cNvPr id="30" name="Oval 29"/>
          <p:cNvSpPr/>
          <p:nvPr/>
        </p:nvSpPr>
        <p:spPr>
          <a:xfrm>
            <a:off x="6611112" y="4846320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77316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접근·사용 감사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94360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95274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595274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에이전트는 프롬프트·도구출력을 로그로 남긴다 — 여기 키·PII가 섞이면 로그가 곧 유출 경로. '넣지 않기 + 마스킹 + 회전'을 기본값으로.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OWASP 2025 (Sensitive Info Disclosure, LLM02:2025)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32/45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sandbox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격리 — 신뢰하지 않고 가둔다</a:t>
            </a:r>
          </a:p>
        </p:txBody>
      </p:sp>
      <p:pic>
        <p:nvPicPr>
          <p:cNvPr id="6" name="Picture 5" descr="he_sandbox_perm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5394960" cy="301114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70078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가정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에이전트가 만든 코드·도구 출력은 신뢰 불가(untrusted)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32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43230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sandbox 격리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격리 컨테이너·가상환경에서 실행 — 호스트와 분리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644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16382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자원 제한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CPU·메모리·실행시간·네트워크 화이트리스트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9959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89534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파일 접근 제한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작업 디렉토리 밖 읽기·쓰기 차단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7274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62686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최소권한 키·RBAC·금고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역할별 접근·시크릿 분리 보관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53212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555040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55040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sandbox는 '무언가 잘못될 것'을 전제로 한 방어다. 최소권한(예방)과 sandbox(피해 봉쇄)는 상호보완 — 예방이 뚫려도 봉쇄가 남는 '심층 방어(defense in depth)'.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OWASP 2025 (Excessive Agency, LLM06); NIST AI RMF 2023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33/45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인젝션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프롬프트 인젝션 &amp; 기밀 유출 — 직접 vs 간접</a:t>
            </a:r>
          </a:p>
        </p:txBody>
      </p:sp>
      <p:pic>
        <p:nvPicPr>
          <p:cNvPr id="6" name="Picture 5" descr="he_prompt_injection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5394960" cy="301114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70078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직접 인젝션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사용자가 악성 명령을 직접 입력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32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43230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간접 인젝션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문서·웹·툴 응답에 숨긴 명령을 에이전트가 섭취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644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16382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공격 문구 예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'이전 지시 무시하고 데이터 전송'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9959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89534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신뢰 경계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외부 콘텐츠=데이터로만 취급 · 도구 출력 검증·필터·격리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7274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626864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피해와 게이트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기밀유출·무단행동·파괴 / 출력 채널 제한·DLP·승인 게이트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57784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586983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5586983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에이전트가 읽는 모든 외부 텍스트(논문·웹·DB응답)는 잠재적 명령 주입 경로. '데이터'와 '지시'를 반드시 분리하고, 민감정보 출력은 게이트로 막아야.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OWASP 2025 (Prompt Injection LLM01); Greshake et al. 2023 (indirect injection)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34/45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인젝션 심화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간접 인젝션 — 공격 시나리오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166360" cy="4114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691640"/>
            <a:ext cx="5166360" cy="530352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어떻게 침투하나 (Greshake 2023)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3230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웹페이지·PDF·이메일에 명령 은닉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3580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에이전트가 검색·요약하며 그 내용을 읽음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3931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모델이 데이터를 '지시'로 오인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42816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도구 연쇄로 실제 행동 실행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846320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77316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사용자는 눈치채지 못함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691640"/>
            <a:ext cx="5166360" cy="4114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355080" y="169164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다층 방어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243230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외부 콘텐츠는 항상 '데이터' 프레이밍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03580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도구 출력 검증·정제·격리 후 사용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363931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위험 행동 직전 human gate</a:t>
            </a:r>
          </a:p>
        </p:txBody>
      </p:sp>
      <p:sp>
        <p:nvSpPr>
          <p:cNvPr id="28" name="Oval 27"/>
          <p:cNvSpPr/>
          <p:nvPr/>
        </p:nvSpPr>
        <p:spPr>
          <a:xfrm>
            <a:off x="6611112" y="424281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출력 채널 제한·DLP로 유출 차단</a:t>
            </a:r>
          </a:p>
        </p:txBody>
      </p:sp>
      <p:sp>
        <p:nvSpPr>
          <p:cNvPr id="30" name="Oval 29"/>
          <p:cNvSpPr/>
          <p:nvPr/>
        </p:nvSpPr>
        <p:spPr>
          <a:xfrm>
            <a:off x="6611112" y="4846320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77316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탐지: 이상 지시·행동 모니터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94360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95274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595274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인젝션은 '완전 차단'이 아직 어려운 미해결 문제 — 단일 방어에 기대지 말고 신뢰경계·검증·게이트·탐지를 겹쳐 쌓는 다층 방어로 접근한다.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Greshake et al. 2023 (Not what you've signed up for); OWASP 2025 (LLM01:2025)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35/45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유출 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기밀 유출 · DLP · 인간 게이트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출력 채널 제한: 에이전트가 데이터를 '어디로' 보낼 수 있는지 화이트리스트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DLP(데이터 유출 방지): 민감 패턴(PII·특허·서열) 탐지·마스킹·차단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Human gate: 외부 전송·주문·삭제 등 비가역 행동은 사람 승인 후 실행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신약 맥락: 미공개 타겟·환자데이터·특허는 유출 시 회복 불가 — 최우선 통제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8613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86130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보안의 목표는 '완벽'이 아니라 '피해 최소화 + 되돌릴 수 있음'. 비가역·고위험 행동에 인간 게이트를 두는 것이 가장 값싸고 확실한 안전장치다.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OWASP 2025 (Sensitive Info Disclosure, LLM02); NIST AI RMF 2023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36/45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감사·추적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감사로그 &amp; provenance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166360" cy="4114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69164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무엇을 남기나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3230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모든 프롬프트·도구호출·결과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3580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어떤 모델·버전·설정으로 실행했나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3931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각 결과의 출처(provenance)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4281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타임스탬프·사용자·에이전트 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691640"/>
            <a:ext cx="5166360" cy="4114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69164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왜 필요한가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3230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사고 시 원인 추적·책임 규명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3580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결과 재현·검증 가능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3931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규제·감사(GxP 등) 대응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4281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이상 행동 탐지의 기반</a:t>
            </a:r>
          </a:p>
        </p:txBody>
      </p:sp>
      <p:sp>
        <p:nvSpPr>
          <p:cNvPr id="28" name="Oval 27"/>
          <p:cNvSpPr/>
          <p:nvPr/>
        </p:nvSpPr>
        <p:spPr>
          <a:xfrm>
            <a:off x="6611112" y="4846320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77316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단, 로그에 기밀 마스킹 필수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94360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596188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96188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provenance = '이 숫자·주장이 어디서 왔는가'를 함께 저장. 자율 실행일수록 사후 추적이 유일한 통제 수단 — 기록되지 않은 행동은 검증도 롤백도 불가능하다.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NIST AI RMF 2023 (Govern/Map/Measure/Manage); 본 강의 provenance 원칙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37/45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거버넌스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NIST AI RMF — 조직 차원의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4592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45920"/>
            <a:ext cx="8412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무엇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1247120" cy="585215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246888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Govern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011680"/>
            <a:ext cx="841248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조직 정책·책임·문화 — 누가 무엇에 책임지나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51760"/>
            <a:ext cx="11247120" cy="58521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651760"/>
            <a:ext cx="246888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651760"/>
            <a:ext cx="841248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맥락·용도·위험 식별 — 어디에 어떤 위험이 있나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91840"/>
            <a:ext cx="11247120" cy="585215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291840"/>
            <a:ext cx="246888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91840"/>
            <a:ext cx="841248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위험을 측정·평가 — 평가(A파트 eval)와 연결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11247120" cy="58521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31920"/>
            <a:ext cx="246888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Manage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931920"/>
            <a:ext cx="841248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위험 처리·모니터·대응 — 통제·게이트·감사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NIST AI RMF 1.0, 2023 (AI Risk Management Framework)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38/45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에이전트 배포 전 보안 체크리스트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411480" cy="4114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6479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C242B"/>
                </a:solidFill>
                <a:latin typeface="Malgun Gothic"/>
              </a:rPr>
              <a:t>최소권한 부여 확인 (읽기/쓰기/삭제 분리)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96312"/>
            <a:ext cx="411480" cy="411480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96312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7802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C242B"/>
                </a:solidFill>
                <a:latin typeface="Malgun Gothic"/>
              </a:rPr>
              <a:t>API키·시크릿 코드·프롬프트에 없음 (금고 사용)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09544"/>
            <a:ext cx="411480" cy="41148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09544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9125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C242B"/>
                </a:solidFill>
                <a:latin typeface="Malgun Gothic"/>
              </a:rPr>
              <a:t>코드·도구 실행 sandbox 격리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22776"/>
            <a:ext cx="411480" cy="411480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22776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90448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C242B"/>
                </a:solidFill>
                <a:latin typeface="Malgun Gothic"/>
              </a:rPr>
              <a:t>모든 도구호출·결과 감사로그 + provenance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636008"/>
            <a:ext cx="411480" cy="41148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3600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61772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C242B"/>
                </a:solidFill>
                <a:latin typeface="Malgun Gothic"/>
              </a:rPr>
              <a:t>외부 콘텐츠 = 데이터로 취급(인젝션 방어)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349240"/>
            <a:ext cx="411480" cy="411480"/>
          </a:xfrm>
          <a:prstGeom prst="round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33095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C242B"/>
                </a:solidFill>
                <a:latin typeface="Malgun Gothic"/>
              </a:rPr>
              <a:t>위험 행동(실험·주문·전송)은 인간 승인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OWASP 2025 (LLM Top 10); NIST AI RMF; 6일차 실습 적용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39/45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배포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안전한 배포 — 평가·게이트를 연결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① 평가 게이트: 골든셋 임계 미달이면 배포 자동 차단(A파트 연결)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② 보안 게이트: 권한·시크릿·sandbox 체크리스트 통과 필수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③ 점진 배포: 제한 권한·소수 사용자 → 모니터링 → 확대(canary)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④ 롤백·킬스위치: 이상 시 즉시 중단·되돌리기 준비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NIST AI RMF 2023; OWASP 2025; Anthropic responsible scaling policy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40/45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최근 기술 &amp;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표준화·생태계 · 5교시 예고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41/45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최근 기술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2024–2026 하네스·에이전트 최근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기술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46304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의미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29260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프론티어 모델 세대교체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28800"/>
            <a:ext cx="81381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GPT-5 계열·Claude Opus 5/Sonnet 5·Gemini 3·Llama 4 (세부 버전 확인 권장)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7744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77440"/>
            <a:ext cx="29260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agentic이 표준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77440"/>
            <a:ext cx="81381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모델이 '챗봇'→'워커(도구 실행)'로 · reasoning(추론형) 기본 탑재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08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926080"/>
            <a:ext cx="29260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MCP 표준화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26080"/>
            <a:ext cx="81381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도구 연결 사실상 표준(OpenAI·Google 등 채택)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7472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474720"/>
            <a:ext cx="29260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컨텍스트 엔지니어링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474720"/>
            <a:ext cx="81381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프롬프트→정보설계로 패러다임 이동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2336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023360"/>
            <a:ext cx="29260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장기 메모리 도구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023360"/>
            <a:ext cx="81381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세션 넘는 학습·지식 축적 상용화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7200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572000"/>
            <a:ext cx="29260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멀티에이전트·Skills·평가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572000"/>
            <a:ext cx="81381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역할분담·스킬 패키징 + eval 게이트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2064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120640"/>
            <a:ext cx="29260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Agentic 보안 프레임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120640"/>
            <a:ext cx="81381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OWASP LLM Top10·NIST 정착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Anthropic·OpenAI·Google 2025–2026 발표; OWASP 2025; MCP 생태계 (모델 세부 버전은 2026.9 확인 권장)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42/45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Agent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Agent Skills — 능력을 패키징한다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166360" cy="4114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69164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무엇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3230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도메인 지식·절차·도구를 '스킬'로 포장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3580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에이전트가 필요 시 해당 스킬을 로드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3931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컨텍스트 절약: 항상 넣지 않고 필요할 때만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4281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본 강의 예: scientific-skills 다수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691640"/>
            <a:ext cx="5166360" cy="4114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69164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왜 중요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3230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전문성 재사용·공유 — 팀 자산화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3580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컨텍스트 엔지니어링과 직결(선별 로딩)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3931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MCP(연결) + Skills(능력)로 확장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4281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신약: 문헌·구조·ADMET 스킬 조합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 2025 (Agent Skills); 세부는 공식 문서 확인 권장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43/45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종합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신약개발 하네스 — 조각을 잇는다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컨텍스트: 타겟·문헌·과거결과를 선별·구조화해 주입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59689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496312"/>
            <a:ext cx="10698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서브에이전트: 문헌검색 / 구조예측 / 도킹·ADMET / 순위 분담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346703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246120"/>
            <a:ext cx="10698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MCP+Skills: PubMed·UniProt·ChEMBL·RDKit을 표준 연결·능력화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09651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3995928"/>
            <a:ext cx="10698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메모리/wiki: 후보·근거·실패를 provenance와 함께 축적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8463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4745736"/>
            <a:ext cx="10698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평가+보안: 골든셋 게이트 + 최소권한·감사·human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89788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91616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91616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이 모든 조각이 하나의 하네스로 합쳐질 때 비로소 '믿고 운영하는' 신약 에이전트가 된다. 6일차 실습은 이 조립을 직접 경험하는 시간.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 2024–2025; 본 강의 6일차 실습 설계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44/45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4교시 정리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190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하네스 엔지니어링 = 모델 주변 시스템 설계 (실전 성능의 90%)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517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334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컨텍스트·서브에이전트·메모리/wiki·MCP·평가로 견고화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661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478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Agentic 보안: 최소권한·인증·시크릿·sandbox·감사·인젝션 방어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805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622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배포 전 보안 체크리스트 6항목 + 평가 게이트 = 자율 실행의 전제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3949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766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5교시 예고 — 과학을 자율로: AI Scientist · 멀티오믹스 · self-driving lab · 한계·전망 + 실습(3H)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견고·안전한 에이전트가 모이면, 과학은 어디까지 자율이 될까?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45/45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주요 출처 (4교시)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하네스: Anthropic 2024 (Building effective agents); Anthropic 2025 (Effective context engineering for AI agents).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95728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컨텍스트: Liu et al. 2024 (Lost in the Middle, TACL); Lewis et al. 2020 (RAG, NeurIPS).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54096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MCP: Anthropic 2024 (Model Context Protocol, 2024.11 공개·오픈소스); 생태계 채택(OpenAI·Google) 2025.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12464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평가: Laurent et al. 2024 (LAB-Bench, arXiv:2407.10362); Anthropic 2025 (Claude for Life Sciences evals).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70831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보안: OWASP 2025 (Top 10 for LLM Applications; LLM01 Prompt Injection·LLM02 Sensitive Info·LLM06 Excessive Agency).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보안/거버넌스: NIST AI RMF 1.0 (2023); Greshake et al. 2023 (indirect prompt injection, AISec).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87568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최근: Anthropic 2025 (Agent Skills; memory tool). 일부 사양·수치는 공식 문서 확인 권장.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