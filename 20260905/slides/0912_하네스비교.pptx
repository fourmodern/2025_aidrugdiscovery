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9CD8"/>
                </a:solidFill>
                <a:latin typeface="Malgun Gothic"/>
              </a:rPr>
              <a:t>재직자 3과정 · 6일차(9/5) · 실습 보강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에이전트 하네스 2종 — 비교와 실측</a:t>
            </a:r>
          </a:p>
          <a:p>
            <a:pPr algn="l">
              <a:spcAft>
                <a:spcPts val="300"/>
              </a:spcAft>
            </a:pPr>
            <a:r>
              <a:rPr sz="1900" b="0" i="0">
                <a:solidFill>
                  <a:srgbClr val="E9EDF1"/>
                </a:solidFill>
                <a:latin typeface="Malgun Gothic"/>
              </a:rPr>
              <a:t>저분자(PDE5) vs 바이오로직스(항체 HER2)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794760"/>
            <a:ext cx="10241280" cy="32004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6908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9CD8"/>
                </a:solidFill>
                <a:latin typeface="Malgun Gothic"/>
              </a:rPr>
              <a:t>같은 뼈대 · 다른 도메인 — 표준 봉투 · 검증 게이트 · 무-날조는 그대로 재사용된다</a:t>
            </a:r>
          </a:p>
          <a:p>
            <a:pPr algn="l">
              <a:spcAft>
                <a:spcPts val="300"/>
              </a:spcAft>
            </a:pPr>
            <a:r>
              <a:rPr sz="700" b="0" i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9EDF1"/>
                </a:solidFill>
                <a:latin typeface="Malgun Gothic"/>
              </a:rPr>
              <a:t>이 덱의 모든 수치는 직접 실행해 확인한 값이다. 설계 2경로는 RunPod GPU(A40 · H100)로 실제 완주했다.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532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E88A1A"/>
                </a:solidFill>
                <a:latin typeface="Malgun Gothic"/>
              </a:rPr>
              <a:t>⚠ 정정 포함 — 이전 판의 'ESMFold2 실행 불가' 결론은 틀렸다 (재현성 교훈 슬라이드)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943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8A929A"/>
                </a:solidFill>
                <a:latin typeface="Malgun Gothic"/>
              </a:rPr>
              <a:t>강사 박혜진 · 근거 종합: 0905_agent/HARNESS_REPORT.md · runpod_logs/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들어가며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하네스를 두 개 만들었나 — 저분자와 바이오로직스는 다른 자를 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5166360" cy="4206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572768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1848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① PDE5 하네스 (저분자)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134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표적 PDE5A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UniProt O76074 · ChEMBL CHEMBL1827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9169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437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묻는 질문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알려진 화학공간에 좋은 후보가 있는가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520439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472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계산 도구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RDKit — MW·logP·TPSA·QED·SA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12394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50791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판정 자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Lipinski Ro5 · QED · 합성난이도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72744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65429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설계 단계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없음 — 선별·정리만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533095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5780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실행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CPU · 노트북에서 즉시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572768"/>
            <a:ext cx="5166360" cy="4206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6355080" y="1572768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61848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② 항체 하네스 (바이오로직스)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23134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2402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항원 HER2/ERBB2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UniProt P04626 · ECD 23–652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29169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8437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묻는 질문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새 바인더를 만들고 기존 항체와 같은 자로 잴 수 있는가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3520439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34472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계산 도구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BioPython — ProtParam · BLOSUM62 정렬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12394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050791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판정 자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CDR · developability · germline identity</a:t>
            </a:r>
          </a:p>
        </p:txBody>
      </p:sp>
      <p:sp>
        <p:nvSpPr>
          <p:cNvPr id="32" name="Oval 31"/>
          <p:cNvSpPr/>
          <p:nvPr/>
        </p:nvSpPr>
        <p:spPr>
          <a:xfrm>
            <a:off x="6611112" y="472744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465429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설계 단계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있음 — ESMFold2 inversion / RFantibody</a:t>
            </a:r>
          </a:p>
        </p:txBody>
      </p:sp>
      <p:sp>
        <p:nvSpPr>
          <p:cNvPr id="34" name="Oval 33"/>
          <p:cNvSpPr/>
          <p:nvPr/>
        </p:nvSpPr>
        <p:spPr>
          <a:xfrm>
            <a:off x="6611112" y="533095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525780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실행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평가=CPU 즉시 · 설계=GPU(A100) 필요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58887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88873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 메시지: 도메인이 바뀌면 '도구'와 '데이터 소스'만 바뀐다. 표준 봉투·게이트·무-날조 규약은 한 글자도 바뀌지 않는다 — 그래서 하네스는 재사용 가능한 자산이다.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0905_agent/HARNESS_REPORT.md · pde5_harness/ · antibody_harness/ (CPU 2026-08-31 · GPU 2026-09-01 실행 확인)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두 하네스 대조표 — 실행으로 확인한 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3716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① PDE5 (저분자)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37160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② 항체 (바이오로직스)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11247120" cy="40233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28016" cy="402336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표적 / 항원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737360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PDE5A · O76074 · CHEMBL1827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737360"/>
            <a:ext cx="4297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HER2/ERBB2 · P04626 · 1255 aa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94560"/>
            <a:ext cx="1124712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94560"/>
            <a:ext cx="128016" cy="402336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94560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참조 물질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194560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CHEMBL192/779/1520 (실데나필 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194560"/>
            <a:ext cx="4297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PDB 1N8Z(트라스투주맙)·1S78(퍼투주맙)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51760"/>
            <a:ext cx="11247120" cy="40233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651760"/>
            <a:ext cx="128016" cy="40233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651760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주 라이브러리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RDKit 2026.03.4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651760"/>
            <a:ext cx="4297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BioPython 1.88 (ProtParam·PairwiseAligner)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108960"/>
            <a:ext cx="1124712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108960"/>
            <a:ext cx="128016" cy="40233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108960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데이터 소스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108960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UniProt REST · ChEMBL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108960"/>
            <a:ext cx="4297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UniProt REST · RCSB Search+Data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66160"/>
            <a:ext cx="11247120" cy="40233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66160"/>
            <a:ext cx="128016" cy="402336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66160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파이프라인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3566160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target→chembl→properties→selectivity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566160"/>
            <a:ext cx="4297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antigen→search→cdr→developability→humanness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023360"/>
            <a:ext cx="1124712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023360"/>
            <a:ext cx="128016" cy="402336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023360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설계(생성)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4023360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없음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4023360"/>
            <a:ext cx="4297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경로 A ESMFold2 inversion / 경로 B RFantibody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480560"/>
            <a:ext cx="11247120" cy="40233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480560"/>
            <a:ext cx="128016" cy="402336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480560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스킬 / 스크립트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4480560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6 /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4480560"/>
            <a:ext cx="4297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9 / 11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937760"/>
            <a:ext cx="1124712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937760"/>
            <a:ext cx="128016" cy="402336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937760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하드 규칙 조항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4937760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5조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4937760"/>
            <a:ext cx="4297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12조 (서열·API·GPU·근사·지표 창작 금지 추가)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394960"/>
            <a:ext cx="11247120" cy="40233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5394960"/>
            <a:ext cx="128016" cy="40233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394960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게이트 실행 결과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5394960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4개 전부 PASSED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5394960"/>
            <a:ext cx="4297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5개 전부 PASSED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" y="589788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590702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48840" y="590702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오프라인 폴백 정책이 다르다 — PDE5 는 'OFFLINE DEMO' 표기만 하고 게이트를 통과시키지만, 항체는 캐시 폴백에도 passed=false 를 유지한다(게이트 통과 아님). 항체 쪽이 더 엄격하다.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0905_agent/HARNESS_REPORT.md · pde5_harness/ · antibody_harness/ (CPU 2026-08-31 · GPU 2026-09-01 실행 확인)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 · 계약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모든 도구가 같은 봉투로 답한다 — {result, provenance, verification}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874519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92807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두 하네스의 모든 과학 스크립트가 stdout 으로 내보내는 형식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76856"/>
            <a:ext cx="10607040" cy="2340864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68296"/>
            <a:ext cx="10241280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{"result": ...,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"provenance": {"source": "...", "query": "...", "timestamp": "...Z"},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"verification": {"passed": true, "checks": [{"check": "...", "passed": true}], "notes": "..."}}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7EC699"/>
                </a:solidFill>
                <a:latin typeface="Consolas"/>
              </a:rPr>
              <a:t># 실측 (antibody_harness/scripts/antigen_lookup.py P04626)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"provenance": {"source": "UniProt REST",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    "query": "https://rest.uniprot.org/uniprotkb/P04626.json",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    "timestamp": "2026-08-31T15:17:37.511938Z"}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672583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681727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이 계약 하나에서 체이닝(stdout→다음 스크립트 stdin) · 자동검사(gate) · 역추적(source/query/timestamp)이 전부 나온다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pde5_harness/scripts/verify.py · antibody_harness/scripts/verify.py · outputs/01_antigen.json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 · 게이트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passed=false 면 다음 단계 금지 — 두 하네스에서 실제로 찍힌 로그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874519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92807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$ python run_harness.py run   (좌: PDE5 / 우: 항체 P04626)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76856"/>
            <a:ext cx="10607040" cy="2340864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68296"/>
            <a:ext cx="10241280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[VERIFY-GATE:target-lookup]     PASSED</a:t>
            </a:r>
            <a:r>
              <a:rPr sz="1250">
                <a:solidFill>
                  <a:srgbClr val="E6EDF3"/>
                </a:solidFill>
                <a:latin typeface="Consolas"/>
              </a:rPr>
              <a:t>      [VERIFY-GATE:antigen-lookup]  PASSED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[VERIFY-GATE:chembl-actives]    PASSED</a:t>
            </a:r>
            <a:r>
              <a:rPr sz="1250">
                <a:solidFill>
                  <a:srgbClr val="E6EDF3"/>
                </a:solidFill>
                <a:latin typeface="Consolas"/>
              </a:rPr>
              <a:t>      [VERIFY-GATE:antibody-search] PASSED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[VERIFY-GATE:mol-properties]    PASSED</a:t>
            </a:r>
            <a:r>
              <a:rPr sz="1250">
                <a:solidFill>
                  <a:srgbClr val="E6EDF3"/>
                </a:solidFill>
                <a:latin typeface="Consolas"/>
              </a:rPr>
              <a:t>      [VERIFY-GATE:cdr-analysis]    PASSED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[VERIFY-GATE:selectivity-check] PASSED</a:t>
            </a:r>
            <a:r>
              <a:rPr sz="1250">
                <a:solidFill>
                  <a:srgbClr val="E6EDF3"/>
                </a:solidFill>
                <a:latin typeface="Consolas"/>
              </a:rPr>
              <a:t>      [VERIFY-GATE:developability]  PASSED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                           </a:t>
            </a:r>
            <a:r>
              <a:rPr sz="1250">
                <a:solidFill>
                  <a:srgbClr val="E6EDF3"/>
                </a:solidFill>
                <a:latin typeface="Consolas"/>
              </a:rPr>
              <a:t>      [VERIFY-GATE:humanness]       PASSED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7EC699"/>
                </a:solidFill>
                <a:latin typeface="Consolas"/>
              </a:rPr>
              <a:t># verify.py 안의 판정식 — check 하나라도 False 면 그 단계는 실패다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59C2D6"/>
                </a:solidFill>
                <a:latin typeface="Consolas"/>
              </a:rPr>
              <a:t>passed = all(ok for _, ok in checks)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672583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681727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게이트 통과 조건은 CLAUDE.md 의 표(문서)와 verify.py(코드) 양쪽에 박혀 있다 — 미끄러질 자리를 없앤다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76072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77900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77900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항체 하네스의 게이트는 더 촘촘하다 — 예: antigen-lookup 은 HTTP 200 · accession 일치 · gene/protein name · 서열 알파벳 유효 · length 일치 · FUNCTION 존재까지 7개 check 를 본다.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실행 확인: PDE5 4/4 PASSED · 항체 5/5 PASSED (2026-08-31)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 ·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source 문자열만 봐도 데이터 '등급'이 보인다 — 실측된 6종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실측된 source 문자열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5544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의미 · 게이트 결과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28016" cy="54864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5852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UniProt 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2024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라이브 조회 성공 → passed: true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2374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23744"/>
            <a:ext cx="128016" cy="54864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23744"/>
            <a:ext cx="5852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RCSB PDB Search + Data 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523744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라이브 조회 성공 → passed: 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2724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127248"/>
            <a:ext cx="128016" cy="54864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27248"/>
            <a:ext cx="5852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UniProt REST [local cache]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127248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로컬 캐시 (humanness germline pool 143개)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3075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30752"/>
            <a:ext cx="128016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30752"/>
            <a:ext cx="5852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UniProt REST (FAILED)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730752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조회 실패 → result: null · passed: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34256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34256"/>
            <a:ext cx="128016" cy="54864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334256"/>
            <a:ext cx="5852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offline cache (PDB 1N8Z, RCSB … 2026-08-31 취득)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334256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실서열 캐시지만 passed: false 유지 (통과 아님)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37760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937760"/>
            <a:ext cx="128016" cy="54864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937760"/>
            <a:ext cx="5852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ChEMBL (OFFLINE DEMO — 공개 대표 저해제, 실데이터 아님)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93776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오프라인 폴백 — 그런데도 passed: true (PDE5)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80644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815583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5815583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같은 '폴백'인데 판정이 다르다 — PDE5 의 chembl-actives 는 check 3종(레코드 존재·SMILES 유효·ID 형식)이 출처 등급을 보지 않기 때문. 항체는 이 지점을 고쳤다.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실행 확인: 네트워크 차단(HTTPS_PROXY=127.0.0.1:9) 재현 포함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 · 무-날조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하드 규칙 — 저분자 5조 → 항체 12조로 늘어난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5166360" cy="4206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572768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1848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PDE5 하드 규칙 (5조)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134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수치는 도구 실계산값만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IC50·물성·ChEMBL ID·PMID 창작 금지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9169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437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모든 사실 주장에 출처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없으면 '확인 필요'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520439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472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단계별 검증 게이트 통과 후 진행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12394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50791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불확실은 불확실로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도킹 스코어·LLM 추론은 '가설'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72744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65429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결과 = 가설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신약 발견이 아니다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572768"/>
            <a:ext cx="5166360" cy="4206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572768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61848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항체에서 추가된 것 (+7조)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3134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2402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서열을 지어내지 않는다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'대표적 VH 는 대략 이렇다' 금지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29169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8437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API 를 지어내지 않는다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공식 스크립트를 vendor 로 그대로 import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520439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4472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GPU 없이 돌린 척하지 않는다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dry-run 만 보고 + 'RunPod 검증 필요'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12394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050791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근사를 정확이라 말하지 않는다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heuristic (approximate) 그대로 표기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72744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65429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지표를 발명하지 않는다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'휴먼성 점수' 없음 · 통합 점수 없음</a:t>
            </a:r>
          </a:p>
        </p:txBody>
      </p:sp>
      <p:sp>
        <p:nvSpPr>
          <p:cNvPr id="32" name="Oval 31"/>
          <p:cNvSpPr/>
          <p:nvPr/>
        </p:nvSpPr>
        <p:spPr>
          <a:xfrm>
            <a:off x="6611112" y="533095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525780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규칙 ≠ 예측 · 키를 출력하지 않는다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liability 는 정규식 플래그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pde5_harness/README.md '하드 규칙' · antibody_harness/CLAUDE.md '하드 규칙 12조'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PDE5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실행 결과 요약 — check PASS → 4 게이트 PASSED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874519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92807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$ python run_harness.py check   (환경 점검)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76856"/>
            <a:ext cx="10607040" cy="2340864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68296"/>
            <a:ext cx="10241280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[dep] rdkit  ok   [dep] requests  ok   [dep] chembl_webresource_client  missing(옵션)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[rdkit] smoke test: ethanol MW=46.07  ok</a:t>
            </a:r>
            <a:r>
              <a:rPr sz="1200">
                <a:solidFill>
                  <a:srgbClr val="7EC699"/>
                </a:solidFill>
                <a:latin typeface="Consolas"/>
              </a:rPr>
              <a:t>     # 실계산 증거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결과: PASS — 자율 실행 준비 완료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7EC699"/>
                </a:solidFill>
                <a:latin typeface="Consolas"/>
              </a:rPr>
              <a:t># target_lookup.py — UniProt 라이브 조회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"accession": "O76074", "gene": "PDE5A", "length": 875,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"protein": "cGMP-specific 3',5'-cyclic phosphodiesterase",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"function": "… hydrolysis of cGMP to 5'-GMP (PubMed:15489334, PubMed:9714779) …"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672583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681727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ethanol MW=46.07 은 '이 환경에서 RDKit 이 실제로 계산한다'는 증거다 — 하드코딩된 표가 아니다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9788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90702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90702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이번 환경에는 chembl_webresource_client 가 없어 chembl_actives 가 오프라인 폴백으로 돌았다. CHEMBL192/779/1520 은 실재 ID·실 SMILES 지만 '라이브 조회'는 아니다.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실행 확인 2026-08-31 · Python 3.12.3 · RDKit 2026.03.4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PDE5 물성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mol_properties.py — RDKit 실계산 3건 (전부 게이트 통과)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화합물 (ChEMBL 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logP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6459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HBD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6459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HBA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TPSA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6459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QED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459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459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Ro5 /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011680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011680"/>
            <a:ext cx="128016" cy="512064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011680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sildenafil (CHEMBL192)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011680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474.6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011680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1.61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011680"/>
            <a:ext cx="731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011680"/>
            <a:ext cx="731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011680"/>
            <a:ext cx="914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113.4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011680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0.553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011680"/>
            <a:ext cx="731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2.74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011680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pass / 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7860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578608"/>
            <a:ext cx="128016" cy="512064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578608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tadalafil (CHEMBL779)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257860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389.4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257860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2.21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2578608"/>
            <a:ext cx="731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2578608"/>
            <a:ext cx="731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578608"/>
            <a:ext cx="914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74.9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257860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0.693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578608"/>
            <a:ext cx="731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3.28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578608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pass / pass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14553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145536"/>
            <a:ext cx="128016" cy="512064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14553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vardenafil (CHEMBL1520)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31455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488.6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31455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2.07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3145536"/>
            <a:ext cx="731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3145536"/>
            <a:ext cx="731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3145536"/>
            <a:ext cx="914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112.9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31455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0.516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145536"/>
            <a:ext cx="731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2.77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3145536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pass / pass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38862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242B"/>
                </a:solidFill>
                <a:latin typeface="Malgun Gothic"/>
              </a:rPr>
              <a:t>게이트 상수는 코드에 박힌 교육용 데모값 — QED_MIN = 0.5 · SA_MAX = 6.0 · Ro5 는 4항목 중 3개 이상 충족(위반 1개 허용).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SA(합성 접근성)는 RDKit contrib sascorer 가 없으면 null 로 남긴다 — 값을 만들지 않는다.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489204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4901183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48840" y="4901183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⭐ 새로 확인된 재현성 이슈: 같은 SMILES·같은 스크립트인데 RDKit 2024.03.5 에서는 sildenafil/vardenafil 의 HBA 가 8 로 나온다(2026.03.4 에서는 7). Lipinski.NumHAcceptors 정의가 버전 간 달라진 결과다. MW·logP·TPSA·QED·SA 는 두 버전에서 동일. → 디스크립터를 인용할 때는 라이브러리 버전을 함께 적어야 한다.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 하네스의 provenance 는 source: 'RDKit Descriptors/QED' 까지만 남기고 버전은 남기지 않는다 — 개선 여지가 남아 있는 실제 사례로 강의에서 다룰 것.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실행 확인: RDKit 2026.03.4 (Py3.12.3) vs 2024.03.5 (Py3.8.6) 교차 검증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PDE5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숫자 뒤에 있는 실물 — 실데나필이 붙는 자리 (PDB 1UDT, PyMOL 실렌더)</a:t>
            </a:r>
          </a:p>
        </p:txBody>
      </p:sp>
      <p:pic>
        <p:nvPicPr>
          <p:cNvPr id="6" name="Picture 5" descr="pde5_1UDT_sildena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008914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84848" y="1463040"/>
            <a:ext cx="48920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6784848" y="1463040"/>
            <a:ext cx="4892040" cy="475488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499616"/>
            <a:ext cx="45720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PDB 1UDT — PDE5A 촉매 도메인 + 실데나필</a:t>
            </a:r>
          </a:p>
        </p:txBody>
      </p:sp>
      <p:sp>
        <p:nvSpPr>
          <p:cNvPr id="10" name="Oval 9"/>
          <p:cNvSpPr/>
          <p:nvPr/>
        </p:nvSpPr>
        <p:spPr>
          <a:xfrm>
            <a:off x="7022592" y="217627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84831"/>
            <a:ext cx="429768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결합 포켓 잔기 23개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리간드에서 4.5 Å 이내 — 좌표에서 실계산한 값</a:t>
            </a:r>
          </a:p>
        </p:txBody>
      </p:sp>
      <p:sp>
        <p:nvSpPr>
          <p:cNvPr id="12" name="Oval 11"/>
          <p:cNvSpPr/>
          <p:nvPr/>
        </p:nvSpPr>
        <p:spPr>
          <a:xfrm>
            <a:off x="7022592" y="287121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779776"/>
            <a:ext cx="429768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강조 잔기 Gln775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포켓 안쪽 글루타민 · 그림에서 스틱으로 표시</a:t>
            </a:r>
          </a:p>
        </p:txBody>
      </p:sp>
      <p:sp>
        <p:nvSpPr>
          <p:cNvPr id="14" name="Oval 13"/>
          <p:cNvSpPr/>
          <p:nvPr/>
        </p:nvSpPr>
        <p:spPr>
          <a:xfrm>
            <a:off x="7022592" y="3566160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474720"/>
            <a:ext cx="429768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금속 이온 Zn²⁺ / Mg²⁺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PDE 촉매 도메인의 2금속 중심</a:t>
            </a:r>
          </a:p>
        </p:txBody>
      </p:sp>
      <p:sp>
        <p:nvSpPr>
          <p:cNvPr id="16" name="Oval 15"/>
          <p:cNvSpPr/>
          <p:nvPr/>
        </p:nvSpPr>
        <p:spPr>
          <a:xfrm>
            <a:off x="7022592" y="4261103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4169663"/>
            <a:ext cx="429768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PyMOL open-source 로 렌더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일러스트 도식이 아니라 실제 PDB 좌표</a:t>
            </a:r>
          </a:p>
        </p:txBody>
      </p:sp>
      <p:sp>
        <p:nvSpPr>
          <p:cNvPr id="18" name="Oval 17"/>
          <p:cNvSpPr/>
          <p:nvPr/>
        </p:nvSpPr>
        <p:spPr>
          <a:xfrm>
            <a:off x="7022592" y="4956047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864607"/>
            <a:ext cx="429768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이 그림에는 예측값이 없다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전부 실험 구조에서 읽어낸 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저분자 하네스가 계산한 MW·logP·QED 는 전부 '이 포켓에 들어갈 수 있는가'를 간접적으로 묻는 대리 지표다 — 실제 결합은 이렇게 생겼다.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PDB 1UDT · 0905_agent/figures/pde5_1UDT_sildenafil.png (PyMOL open-source, 접촉 잔기 4.5 Å 기준 실계산)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항체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실행 결과 요약 — check / design-check / run 전부 PASS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874519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92807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$ python run_harness.py check   →  design-check  →  run P04626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76856"/>
            <a:ext cx="10607040" cy="2596896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68296"/>
            <a:ext cx="10241280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[dep] requests ok · Bio ok · abnumber missing(옵션) · anarci missing(옵션)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[biopython] ProtParam smoke: MW=2414.69 pI=4.53  ok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[biopython] Aligner smoke: BLOSUM62 local score=49.0  ok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[cdr] 휴리스틱 자기검증(트라스투주맙 Kabat CDR 6종 재현): ok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[cdr] 번호매김 백엔드: heuristic</a:t>
            </a:r>
            <a:r>
              <a:rPr sz="1150">
                <a:solidFill>
                  <a:srgbClr val="7EC699"/>
                </a:solidFill>
                <a:latin typeface="Consolas"/>
              </a:rPr>
              <a:t>   (휴리스틱 근사 — IMGT 정확 번호 아님)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[verify] 표준 봉투 계약 self-test: ok      결과: PASS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7EC699"/>
                </a:solidFill>
                <a:latin typeface="Consolas"/>
              </a:rPr>
              <a:t># run P04626 — 항원: ERBB2 / Receptor tyrosine-protein kinase erbB-2 /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7EC699"/>
                </a:solidFill>
                <a:latin typeface="Consolas"/>
              </a:rPr>
              <a:t>#              Homo sapiens / length=1255 / ECD 23–652   → 5 게이트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28616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check 가 자기 자신을 검증한다 — 트라스투주맙의 문헌 공개 CDR 6종을 하드코딩해 두고 휴리스틱이 그것을 재현하는지 매번 대조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antibody_harness/run_harness.py · outputs/01_antigen.json (7 checks passed)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항체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RCSB 실시간 검색 6 entry · 항체 사슬 11건 → CDR 추출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PDB (해상도 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6459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사슬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CDR1 / CDR2 / CDR3 (휴리스틱 추출)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28016" cy="512064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1N8Z (2.52)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011680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heavy 220 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11680"/>
            <a:ext cx="7223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DTYIH  /  RIYPTNGYTRYADSVKG  /  WGGDGFYAMDY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7860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578608"/>
            <a:ext cx="128016" cy="512064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78608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1N8Z (2.52)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57860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light 214 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78608"/>
            <a:ext cx="7223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RASQDVNTAVA  /  SASFLYS  /  QQHYTTPPT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4553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45536"/>
            <a:ext cx="128016" cy="512064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145536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1S78 (3.25)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145536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heavy 226 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145536"/>
            <a:ext cx="7223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DYTMD  /  DVNPNSGGSIYNQRFKG  /  NLGPSFYFDY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12464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712464"/>
            <a:ext cx="128016" cy="512064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712464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1S78 (3.25)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3712464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light 214 aa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712464"/>
            <a:ext cx="7223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KASQDVSIGVA  /  SASYRYT  /  QQYYIYPYT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79392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279392"/>
            <a:ext cx="128016" cy="512064"/>
          </a:xfrm>
          <a:prstGeom prst="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279392"/>
            <a:ext cx="2194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3BE1 · 3H3B · 3N85 · 3WLW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279392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나머지 7 사슬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279392"/>
            <a:ext cx="7223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동일 방식 추출 — 총 11 도메인, 스킵 0건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0292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1N8Z heavy 앞 40자 (RCSB Data API 원값):  </a:t>
            </a:r>
            <a:r>
              <a:rPr sz="1150" b="1" i="0">
                <a:solidFill>
                  <a:srgbClr val="1F5C99"/>
                </a:solidFill>
                <a:latin typeface="Malgun Gothic"/>
              </a:rPr>
              <a:t>EVQLVESGGGLVQPGGSLRLSCAASGFNIKDTYIHWVRQA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7150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7241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57241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1N8Z 6종은 트라스투주맙 문헌 Kabat 값과 일치하지만, 이 추출은 anarci/abnumber 없이 도는 '보존 모티프 정규식 휴리스틱 근사'다. 검증은 트라스투주맙·퍼투주맙 2건뿐 — 비정형 프레임워크·삽입·비인간 항체에서는 경계가 틀릴 수 있다. 'IMGT 번호매김으로 추출했다'고 쓰면 안 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outputs/02_antibodies.json · 03_cdr.json (method: heuristic (approximate) — Kabat-like)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항체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developability — ProtParam 실계산 + 규칙 기반 liability 스캔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사슬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600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MW (Da)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6002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6002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GRAVY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600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instability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6002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liability (CDR 내부)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1600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96596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965960"/>
            <a:ext cx="128016" cy="493776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965960"/>
            <a:ext cx="17373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1N8Z_B (heavy)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1965960"/>
            <a:ext cx="1371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23403.96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965960"/>
            <a:ext cx="822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8.83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1965960"/>
            <a:ext cx="10972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-0.18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965960"/>
            <a:ext cx="1371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40.32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965960"/>
            <a:ext cx="21031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19 (6)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965960"/>
            <a:ext cx="2286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unstable (&gt;40)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1460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514600"/>
            <a:ext cx="128016" cy="493776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514600"/>
            <a:ext cx="17373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1N8Z_A (light)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2514600"/>
            <a:ext cx="1371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23442.81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2514600"/>
            <a:ext cx="822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7.76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514600"/>
            <a:ext cx="10972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-0.4523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514600"/>
            <a:ext cx="1371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54.43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514600"/>
            <a:ext cx="21031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9 (1)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514600"/>
            <a:ext cx="2286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unstable (&gt;40)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06323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063239"/>
            <a:ext cx="128016" cy="49377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063239"/>
            <a:ext cx="17373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1S78_DF (heavy)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063239"/>
            <a:ext cx="1371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24135.77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3063239"/>
            <a:ext cx="822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8.77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3063239"/>
            <a:ext cx="10972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-0.2177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3063239"/>
            <a:ext cx="1371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39.21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063239"/>
            <a:ext cx="21031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15 (2)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3063239"/>
            <a:ext cx="2286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stable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61187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3611879"/>
            <a:ext cx="128016" cy="493776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3611879"/>
            <a:ext cx="17373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3N85_H (heavy)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3611879"/>
            <a:ext cx="1371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23830.45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611879"/>
            <a:ext cx="822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8.79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3611879"/>
            <a:ext cx="10972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-0.1353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3611879"/>
            <a:ext cx="1371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43.65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3611879"/>
            <a:ext cx="21031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22 (7)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3611879"/>
            <a:ext cx="2286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unstable (&gt;40)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4297680"/>
            <a:ext cx="10607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1N8Z_B (트라스투주맙 중쇄) CDR 내부 liability 6건 — 위치는 1-based: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CDR-H1 31 DT 이성질화(mod) · </a:t>
            </a:r>
            <a:r>
              <a:rPr sz="1100" b="1" i="0">
                <a:solidFill>
                  <a:srgbClr val="C0392B"/>
                </a:solidFill>
                <a:latin typeface="Malgun Gothic"/>
              </a:rPr>
              <a:t>CDR-H2 55 NG 탈아미드화(high)</a:t>
            </a:r>
            <a:r>
              <a:rPr sz="1100" b="0" i="0">
                <a:solidFill>
                  <a:srgbClr val="5A636B"/>
                </a:solidFill>
                <a:latin typeface="Malgun Gothic"/>
              </a:rPr>
              <a:t> · CDR-H2 62 DS 이성질화(mod)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CDR-H3 99 Trp 산화(mod) · </a:t>
            </a:r>
            <a:r>
              <a:rPr sz="1100" b="1" i="0">
                <a:solidFill>
                  <a:srgbClr val="C0392B"/>
                </a:solidFill>
                <a:latin typeface="Malgun Gothic"/>
              </a:rPr>
              <a:t>CDR-H3 102 DG 이성질화(high)</a:t>
            </a:r>
            <a:r>
              <a:rPr sz="1100" b="0" i="0">
                <a:solidFill>
                  <a:srgbClr val="5A636B"/>
                </a:solidFill>
                <a:latin typeface="Malgun Gothic"/>
              </a:rPr>
              <a:t> · CDR-H3 107 Met 산화(mod)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사슬 11건 전체: 규칙 히트 157건(CDR 내부 35건) · 1N8Z_B 소수성 패치 8개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576072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576986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48840" y="576986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이 hotspot 들은 트라스투주맙에 대해 문헌에 알려진 것과 일치한다 — 그래도 liability 는 정규식 '플래그'이지 응집·안정성 예측 모델이 아니다. 서술은 '이 항체는 응집할 것이다'가 아니라 'NG 탈아미드화 모티프가 CDR-H2 55번에 있다(규칙 기반 플래그)'.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outputs/04_developability.json · instability index 기준 Guruprasad 1990 (&gt;40 unstable)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항체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humanness — 발명 지표 대신 정의가 명확한 germline identity(%)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사슬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600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nearest germline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6002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accession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6002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identity (%)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6002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pool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65960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128016" cy="475488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1N8Z_A (light)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965960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IGKV1-39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965960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P01597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965960"/>
            <a:ext cx="1645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86.32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965960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IGKV+IGLV 84개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496312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496312"/>
            <a:ext cx="128016" cy="475488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496312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1N8Z_B (heavy)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496312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IGHV3-66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496312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A0A0C4DH42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496312"/>
            <a:ext cx="1645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80.61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496312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IGHV 59개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026663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026663"/>
            <a:ext cx="128016" cy="47548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026663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1S78_CE (light)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3026663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IGKV1D-33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026663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P01593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026663"/>
            <a:ext cx="1645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86.81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026663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IGKV+IGLV 84개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557015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557015"/>
            <a:ext cx="128016" cy="47548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557015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1S78_DF (heavy)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3557015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IGHV3-23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3557015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P01764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557015"/>
            <a:ext cx="1645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77.55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3557015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IGHV 59개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087368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087368"/>
            <a:ext cx="128016" cy="475488"/>
          </a:xfrm>
          <a:prstGeom prst="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087368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3WLW_DL (light)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4087368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IGLV2-14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087368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087368"/>
            <a:ext cx="1645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97.98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087368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IGKV+IGLV 84개</a:t>
            </a:r>
          </a:p>
        </p:txBody>
      </p:sp>
      <p:sp>
        <p:nvSpPr>
          <p:cNvPr id="46" name="Round Same Side Corner Rectangle 45"/>
          <p:cNvSpPr/>
          <p:nvPr/>
        </p:nvSpPr>
        <p:spPr>
          <a:xfrm>
            <a:off x="777240" y="466344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4681727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봉투에 그대로 실려 오는 지표 정의 (발명 금지)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065776"/>
            <a:ext cx="10607040" cy="80467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157216"/>
            <a:ext cx="10241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germline_identity_percent = 100 × (동일 잔기 수) / (BLOSUM62 local alignment 길이)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germline pool = 143 (UniProt reviewed IGHV/IGKV/IGLV)   </a:t>
            </a:r>
            <a:r>
              <a:rPr sz="1150">
                <a:solidFill>
                  <a:srgbClr val="7EC699"/>
                </a:solidFill>
                <a:latin typeface="Consolas"/>
              </a:rPr>
              <a:t># 게이트 조건: pool ≥ 50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589788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590702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48840" y="590702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germline identity 는 면역원성(ADA) 예측이 아니라 서열 유사도 상관 지표다. '휴먼성 점수 8.5/10' 같은 발명 지표는 이 하네스에 없다.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outputs/05_humanness.json (source: UniProt REST [local cache], 5 checks passed)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항체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CDR 문자열이 실제로 하는 일 — HER2 + 트라스투주맙 Fab (PDB 1N8Z)</a:t>
            </a:r>
          </a:p>
        </p:txBody>
      </p:sp>
      <p:pic>
        <p:nvPicPr>
          <p:cNvPr id="6" name="Picture 5" descr="her2_1N8Z_trastuzum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3040"/>
            <a:ext cx="4702629" cy="3291840"/>
          </a:xfrm>
          <a:prstGeom prst="rect">
            <a:avLst/>
          </a:prstGeom>
        </p:spPr>
      </p:pic>
      <p:pic>
        <p:nvPicPr>
          <p:cNvPr id="7" name="Picture 6" descr="her2_1N8Z_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63040"/>
            <a:ext cx="4702629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809744"/>
            <a:ext cx="4700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1AA68C"/>
                </a:solidFill>
                <a:latin typeface="Malgun Gothic"/>
              </a:rPr>
              <a:t>① 전체 — HER2 표면 + 트라스투주맙 Fab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4809744"/>
            <a:ext cx="4700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6A4C93"/>
                </a:solidFill>
                <a:latin typeface="Malgun Gothic"/>
              </a:rPr>
              <a:t>② 결합 계면 클로즈업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0368"/>
            <a:ext cx="10607040" cy="45720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239512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에피토프 19 잔기 (HER2 domain IV · C557–C579 구간)</a:t>
            </a:r>
            <a:r>
              <a:rPr sz="1050" b="0" i="0">
                <a:solidFill>
                  <a:srgbClr val="8A929A"/>
                </a:solidFill>
                <a:latin typeface="Malgun Gothic"/>
              </a:rPr>
              <a:t>   ↔  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파라토프 20 잔기 (트라스투주맙 Fab)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  — 접촉 잔기는 4.5 Å 기준 실계산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0644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815583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815583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앞 슬라이드에서 휴리스틱으로 뽑은 CDR-H3 'WGGDGFYAMDY' 가 붙는 자리가 바로 여기다. 다만 이 그림은 이미 풀린 실험 구조이지 예측이 아니다 — 설계 단계(경로 A/B)가 내놓는 것은 '이런 그림이 나올 것'이라는 가설뿐이다.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PDB 1N8Z (2.52 Å) · 0905_agent/figures/her2_1N8Z_{trastuzumab,interface}.png (PyMOL open-source)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여기부터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설계 2경로 — 새로 만드는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ESMFold2 inversion (2026 SOTA) vs RFantibody (고전 3단계) — 그리고 저자가 밝힌 한계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경로 A vs 경로 B — 원리 · 라이선스 · 입력 · 필터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463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경로 A — ESMFold2 inversion (주축)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46304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경로 B — RFantibody (고전 비교군)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1247120" cy="42062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28016" cy="42062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828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828800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folding model 을 역방향 미분 → 서열 gradient 최적화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828800"/>
            <a:ext cx="4480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RFdiffusion → ProteinMPNN → RoseTTAFold2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04288"/>
            <a:ext cx="1124712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04288"/>
            <a:ext cx="128016" cy="42062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304288"/>
            <a:ext cx="1828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모델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304288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1개 (folding model 하나로 설계)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304288"/>
            <a:ext cx="4480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3개 (단계별 다른 모델)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79776"/>
            <a:ext cx="11247120" cy="42062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779776"/>
            <a:ext cx="128016" cy="420624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779776"/>
            <a:ext cx="1828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저장소 / 라이선스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779776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github.com/Biohub/esm — 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779776"/>
            <a:ext cx="4480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RosettaCommons/RFantibody — MIT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55264"/>
            <a:ext cx="1124712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255264"/>
            <a:ext cx="128016" cy="420624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255264"/>
            <a:ext cx="1828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가중치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3255264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HF biohub/ESMFold2 · ESMFold2-Fast · ESMC-6B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255264"/>
            <a:ext cx="4480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bash include/download_weights.sh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730752"/>
            <a:ext cx="11247120" cy="42062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30752"/>
            <a:ext cx="128016" cy="420624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730752"/>
            <a:ext cx="1828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입력 규격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3730752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preset 항원 5종 또는 --target-sequence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730752"/>
            <a:ext cx="4480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HLT 포맷 PDB (체인 H→L→T + CDR 주석)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206240"/>
            <a:ext cx="1124712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206240"/>
            <a:ext cx="128016" cy="420624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206240"/>
            <a:ext cx="1828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필터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4206240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프로토콜 내부 critic 랭킹 (ipTM 등)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206240"/>
            <a:ext cx="4480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저자 권장: pAE&lt;10 · RMSD&lt;2Å · (선택) ddG&lt;-20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681728"/>
            <a:ext cx="11247120" cy="42062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681728"/>
            <a:ext cx="128016" cy="4206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681728"/>
            <a:ext cx="1828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GPU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4681728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A100 40GB↑ (80GB 권장) · VRAM 27/51GB*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681728"/>
            <a:ext cx="4480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NVIDIA GPU · CUDA 11.8+ · VRAM 문서 미명시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157216"/>
            <a:ext cx="1124712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157216"/>
            <a:ext cx="128016" cy="420624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157216"/>
            <a:ext cx="1828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창작 방지 장치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97480" y="5157216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공식 binder_design.py 를 vendor 로 그대로 import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5157216"/>
            <a:ext cx="4480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공식 README CLI 를 그대로 호출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76072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" y="577900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77900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* VRAM 27/51GB 는 공식 binder_design.py 주석의 인용값이며 실측이 아니다. preset 항원 5종 = cd45 · ctla4 · egfr · pd-l1 · pdgfr.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biorxiv 10.64898/2026.06.03.729735 (A) · biorxiv 2024.03.14.585103v1 (B) · 두 저장소 모두 MIT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경로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ESMFold2 inversion — 원저자가 보고한 검증 성적 (인용값)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wet-lab hit rate — 5개 타깃에서 실제로 붙었다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EGFR · PDGFRβ · PD-L1 · CTLA-4 · CD45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243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23744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항체 포맷 15–29% · 미니바인더 36–88% · nM 친화도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'설계 100개 중 몇 개가 실제로 결합했나' — 구조 신뢰도가 아니라 실험 결과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015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300984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FoldBench 항체–항원 DockQ pass-rate 에서 AF3 상회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2026_landscape.md: single-seq 기준 50% vs AF3 47% — 2차 소스, 확인 권장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788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078224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설계 모델이 따로 없다 — folding model 하나를 뒤집는다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별도 생성 모델·MSA 없이 타깃 서열 → ranked binder 엔드투엔드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2064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29783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129783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이 수치들은 전부 원저자 보고의 인용값이지 이 하네스가 계산한 값이 아니다. 그리고 hit rate 는 '타깃·포맷·필터에 따라 크게 달라지는 값'이다 — 15%와 88% 사이의 폭이 그 증거다. 강의에서 '설계 성공률 88%' 로 잘라 인용하지 말 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89788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591616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91616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하네스의 API 창작 방지: design_esmfold2.py 는 공식 프로토콜을 vendor/binder_design.py(1497줄)로 내려받아 그대로 import 한다. 함수명·인자를 지어낼 여지가 구조적으로 없다.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Biohub/esm cookbook/tutorials/binder_design.py · 0905_agent/2026_landscape.md §2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경로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RFantibody — 저자가 스스로 밝힌 한계를 그대로 인용한다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7830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공식 문서 원문 인용 (하네스 CLAUDE.md·README 에 박혀 있음)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85416"/>
            <a:ext cx="10607040" cy="18288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76856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50">
                <a:solidFill>
                  <a:srgbClr val="59C2D6"/>
                </a:solidFill>
                <a:latin typeface="Consolas"/>
              </a:rPr>
              <a:t>"The lack of an effective filter is the main limitation of the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59C2D6"/>
                </a:solidFill>
                <a:latin typeface="Consolas"/>
              </a:rPr>
              <a:t> RFantibody pipeline at the moment."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7EC699"/>
                </a:solidFill>
                <a:latin typeface="Consolas"/>
              </a:rPr>
              <a:t># 저자 예상: 일부 타깃은 95 designs 로 VHH binder 확보,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7EC699"/>
                </a:solidFill>
                <a:latin typeface="Consolas"/>
              </a:rPr>
              <a:t>#            그러나 일반적으로 10k 규모 캠페인이 필요할 것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7EC699"/>
                </a:solidFill>
                <a:latin typeface="Consolas"/>
              </a:rPr>
              <a:t># → 소수 설계의 순위는 '약한 증거'다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69080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78224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하네스는 이 문장을 보고서에 반드시 인용하도록 규약에 못 박아 두었다 — 좋은 소식만 고르지 않기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6360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535424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권장 최소 필터는 저자 문서 값 그대로 쓴다 (발명 금지)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RF2 pAE &lt; 10 · RMSD(design vs 예측) &lt; 2 Å · (선택) Rosetta ddG &lt; -20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38581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5285232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--self-consistency 로 설계 백본 vs RF2 예측의 Cα RMSD 를 추가 계산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Quiver 를 qvextract 로 풀어야 동작 — 없으면 추정하지 않고 skipped_reason 을 남긴다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9788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90702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90702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'2026 SOTA vs 고전' 구도로만 소비하지 말 것. 경로 B 는 필터가 약할 뿐 파이프라인 자체는 널리 쓰이며, 경로 A 의 hit rate 도 원저자 보고다. 두 경로 모두 in silico 가설 생성기이고 wet-lab 이 유일한 판정자다.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RosettaCommons/RFantibody README · biorxiv 2024.03.14.585103v1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비교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두 경로를 하나의 점수로 합치지 않는다 — 그리고 dry-run 실측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82880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compare_designs.py 의 명시 규칙 (코드 주석·봉투 notes 원문)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31136"/>
            <a:ext cx="10607040" cy="18288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22576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7EC699"/>
                </a:solidFill>
                <a:latin typeface="Consolas"/>
              </a:rPr>
              <a:t># 경로 A 의 ipTM 과 경로 B 의 pAE 를 하나의 '종합 점수'로 합치지 않는다.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7EC699"/>
                </a:solidFill>
                <a:latin typeface="Consolas"/>
              </a:rPr>
              <a:t># 그런 통합 점수는 근거 없는 발명이다.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59C2D6"/>
                </a:solidFill>
                <a:latin typeface="Consolas"/>
              </a:rPr>
              <a:t>정당한 공통 비교축 = 서열만으로 계산되는 지표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 CDR 길이 · MW · pI · GRAVY · instability index · liability 히트 수 · germline identity(%)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경로별 신뢰도 지표는 원본 이름 그대로 병기 (ipTM 은 ipTM, pAE 는 pAE)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114799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23943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그래서 평가 3종(cdr·developability·humanness)을 '설계 서열에도 똑같이' 적용한다 — 트라스투주맙과 같은 자로 재기 위해</a:t>
            </a:r>
          </a:p>
        </p:txBody>
      </p:sp>
      <p:sp>
        <p:nvSpPr>
          <p:cNvPr id="12" name="Round Same Side Corner Rectangle 11"/>
          <p:cNvSpPr/>
          <p:nvPr/>
        </p:nvSpPr>
        <p:spPr>
          <a:xfrm>
            <a:off x="777240" y="416052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78807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$ python run_harness.py design-check   (GPU 배포 이전의 사전 점검 · 2026-08-31)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562856"/>
            <a:ext cx="10607040" cy="1572768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54296"/>
            <a:ext cx="102412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경로 A  passed=True   sha256 일치=True   API 심볼: 기대 심볼 전부 확인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    vendor/binder_design.py  sha256 28d672a3…cd3d3  commit 827ec128…4918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    GPU: CUDA 사용 불가   (torch 2.13.0+cpu · esm 미설치)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경로 B  rfdiffusion / proteinmpnn / rf2 / qvscorefile  전부 missing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결과: PASS — 설계 경로 설정 검증 완료 </a:t>
            </a:r>
            <a:r>
              <a:rPr sz="1100">
                <a:solidFill>
                  <a:srgbClr val="7EC699"/>
                </a:solidFill>
                <a:latin typeface="Consolas"/>
              </a:rPr>
              <a:t>→ 다음 슬라이드부터 GPU 실측으로 채운다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2026-08-31 사전 점검 · outputs/design_a_dryrun.json → 2026-09-01 RunPod 실행으로 이 빈칸이 채워졌다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실측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RFantibody 3단계 완주 — RunPod A40 · $0.44/hr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664208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82496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실제로 실행한 명령 (rfab.log 의 '+' 트레이스 원문 · 저장소 공식 예제 입력)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66544"/>
            <a:ext cx="10607040" cy="1572768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57984"/>
            <a:ext cx="102412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uv run rfdiffusion --target flu_HA.pdb --framework h-NbBCII10.pdb \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   --num-designs 4 --design-loops H1:7,H2:6,H3:5-13 \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   --hotspots B146,B170,B177 --diffuser-t 50 </a:t>
            </a:r>
            <a:r>
              <a:rPr sz="1150">
                <a:solidFill>
                  <a:srgbClr val="59C2D6"/>
                </a:solidFill>
                <a:latin typeface="Consolas"/>
              </a:rPr>
              <a:t>--deterministic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uv run proteinmpnn --seqs-per-struct 4 --temperature 0.2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uv run rf2 --num-recycles 10 --hotspot-show-prop 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749039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설정 → 산출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749039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실측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28016" cy="4572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① RFdiffusion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11480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백본 4종 · 나노바디 프레임워크(경쇄 없음 → loopL 비어 있음)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114800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설계당 3.08–3.83분 · 합계 13.28분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26864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626864"/>
            <a:ext cx="128016" cy="4572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26864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② ProteinMPNN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626864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4 구조 × seqs-per-struct 4 → 16 서열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626864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구조당 3–7초 · quiver 1.7 MB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38928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38928"/>
            <a:ext cx="128016" cy="4572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38928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③ RoseTTAFold2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138928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num-recycles 10 (=11 cycle) → 16 예측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5138928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pLDDT 0.884→0.902 수렴 · 6.5 MB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'3.15분 / 핫스팟 최소거리 4.83 Å' 은 마지막 design(3) 하나의 값이지 4개 평균이 아니다 — 4 designs 합계는 13.28분. 실행시간을 인용할 때 'design 당'인지 '전체'인지 반드시 구분할 것.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실측 로그: 0905_agent/runpod_logs/ (2026-08-31~09-01 RunPod 실행) · HARNESS_REPORT.md §6.6–6.9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실측 B 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저자가 말한 '쓸 만한 필터가 없다'를 우리 숫자로 재현했다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RF2 지표 (설계 16개 전수)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55448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55448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55448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avg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55448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읽는 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11247120" cy="44805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128016" cy="448056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384048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pred_lddt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0.90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92024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0.92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92024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0.91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920240"/>
            <a:ext cx="356616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전부 0.90–0.92 → 거의 구분력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423160"/>
            <a:ext cx="11247120" cy="4480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423160"/>
            <a:ext cx="128016" cy="448056"/>
          </a:xfrm>
          <a:prstGeom prst="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423160"/>
            <a:ext cx="384048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pae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42316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3.12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42316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9.82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42316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8.18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423160"/>
            <a:ext cx="356616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926080"/>
            <a:ext cx="11247120" cy="44805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926080"/>
            <a:ext cx="128016" cy="448056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926080"/>
            <a:ext cx="384048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interaction_pae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92608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6.22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92608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22.24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92608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18.57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2926080"/>
            <a:ext cx="356616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실질적으로 이 축에서만 갈린다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429000"/>
            <a:ext cx="11247120" cy="4480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429000"/>
            <a:ext cx="128016" cy="44805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429000"/>
            <a:ext cx="384048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framework_aligned_cdr_rmsd (Å)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342900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0.76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342900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2.03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42900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1.23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3429000"/>
            <a:ext cx="356616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RMSD&lt;2Å 는 대부분 통과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931920"/>
            <a:ext cx="11247120" cy="44805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931920"/>
            <a:ext cx="128016" cy="448056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31920"/>
            <a:ext cx="384048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framework_aligned_H3_rmsd (Å)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393192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0.64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6440" y="393192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3.01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3931920"/>
            <a:ext cx="118872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1.61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3931920"/>
            <a:ext cx="356616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H3 가 가장 크게 흔들린다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4572000"/>
            <a:ext cx="10607040" cy="1097280"/>
          </a:xfrm>
          <a:prstGeom prst="roundRect">
            <a:avLst/>
          </a:prstGeom>
          <a:solidFill>
            <a:srgbClr val="F3F0F9"/>
          </a:solidFill>
          <a:ln w="2032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4626864"/>
            <a:ext cx="10058400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저자 권장 필터  interaction_pae &lt; 10  적용 →  통과 </a:t>
            </a:r>
            <a:r>
              <a:rPr sz="1700" b="1" i="0">
                <a:solidFill>
                  <a:srgbClr val="C0392B"/>
                </a:solidFill>
                <a:latin typeface="Malgun Gothic"/>
              </a:rPr>
              <a:t>1 / 16  (6.3%)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통과 설계 samples_design_1_dldesign_3_best — interaction_pae 6.22 · pae 3.12 · pLDDT 0.91 · CDR RMSD 0.76 Å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나머지 15개는 17.67–22.24 로 전부 필터 밖. pLDDT 만 보면 16개가 다 '좋아 보인다'.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이것이 §6.3 에서 인용한 저자 문장 'The lack of an effective filter is the main limitation…' 의 실물이다. 4 designs 로는 필터 통과가 1개뿐 — 저자가 예상한 '10k 규모 캠페인'과 3~4 자릿수 차이다. 소수 설계의 순위는 약한 증거다.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runpod_logs/rfantibody/3_rf2.sc (헤더 1 + 16행 TSV) — 표 값은 이 파일을 직접 집계한 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실측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ESMFold2 inversion 설계 성공 — H100 · $3.29/hr · esm 3.4.0 공개 릴리스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구간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5087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실측값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50876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비고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43891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28016" cy="438912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19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MODEL_LOAD_SEC (최초 · HF 캐시 없음)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874519"/>
            <a:ext cx="2834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100.1 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874519"/>
            <a:ext cx="4023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가중치 최초 다운로드 포함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68296"/>
            <a:ext cx="1124712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68296"/>
            <a:ext cx="128016" cy="438912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368296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MODEL_LOAD_SEC (2차 · 캐시 존재)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368296"/>
            <a:ext cx="2834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29.3 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368296"/>
            <a:ext cx="4023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3.4배 단축 — 재실행 비용이 싸진다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62072"/>
            <a:ext cx="11247120" cy="43891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62072"/>
            <a:ext cx="128016" cy="43891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862072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DESIGN_SEC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862072"/>
            <a:ext cx="2834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191.3 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862072"/>
            <a:ext cx="4023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최적화 궤적 150 스텝 (TRAJ_LEN)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355848"/>
            <a:ext cx="1124712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355848"/>
            <a:ext cx="128016" cy="438912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355848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설계 루프 VRAM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355848"/>
            <a:ext cx="2834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peak_allocated 25.08 GiB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355848"/>
            <a:ext cx="4023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reserved 25.59 GiB · bs=1 · critics off</a:t>
            </a:r>
          </a:p>
        </p:txBody>
      </p:sp>
      <p:sp>
        <p:nvSpPr>
          <p:cNvPr id="29" name="Round Same Side Corner Rectangle 28"/>
          <p:cNvSpPr/>
          <p:nvPr/>
        </p:nvSpPr>
        <p:spPr>
          <a:xfrm>
            <a:off x="777240" y="402336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04164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설계 산출 — target pd-l1 · binder trastuzumab_framework_vhvl · is_antibody=True · seed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425696"/>
            <a:ext cx="10607040" cy="1060704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517136"/>
            <a:ext cx="102412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scFv 244 aa  =  VH 119  +  (GGGS)x4 링커 16  +  VL 109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CDR-H3      트라스투주맙 WGGDGFYAMDY   →   설계 SREDLTEHETD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프레임워크   EVQLVESGGGLVQPGGSLRLSCAAS… / …WGQGTLVTVSS   →   원본 그대로 유지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80644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815583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5815583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프레임워크 유지 · CDR 재설계가 '눈으로' 확인된다는 것이 이 실행의 검증 포인트다. 다만 이건 서열이지 결합 증거가 아니다 — wet-lab 데이터는 이번 실행에 없다.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runpod_logs/esmfold2_design_run.log · esmfold2_design_results.json · esm 3.4.0 (commit 827ec128, 2026-08-27) · torch 2.11.0+cu130 · Py3.12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실측 A 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같은 서열, 같은 loss — 채점자를 바꾸니 ipTM 이 0.52 도 되고 0.89 도 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critic (4종 모두 동일 서열 · final_loss 3.611 동일)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6002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ipTM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6002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distogram proxy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6002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CDR proxy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128016" cy="49377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029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ESMFold2-Experimental-Fast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965960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0.8938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965960"/>
            <a:ext cx="21031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0.8843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1965960"/>
            <a:ext cx="21945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0.8967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1460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128016" cy="493776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514600"/>
            <a:ext cx="5029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ESMFold2-Experimental-Fast-Cutoff2025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514600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0.8615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514600"/>
            <a:ext cx="21031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0.7119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514600"/>
            <a:ext cx="21945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0.7357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06323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063239"/>
            <a:ext cx="128016" cy="493776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063239"/>
            <a:ext cx="5029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ESMFold2-Experimental-Cutoff2025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063239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0.7879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063239"/>
            <a:ext cx="21031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0.6721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063239"/>
            <a:ext cx="21945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0.6781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61187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611879"/>
            <a:ext cx="128016" cy="4937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611879"/>
            <a:ext cx="5029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ESMFold2-Experimental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611879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0.5218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611879"/>
            <a:ext cx="21031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0.5927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3611879"/>
            <a:ext cx="21945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0.6125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434840"/>
            <a:ext cx="10607040" cy="914400"/>
          </a:xfrm>
          <a:prstGeom prst="roundRect">
            <a:avLst/>
          </a:prstGeom>
          <a:solidFill>
            <a:srgbClr val="F3F0F9"/>
          </a:solidFill>
          <a:ln w="2032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489703"/>
            <a:ext cx="100584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최고 0.8938  vs  최저 0.5218   →   동일 설계에 대해 폭 </a:t>
            </a:r>
            <a:r>
              <a:rPr sz="1700" b="1" i="0">
                <a:solidFill>
                  <a:srgbClr val="C0392B"/>
                </a:solidFill>
                <a:latin typeface="Malgun Gothic"/>
              </a:rPr>
              <a:t>0.37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"ipTM 0.89 를 얻었다" 는 문장은 어느 critic 인지 밝히지 않으면 무의미하다 — 하나만 골라 인용하면 그 자체가 cherry-picking.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57784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586983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5586983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Cutoff2025 계열은 2025년 컷오프 데이터로 학습된 별도 체크포인트다. 학습 데이터 누출 통제 여부가 점수 차이의 원인으로 보이지만 — 그 인과는 우리가 검증하지 않았다(가설). 검증 안 한 설명은 '가설'이라고 적는다.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runpod_logs/esmfold2_design_results.json (4 critic 전수) · use_scaling_critics=False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실측 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두 경로를 나란히 — 단, 점수는 합치지 않는다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19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417319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경로 A — ESMFold2 inversion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417319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경로 B — RFantibody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1247120" cy="37490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28016" cy="37490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210312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GPU · 단가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783080"/>
            <a:ext cx="448056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H100 · $3.29/hr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783080"/>
            <a:ext cx="443484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A40 · $0.44/hr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12848"/>
            <a:ext cx="11247120" cy="3749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212848"/>
            <a:ext cx="128016" cy="374904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12848"/>
            <a:ext cx="210312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타깃 / 바인더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212848"/>
            <a:ext cx="448056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PD-L1 (115 aa) / scFv 244 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212848"/>
            <a:ext cx="443484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인플루엔자 HA / 나노바디 VHH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42615"/>
            <a:ext cx="11247120" cy="37490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642615"/>
            <a:ext cx="128016" cy="374904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642615"/>
            <a:ext cx="210312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설계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642615"/>
            <a:ext cx="448056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191.3 초 (150 스텝, 1 서열)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642615"/>
            <a:ext cx="443484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13.28 분 (RFdiffusion 4) + MPNN + RF2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072384"/>
            <a:ext cx="11247120" cy="3749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072384"/>
            <a:ext cx="128016" cy="374904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072384"/>
            <a:ext cx="210312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산출 설계 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072384"/>
            <a:ext cx="448056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1 (batch_size=1)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072384"/>
            <a:ext cx="443484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16 (백본 4 × 서열 4)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02152"/>
            <a:ext cx="11247120" cy="37490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02152"/>
            <a:ext cx="128016" cy="374904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02152"/>
            <a:ext cx="210312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신뢰도 지표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502152"/>
            <a:ext cx="448056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ipTM — critic 4종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3502152"/>
            <a:ext cx="443484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RF2 interaction_pae / pae / pred_lddt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931920"/>
            <a:ext cx="11247120" cy="3749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931920"/>
            <a:ext cx="128016" cy="3749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931920"/>
            <a:ext cx="210312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필터를 실제로 걸어보니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3931920"/>
            <a:ext cx="448056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critic 편차 0.37 → 단일 임계값 설정 불가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931920"/>
            <a:ext cx="443484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interaction_pae&lt;10 → 1/16 (6.3%)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361688"/>
            <a:ext cx="11247120" cy="37490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361688"/>
            <a:ext cx="128016" cy="374904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361688"/>
            <a:ext cx="210312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필요했던 코드 수정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4361688"/>
            <a:ext cx="448056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4건 (인자 3 제거 + 속성 1) · 알고리즘 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4361688"/>
            <a:ext cx="443484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0건 — 공식 CLI 그대로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791456"/>
            <a:ext cx="11247120" cy="3749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791456"/>
            <a:ext cx="128016" cy="374904"/>
          </a:xfrm>
          <a:prstGeom prst="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791456"/>
            <a:ext cx="210312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결정론 확보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791456"/>
            <a:ext cx="448056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seed=0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4791456"/>
            <a:ext cx="443484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--deterministic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221224"/>
            <a:ext cx="11247120" cy="37490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5221224"/>
            <a:ext cx="128016" cy="374904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221224"/>
            <a:ext cx="210312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1" i="0">
                <a:solidFill>
                  <a:srgbClr val="1C242B"/>
                </a:solidFill>
                <a:latin typeface="Malgun Gothic"/>
              </a:rPr>
              <a:t>이번 실행 비용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0360" y="5221224"/>
            <a:ext cx="448056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H100 2회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5221224"/>
            <a:ext cx="443484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 i="0">
                <a:solidFill>
                  <a:srgbClr val="5A636B"/>
                </a:solidFill>
                <a:latin typeface="Malgun Gothic"/>
              </a:rPr>
              <a:t>A40 1회 — 합계 약 $5 · 종료 후 잔여 pod 0 확인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" y="5779008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5788152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48840" y="5788152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성능 비교가 아니다 — 타깃(HA vs PD-L1)도 포맷(VHH vs scFv)도 다르다. 그래서 compare_designs.py 는 아직 돌리지 않았다(동일 타깃 대조 입력 부재). 두 경로에서 공통으로 확인된 것은 하나뿐: 만드는 것보다 고르는 것이 어렵다.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실측 로그: 0905_agent/runpod_logs/ (2026-08-31~09-01 RunPod 실행) · HARNESS_REPORT.md §6.6–6.9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정정 ⚠️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이전 결론이 틀렸다 — ESMFold2 는 공개 릴리스에서 '실행 가능'했다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572768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91056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최초 실패 로그 — 여기서 '버전 스큐 → 실행 불가' 로 성급하게 결론지었다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75104"/>
            <a:ext cx="10607040" cy="80467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66543"/>
            <a:ext cx="10241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TypeError: EsmFold2ExperimentalModel.forward() got unexpected keyword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     argument(s) ['calculate_confidence', 'disto_cond', 'disto_cond_mask']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필요했던 조치 — 전부 4건, 알고리즘 수정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8346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근거 — 저장소를 끝까지 뒤져 확인한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28016" cy="603503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41148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9" b="1" i="0">
                <a:solidFill>
                  <a:srgbClr val="1C242B"/>
                </a:solidFill>
                <a:latin typeface="Malgun Gothic"/>
              </a:rPr>
              <a:t>① disto_cond / disto_cond_mask 인자 제거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200400"/>
            <a:ext cx="68580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9" b="0" i="0">
                <a:solidFill>
                  <a:srgbClr val="5A636B"/>
                </a:solidFill>
                <a:latin typeface="Malgun Gothic"/>
              </a:rPr>
              <a:t>저장소 자체 테스트(FAST_PATH_OMITS)가 'inference does not use' 라고 명시 · prepare_input 도 미지정 시 전부 0/False → 제거는 no-op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58768"/>
            <a:ext cx="11247120" cy="60350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58768"/>
            <a:ext cx="128016" cy="603503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58768"/>
            <a:ext cx="41148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9" b="1" i="0">
                <a:solidFill>
                  <a:srgbClr val="1C242B"/>
                </a:solidFill>
                <a:latin typeface="Malgun Gothic"/>
              </a:rPr>
              <a:t>② calculate_confidence 인자 제거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858768"/>
            <a:ext cx="68580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9" b="0" i="0">
                <a:solidFill>
                  <a:srgbClr val="5A636B"/>
                </a:solidFill>
                <a:latin typeface="Malgun Gothic"/>
              </a:rPr>
              <a:t>experimental.py forward 가 if self.confidence_head is not None: 로 자동 계산 → 인자만 빼면 값은 그대로 나온다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17136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17136"/>
            <a:ext cx="128016" cy="603503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17136"/>
            <a:ext cx="41148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9" b="1" i="0">
                <a:solidFill>
                  <a:srgbClr val="1C242B"/>
                </a:solidFill>
                <a:latin typeface="Malgun Gothic"/>
              </a:rPr>
              <a:t>③ model._esmc → model.esmc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517136"/>
            <a:ext cx="68580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9" b="0" i="0">
                <a:solidFill>
                  <a:srgbClr val="5A636B"/>
                </a:solidFill>
                <a:latin typeface="Malgun Gothic"/>
              </a:rPr>
              <a:t>공개 릴리스에서 속성 개명 (private → public)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75504"/>
            <a:ext cx="11247120" cy="60350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175504"/>
            <a:ext cx="128016" cy="603503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75504"/>
            <a:ext cx="41148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9" b="1" i="0">
                <a:solidFill>
                  <a:srgbClr val="1C242B"/>
                </a:solidFill>
                <a:latin typeface="Malgun Gothic"/>
              </a:rPr>
              <a:t>④ abnumber 설치 (+ hmmer, anarci)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5175504"/>
            <a:ext cx="68580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9" b="0" i="0">
                <a:solidFill>
                  <a:srgbClr val="5A636B"/>
                </a:solidFill>
                <a:latin typeface="Malgun Gothic"/>
              </a:rPr>
              <a:t>⭐ 실제 마지막 블로커. Modal 이미지는 micromamba 로 깔지만 uv/pip 경로엔 안 깔린다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9788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90702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90702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틀린 결론을 조용히 지우지 않고 '정정' 으로 남긴다 — 이전 판을 본 사람이 '왜 말이 바뀌었나' 를 추적할 수 있어야 한다. 무-날조 규약은 거짓말을 안 하는 것만이 아니라, 틀렸던 것을 틀렸다고 기록하는 것까지다.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antibody_harness/esmfold2_public_release_adapter.py (근거를 docstring 원문으로 보존) · runpod_logs/esmfold2_design.log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재현성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환경이 절반이었다 — 그리고 틀린 결론을 다루는 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0020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환경 교훈 (RunPod 실행에서 실제로 겪은 것)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40863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6771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esm 은 Python ≥ 3.12 를 요구한다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3.11 이하로는 설치 자체가 되지 않는다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94436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7121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venv 는 네트워크 FS 가 아니라 로컬 디스크에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/workspace 말고 /root/v312 — 설치 속도가 갈린다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54787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7472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modal 패키지는 로컬 실행에도 필요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Modal 을 안 써도 쿡북 모듈이 import 한다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15137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7822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커널 폴백 경고는 무효 사유가 아니다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xformers/flash-attn 없으면 순수 PyTorch — 로그가 'perplexity 는 rounding noise 내' 라고 명시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754880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68172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컨테이너 정의 파일이 1급 문서다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실제 의존성 목록은 README 가 아니라 Modal 이미지 정의에 있었다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600200"/>
            <a:ext cx="5166360" cy="41148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60020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64592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방법론 — 막혔을 때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340863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26771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'버전 스큐라 안 된다'는 저장소를 다 읽기 전엔 금지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답은 저장소의 자체 테스트 파일에 문장으로 적혀 있었다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294436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87121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에러가 가리키는 곳이 원인이 아닐 수 있다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TypeError 3개를 다 없앤 뒤 진짜 블로커는 의존성 하나였다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54787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47472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포크하지 말고 얇게 감싼다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fold_and_get_distogram 을 감싸는 shim 하나 · kwargs.pop 3줄이 전부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15137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07822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틀린 결론은 지우지 말고 정정으로 남긴다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'왜 말이 바뀌었나' 를 추적 가능하게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754880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68172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무-날조 = 빈칸 지키기 + 오류 고백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값이 생길 때까지 비워 두고, 틀렸으면 틀렸다고 적는다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강의 포인트: '되네/안 되네' 는 대부분 모델의 성질이 아니라 환경의 성질이다. 이 4건 + 5교훈이 A100/H100 노트북 실습에서 그대로 반복된다.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실측 로그: 0905_agent/runpod_logs/ (2026-08-31~09-01 RunPod 실행) · HARNESS_REPORT.md §6.6–6.9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4 · 검증 매트릭스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무엇을 확인했고 무엇을 확인하지 않았는가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13258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PDE5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325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항체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1247120" cy="31089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28016" cy="31089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1" i="0">
                <a:solidFill>
                  <a:srgbClr val="1C242B"/>
                </a:solidFill>
                <a:latin typeface="Malgun Gothic"/>
              </a:rPr>
              <a:t>환경 점검 (check)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691640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✅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69164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✅ PASS (CDR 자기검증 ok 포함)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57400"/>
            <a:ext cx="11247120" cy="3108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57400"/>
            <a:ext cx="128016" cy="31089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5740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1" i="0">
                <a:solidFill>
                  <a:srgbClr val="1C242B"/>
                </a:solidFill>
                <a:latin typeface="Malgun Gothic"/>
              </a:rPr>
              <a:t>파이프라인 게이트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057400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✅ 4/4 PASSED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✅ 5/5 PASSED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423160"/>
            <a:ext cx="11247120" cy="31089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423160"/>
            <a:ext cx="128016" cy="310896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42316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1" i="0">
                <a:solidFill>
                  <a:srgbClr val="1C242B"/>
                </a:solidFill>
                <a:latin typeface="Malgun Gothic"/>
              </a:rPr>
              <a:t>라이브 DB 조회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423160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△ UniProt ✅ / ChEMBL 폴백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42316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✅ UniProt + RCSB 실시간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788920"/>
            <a:ext cx="11247120" cy="3108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788920"/>
            <a:ext cx="128016" cy="31089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78892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1" i="0">
                <a:solidFill>
                  <a:srgbClr val="1C242B"/>
                </a:solidFill>
                <a:latin typeface="Malgun Gothic"/>
              </a:rPr>
              <a:t>핵심 실계산값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2788920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✅ MW·logP·TPSA·QED·SA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78892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✅ MW·pI·GRAVY·instability·identity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154680"/>
            <a:ext cx="11247120" cy="31089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154680"/>
            <a:ext cx="128016" cy="310896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15468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1" i="0">
                <a:solidFill>
                  <a:srgbClr val="1C242B"/>
                </a:solidFill>
                <a:latin typeface="Malgun Gothic"/>
              </a:rPr>
              <a:t>도메인 지식 근사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154680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15468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⚠️ CDR·liability·중경쇄 판별 전부 휴리스틱/규칙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520440"/>
            <a:ext cx="11247120" cy="3108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520440"/>
            <a:ext cx="128016" cy="31089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52044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1" i="0">
                <a:solidFill>
                  <a:srgbClr val="1C242B"/>
                </a:solidFill>
                <a:latin typeface="Malgun Gothic"/>
              </a:rPr>
              <a:t>네트워크 차단 시 무-날조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3520440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✅ 후보 0건 → passed:false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52044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✅ result:null / 캐시도 passed:false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886200"/>
            <a:ext cx="11247120" cy="31089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86200"/>
            <a:ext cx="128016" cy="31089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88620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1" i="0">
                <a:solidFill>
                  <a:srgbClr val="1C242B"/>
                </a:solidFill>
                <a:latin typeface="Malgun Gothic"/>
              </a:rPr>
              <a:t>설계(생성) 실제 실행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80" y="3886200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해당 없음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388620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✅ NEW 경로 A H100 · 경로 B A40 완주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251960"/>
            <a:ext cx="11247120" cy="3108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251960"/>
            <a:ext cx="128016" cy="31089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25196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1" i="0">
                <a:solidFill>
                  <a:srgbClr val="1C242B"/>
                </a:solidFill>
                <a:latin typeface="Malgun Gothic"/>
              </a:rPr>
              <a:t>설계 필터 실적용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83480" y="4251960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해당 없음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425196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✅ NEW ipae&lt;10 → 1/16 · critic 편차 0.37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4617720"/>
            <a:ext cx="11247120" cy="31089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4617720"/>
            <a:ext cx="128016" cy="31089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61772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1" i="0">
                <a:solidFill>
                  <a:srgbClr val="1C242B"/>
                </a:solidFill>
                <a:latin typeface="Malgun Gothic"/>
              </a:rPr>
              <a:t>도킹 / 시간·비용·VRAM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4617720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🟡 미실행 (smina 래퍼, 전제 미충족)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461772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✅ NEW 191.3초 · 13.28분 · 약 $5 · 25.08 GiB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983480"/>
            <a:ext cx="11247120" cy="3108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4983480"/>
            <a:ext cx="128016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498348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1" i="0">
                <a:solidFill>
                  <a:srgbClr val="1C242B"/>
                </a:solidFill>
                <a:latin typeface="Malgun Gothic"/>
              </a:rPr>
              <a:t>잔여 미검증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983480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🟡 도킹 스코어 · Docker 빌드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498348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🟡 동일 타깃 대조 · 평가 3종 적용 · wet-lab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5349240"/>
            <a:ext cx="11247120" cy="31089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5349240"/>
            <a:ext cx="128016" cy="310896"/>
          </a:xfrm>
          <a:prstGeom prst="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534924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1" i="0">
                <a:solidFill>
                  <a:srgbClr val="1C242B"/>
                </a:solidFill>
                <a:latin typeface="Malgun Gothic"/>
              </a:rPr>
              <a:t>외부 인용값 (실측 아님)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3480" y="5349240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78040" y="534924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 i="0">
                <a:solidFill>
                  <a:srgbClr val="5A636B"/>
                </a:solidFill>
                <a:latin typeface="Malgun Gothic"/>
              </a:rPr>
              <a:t>📄 hit rate 15–29%/36–88% · DockQ · 공식 VRAM 주석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1832" y="588873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588873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 표가 이 문서의 핵심이다. 2026-09-01 RunPod 실행으로 이전 미검증 16건 중 9건이 실측값으로 바뀌었고, 남은 항목만 🟡 로 유지했다 — 전체 목록은 HARNESS_REPORT.md §11.1(해소) / §11.2(잔여).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0905_agent/HARNESS_REPORT.md §7 검증 매트릭스 · §11.1 해소됨 · §11.2 여전히 미검증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4 · 무-날조 실물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실패를 실패라고 말하는 출력 — 실제로 재현한 2건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7830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① 후보 0건 (PDE5) — 빈 표도, 평균값도, '전형적 물성'도 만들지 않는다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85416"/>
            <a:ext cx="10607040" cy="1316736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76856"/>
            <a:ext cx="102412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$ python scripts/mol_properties.py</a:t>
            </a:r>
            <a:r>
              <a:rPr sz="1200">
                <a:solidFill>
                  <a:srgbClr val="7EC699"/>
                </a:solidFill>
                <a:latin typeface="Consolas"/>
              </a:rPr>
              <a:t>            # 입력 SMILES 없음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"result": [],  "verification": {"passed": </a:t>
            </a:r>
            <a:r>
              <a:rPr sz="1200">
                <a:solidFill>
                  <a:srgbClr val="59C2D6"/>
                </a:solidFill>
                <a:latin typeface="Consolas"/>
              </a:rPr>
              <a:t>false</a:t>
            </a:r>
            <a:r>
              <a:rPr sz="120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  "checks": [{"후보 존재": false}, {"값 sanity 범위 내": false}],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  "notes": "물성 계산 0건, 게이트 통과 0건"}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777240" y="365760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75887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② 네트워크 차단 (항체) — 서열을 지어내지 않는다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59936"/>
            <a:ext cx="10607040" cy="18288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51376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$ HTTPS_PROXY=http://127.0.0.1:9 python scripts/antigen_lookup.py P04626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"result": </a:t>
            </a:r>
            <a:r>
              <a:rPr sz="1150">
                <a:solidFill>
                  <a:srgbClr val="59C2D6"/>
                </a:solidFill>
                <a:latin typeface="Consolas"/>
              </a:rPr>
              <a:t>null</a:t>
            </a:r>
            <a:r>
              <a:rPr sz="1150">
                <a:solidFill>
                  <a:srgbClr val="E6EDF3"/>
                </a:solidFill>
                <a:latin typeface="Consolas"/>
              </a:rPr>
              <a:t>,  "provenance": {"source": "UniProt REST (FAILED)"},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"verification": {"passed": </a:t>
            </a:r>
            <a:r>
              <a:rPr sz="1150">
                <a:solidFill>
                  <a:srgbClr val="59C2D6"/>
                </a:solidFill>
                <a:latin typeface="Consolas"/>
              </a:rPr>
              <a:t>false</a:t>
            </a:r>
            <a:r>
              <a:rPr sz="1150">
                <a:solidFill>
                  <a:srgbClr val="E6EDF3"/>
                </a:solidFill>
                <a:latin typeface="Consolas"/>
              </a:rPr>
              <a:t>, "notes": "UniProt 조회 실패: 네트워크 오류 …"}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7EC699"/>
                </a:solidFill>
                <a:latin typeface="Consolas"/>
              </a:rPr>
              <a:t># antibody_search 는 1N8Z 실서열 캐시로 폴백하되 passed:false 를 유지한다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7EC699"/>
                </a:solidFill>
                <a:latin typeface="Consolas"/>
              </a:rPr>
              <a:t>#   → 캐시는 '값이 있음'이지 '게이트 통과'가 아니다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보너스 ③: design_esmfold2.py --dry-run 의 notes 원문 — "DRY-RUN — 설계를 수행하지 않았습니다. … 설계 서열/점수는 생성하지 않습니다(무-날조). GPU: CUDA 사용 불가"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실행 확인 2026-08-31 · HARNESS_REPORT.md §8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4 ·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정직하게 — 두 하네스가 하지 않는 것 / 못 하는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16636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69164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PDE5 (저분자)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3230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도킹은 실제 엔진이 아니다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PATH 의 smina/vina 래퍼. 전제 미충족 시 docking_executed:false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3580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정량 선택성 없음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PDE5 vs PDE6 정성 서술만 — fold-selectivity 는 병렬 어세이 필요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3931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오프라인 폴백이 게이트를 통과한다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source 로만 구분됨 — 개선 대상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4281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디스크립터가 버전에 의존한다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HBA 7(2026.03.4) vs 8(2024.03.5)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46320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임계값이 교육용 상수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QED≥0.5 · SA≤6.0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691640"/>
            <a:ext cx="516636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69164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항체 (바이오로직스)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43230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359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CDR 은 휴리스틱 근사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anarci/abnumber 없음 · 검증 2건뿐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03580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962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liability 는 규칙이지 예측이 아니다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정규식 모티프 플래그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63931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566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germline identity ≠ 면역원성 예측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서열 유사도 상관 지표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24281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169663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친화도(KD)·에피토프·발현 성공 예측 아님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ipTM·pAE 는 구조 신뢰도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846320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77316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설계는 돌았지만 결합 증거는 없다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GPU 실행 완료 — 그래도 wet-lab 데이터는 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80644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815583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5815583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공통 한계: LLM 은 여전히 환각한다. 이 하네스들이 줄이는 것은 '수치·식별자·서열의 날조'이지 '해석의 오류'가 아니다 — 보고서의 논증은 사람이 읽어야 한다. 그리고 모든 in silico 결과는 가설이고 wet-lab 이 유일한 판정자다.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pde5_harness/README.md · antibody_harness/CLAUDE.md '이 하네스가 하지 않는 것'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4 · 강의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강사 데모 트랙 / 수강생 무료 트랙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순서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3258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강사 데모 (Claude Code 유료 구독)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325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보여줄 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1247120" cy="38404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28016" cy="38404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691640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pde5_harness → run_harness.py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691640"/>
            <a:ext cx="4206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환경 PASS · ethanol MW=46.07 (실계산 증거)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30552"/>
            <a:ext cx="112471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30552"/>
            <a:ext cx="128016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30552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1305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scripts/mol_properties.py (인자 없이)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130552"/>
            <a:ext cx="4206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passed:false — 무-날조의 실물 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69464"/>
            <a:ext cx="11247120" cy="38404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569464"/>
            <a:ext cx="128016" cy="38404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569464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569464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claude → "CLAUDE.md 읽고 자율 실행해줘"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569464"/>
            <a:ext cx="4206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PLAN → 게이트 로그 → 보고서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008376"/>
            <a:ext cx="112471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008376"/>
            <a:ext cx="128016" cy="384048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008376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008376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antibody_harness → run_harness.py run P04626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008376"/>
            <a:ext cx="4206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같은 봉투·같은 게이트, 다른 도메인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447288"/>
            <a:ext cx="11247120" cy="38404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447288"/>
            <a:ext cx="128016" cy="384048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447288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3447288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run_harness.py design-check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447288"/>
            <a:ext cx="4206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sha256 대조 + 'CUDA 사용 불가' → 설계 미실행 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950208"/>
            <a:ext cx="5166360" cy="2240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640080" y="3950208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99592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무료 대안 — nb1_scientific_agent.ipynb</a:t>
            </a:r>
          </a:p>
        </p:txBody>
      </p:sp>
      <p:sp>
        <p:nvSpPr>
          <p:cNvPr id="37" name="Oval 36"/>
          <p:cNvSpPr/>
          <p:nvPr/>
        </p:nvSpPr>
        <p:spPr>
          <a:xfrm>
            <a:off x="896112" y="469087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461772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Colab 무료 런타임 · 0원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도구 5종 전부 실 API·실계산</a:t>
            </a:r>
          </a:p>
        </p:txBody>
      </p:sp>
      <p:sp>
        <p:nvSpPr>
          <p:cNvPr id="39" name="Oval 38"/>
          <p:cNvSpPr/>
          <p:nvPr/>
        </p:nvSpPr>
        <p:spPr>
          <a:xfrm>
            <a:off x="896112" y="529437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22122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Gemini 무료 티어 또는 무키 결정론 폴백</a:t>
            </a:r>
          </a:p>
        </p:txBody>
      </p:sp>
      <p:sp>
        <p:nvSpPr>
          <p:cNvPr id="41" name="Oval 40"/>
          <p:cNvSpPr/>
          <p:nvPr/>
        </p:nvSpPr>
        <p:spPr>
          <a:xfrm>
            <a:off x="896112" y="5897880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82472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에이전트 루프를 손으로 구현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3950208"/>
            <a:ext cx="5166360" cy="2240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6355080" y="3950208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99592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배우는 개념은 동일하다</a:t>
            </a:r>
          </a:p>
        </p:txBody>
      </p:sp>
      <p:sp>
        <p:nvSpPr>
          <p:cNvPr id="46" name="Oval 45"/>
          <p:cNvSpPr/>
          <p:nvPr/>
        </p:nvSpPr>
        <p:spPr>
          <a:xfrm>
            <a:off x="6611112" y="469087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12280" y="461772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도구 등록 · 표준 반환 · 재시도 · 검증(gate)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출처 기록(provenance)까지 동일</a:t>
            </a:r>
          </a:p>
        </p:txBody>
      </p:sp>
      <p:sp>
        <p:nvSpPr>
          <p:cNvPr id="48" name="Oval 47"/>
          <p:cNvSpPr/>
          <p:nvPr/>
        </p:nvSpPr>
        <p:spPr>
          <a:xfrm>
            <a:off x="6611112" y="529437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2280" y="522122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정직하게: 무키 폴백은 진짜 LLM 추론이 아님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단, 도구가 부르는 API 응답은 real</a:t>
            </a:r>
          </a:p>
        </p:txBody>
      </p:sp>
      <p:sp>
        <p:nvSpPr>
          <p:cNvPr id="50" name="Oval 49"/>
          <p:cNvSpPr/>
          <p:nvPr/>
        </p:nvSpPr>
        <p:spPr>
          <a:xfrm>
            <a:off x="6611112" y="5897880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12280" y="582472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하네스는 그 루프를 에이전트에게 맡긴 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0905_agent/README.md '무료로 실습하는 법(0원)' · notebooks/nb1_scientific_agent.ipynb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두 하네스에서 가져갈 다섯 가지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64208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계약은 도메인을 넘는다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{result, provenance, verification} 하나로 RDKit 파이프라인과 BioPython 파이프라인이 같은 모양이 된다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87168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871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6888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게이트는 문서와 코드 양쪽에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CLAUDE.md 통과 조건 표 + verify.py 의 all(checks) — PDE5 4/4 · 항체 5/5 실측 PASSED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310128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101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9184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규칙은 사고가 난 자리에서 자란다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저분자 5조 → 항체 12조. 늘어난 7조는 서열·API·GPU·근사·지표 창작을 막는 조항이다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133088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330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14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모르는 것을 모른다고 하는 것이 기능이다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후보 0건 → passed:false · 네트워크 차단 → result:null · GPU 없을 땐 dry-run 만 → 생기니 실측으로 채움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956048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560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93776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빈칸 지키기와 오류 고백은 같은 규약이다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미검증 9건을 실측으로 채웠고, 그 과정에서 'ESMFold2 실행 불가'라는 이전 결론이 틀렸음을 정정했다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89788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91616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91616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한 줄 요약: 하네스는 '에이전트를 똑똑하게 만드는 장치'가 아니라 '에이전트가 거짓말할 자리를 없애는 장치'다.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0905_agent/HARNESS_REPORT.md · pde5_harness/ · antibody_harness/ (CPU 2026-08-31 · GPU 2026-09-01 실행 확인)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(하네스 비교)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19" b="0" i="0">
                <a:solidFill>
                  <a:srgbClr val="1C242B"/>
                </a:solidFill>
                <a:latin typeface="Malgun Gothic"/>
              </a:rPr>
              <a:t>• 하네스 원본: 0905_agent/pde5_harness/ · 0905_agent/antibody_harness/ (CLAUDE.md · README.md · RUNPOD_가이드.md · scripts/ · outputs/).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19" b="0" i="0">
                <a:solidFill>
                  <a:srgbClr val="1C242B"/>
                </a:solidFill>
                <a:latin typeface="Malgun Gothic"/>
              </a:rPr>
              <a:t>• 실측 종합: 0905_agent/HARNESS_REPORT.md — 2026-08-31(UTC) 실행. Python 3.12.3 · RDKit 2026.03.4 · BioPython 1.88 (교차검증: Py3.8.6 · RDKit 2024.03.5).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51176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19" b="0" i="0">
                <a:solidFill>
                  <a:srgbClr val="1C242B"/>
                </a:solidFill>
                <a:latin typeface="Malgun Gothic"/>
              </a:rPr>
              <a:t>• PDE5: UniProt O76074 · ChEMBL CHEMBL1827 · CHEMBL192/779/1520; Boolell 1996 Int J Impot Res 8(2):47-52; Ghofrani 2006 Nat Rev Drug Discov 5(8):689-702 (doi:10.1038/nrd2030).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8104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19" b="0" i="0">
                <a:solidFill>
                  <a:srgbClr val="1C242B"/>
                </a:solidFill>
                <a:latin typeface="Malgun Gothic"/>
              </a:rPr>
              <a:t>• 항체: UniProt P04626 (ERBB2_HUMAN, 1255 aa, ECD 23–652); RCSB PDB 1N8Z · 1S78 · 3BE1 · 3H3B · 3N85 · 3WLW; BioPython ProtParam·PairwiseAligner(BLOSUM62); instability index 기준 Guruprasad 1990.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85032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19" b="0" i="0">
                <a:solidFill>
                  <a:srgbClr val="1C242B"/>
                </a:solidFill>
                <a:latin typeface="Malgun Gothic"/>
              </a:rPr>
              <a:t>• 설계 경로 A: github.com/Biohub/esm (MIT) · cookbook/tutorials/binder_design.py · commit 827ec128e4cdaf80f7d6f95fb367a08980b34918 · biorxiv 10.64898/2026.06.03.729735.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19" b="0" i="0">
                <a:solidFill>
                  <a:srgbClr val="1C242B"/>
                </a:solidFill>
                <a:latin typeface="Malgun Gothic"/>
              </a:rPr>
              <a:t>• 설계 경로 B: github.com/RosettaCommons/RFantibody (MIT) · biorxiv 2024.03.14.585103v1 · 저자 한계 인용문 및 권장 필터(pAE&lt;10 · RMSD&lt;2Å · ddG&lt;-20)는 공식 문서 원문.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18888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19" b="0" i="0">
                <a:solidFill>
                  <a:srgbClr val="1C242B"/>
                </a:solidFill>
                <a:latin typeface="Malgun Gothic"/>
              </a:rPr>
              <a:t>• 2026 지형·2차 소스: 0905_agent/2026_landscape.md (ESMFold2 FoldBench DockQ 등은 '확인 권장(2026.9)' 표기 항목).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85816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19" b="0" i="0">
                <a:solidFill>
                  <a:srgbClr val="1C242B"/>
                </a:solidFill>
                <a:latin typeface="Malgun Gothic"/>
              </a:rPr>
              <a:t>• GPU 실측 원본 로그 (2026-08-31~09-01 RunPod): 0905_agent/runpod_logs/ — rfantibody/rfab.log(2733줄) · rfantibody/3_rf2.sc(16행 TSV) · esmfold2_design_run.log · esmfold2_design_results.json · esmfold2_design.log(최초 실패 TypeError). 경로 B A40 $0.44/hr · 경로 A H100 $3.29/hr · 총 약 $5 · 종료 후 잔여 pod 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52744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19" b="0" i="0">
                <a:solidFill>
                  <a:srgbClr val="1C242B"/>
                </a:solidFill>
                <a:latin typeface="Malgun Gothic"/>
              </a:rPr>
              <a:t>• 공개 릴리스 호환 어댑터: antibody_harness/esmfold2_public_release_adapter.py — 인자 3개 제거 + 속성명 1개 + abnumber 설치. 근거(FAST_PATH_OMITS · confidence_head 자동계산)는 docstring 원문 보존. 알고리즘 수정 없음.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9672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19" b="0" i="0">
                <a:solidFill>
                  <a:srgbClr val="1C242B"/>
                </a:solidFill>
                <a:latin typeface="Malgun Gothic"/>
              </a:rPr>
              <a:t>• 결합 구조 그림: PDB 1UDT (PDE5A + 실데나필) · PDB 1N8Z (HER2 + 트라스투주맙 Fab). PyMOL open-source 로 실제 PDB 에서 렌더, 접촉 잔기는 4.5 Å 기준 실계산. 원본: 0905_agent/figures/.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70866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19" b="0" i="0">
                <a:solidFill>
                  <a:srgbClr val="1C242B"/>
                </a:solidFill>
                <a:latin typeface="Malgun Gothic"/>
              </a:rPr>
              <a:t>• * 무-날조 원칙: 이 덱의 실측값은 전부 직접 실행해 확인한 값이다. 남은 미검증(동일 타깃 대조 · 설계 서열 평가 3종 · wet-lab)은 그대로 '미검증' 으로 표기했고, 이전 판의 오판('ESMFold2 실행 불가')은 삭제하지 않고 정정 슬라이드로 남겼다.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