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32720" cy="54864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언어모델과 에이전트 — 실습 가이드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화학·단백질 언어모델 · RAG · LLM 에이전트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EDF1"/>
                </a:solidFill>
                <a:latin typeface="Malgun Gothic"/>
              </a:rPr>
              <a:t>재직자 3과정 · 6일차(9/5) · 프로젝트(실습) 4H · 강사 박혜진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GitHub fourmodern/2026_aidrugdiscovery → Google Colab · 6개 절 (MolT5 · ESM-2/ESM-3 · RAG · Co-Scientist · PDE5 하네스)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9CD8"/>
                </a:solidFill>
                <a:latin typeface="Malgun Gothic"/>
              </a:rPr>
              <a:t>※ 결과물은 모두 '가설'이며, 실제 검증(합성·효소 어세이·실험)은 별도임을 유의한다.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과정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학습 목표 — 오늘 실습이 끝나면 할 수 있는 것 6가지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55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655064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화학 언어모델(MolT5)로 텍스트→SMILES, SMILES→텍스트 양방향 변환을 수행한다.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1401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313432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단백질 언어모델 ESM-2(masked LM)로 표적 결합 펩타이드를 생성하고 in silico 방향진화로 최적화한다.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723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971800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생성형 단백질 언어모델 ESM-3으로 서열 채우기(inpainting)와 구조 예측을 수행한다.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307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630168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RAG(검색-증강 생성) 파이프라인(문서 분할→임베딩→검색→LLM 생성)을 처음부터 구축한다.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3891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288536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다중 에이전트 Co-Scientist(LangGraph)로 표적 후보를 자동 평가·순위화한다.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047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4946903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무-날조·단계별 검증 게이트를 갖춘 에이전트 하네스의 설치·운영 원리를 이해한다.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과정 개요: LLM 개념을 신약개발 도메인에 직접 적용 — 분자↔텍스트 변환, 결합 펩타이드 설계·최적화, 문서 근거 기반 답변 생성, 그리고 여러 에이전트를 조합한 Co-Scientist·PDE5 저해제 탐색 하네스.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2) 학습 목표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실습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실습 환경 한눈에 — GitHub → Google Colab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저장소 · 노트북 열기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GitHub: fourmodern/2026_aidrugdiscovery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폴더: Day06_LLM_Agent/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Colab URL 패턴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colab.research.google.com/github/fourmodern/
2026_aidrugdiscovery/blob/main/Day06_LLM_Agent/&lt;파일&gt;.ipynb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런타임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[런타임] &gt; [런타임 유형 변경] &gt; GPU(T4) 권장 (ESM/RAG 가속)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6절 하네스는 Claude Code 로 폴더 열기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설치는 함께, 탐색·보고서 실행은 강사 데모(B 방식)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필요 API 키 (해당 실습에서만)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Google Gemini API — 5절 Co-Scientist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Google AI Studio 발급: aistudio.google.com/app/apikey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Hugging Face 로그인/동의 — 4절 RAG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google/gemma-2b-it 등 gated 모델 라이선스 동의 필요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키는 노트북에 저장 금지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실행 중 getpass 로 런타임마다 입력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참조사이트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github.com/fourmodern/2026_aidrugdiscovery · colab.research.google.com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70448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79592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879592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결과물은 모두 '가설' — 생성 분자·펩타이드·구조·표적 점수는 실험(합성·결합·어세이·구조)으로 별도 검증해야 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3) 실습 환경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6개 절 로드맵 — 절 / 주제 / 노트북 / 핵심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19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19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417319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노트북 / 폴더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41731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 도구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83080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83080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실습 환경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83080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(공통)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783080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GitHub, Colab,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04872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404872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04872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화학 언어모델 MolT5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04872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t042_molt5.ipynb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404872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transformers, RDKit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26664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26664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26664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단백질 LM ESM-2 / ESM-3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26664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t110_esm2… , t111_esm3…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26664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transformers, esm, evo_prot_grad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48456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648456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648456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LLM 활용 &amp; 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648456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t050_simple-local-rag.ipynb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648456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sentence-transformers, Gemma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70248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270248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270248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LLM 에이전트 Co-Scientist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27024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T004_nsclc_llm_coscientist.ipynb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270248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LangGraph, Gemini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892040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892040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892040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[데모] PDE5 에이전트 하네스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892040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pde5_harness/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892040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Claude Code, RDKit, ChEMBL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1절은 공통 준비, 2~5절은 Colab 노트북 hands-on, 6절은 Claude Code 하네스(설치 함께 + 강사 시연). 각 절은 독립 실행 가능하다.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절 구성표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실습 환경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GitHub → Google Colab · 런타임(GPU) · API 키 준비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GitHub → Colab 구축 가이드 (5단계)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475488" cy="47548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0784"/>
            <a:ext cx="100584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저장소 열기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GitHub 에서 저장소를 확인하고 Day06_LLM_Agent 폴더의 노트북 목록을 본다.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75488" cy="47548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05456"/>
            <a:ext cx="100584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Colab 으로 노트북 열기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노트북 상단의 'Open In Colab' 배지를 클릭하거나, Colab URL 패턴에 파일명을 넣어 접속한다.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346704"/>
            <a:ext cx="475488" cy="47548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4670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10128"/>
            <a:ext cx="100584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런타임(GPU) 설정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[런타임] &gt; [런타임 유형 변경] &gt; 하드웨어 가속기 = T4 GPU &gt; 저장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151376"/>
            <a:ext cx="475488" cy="47548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5137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14800"/>
            <a:ext cx="100584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셀 실행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각 코드 셀을 위에서 아래로 순서대로 실행한다(Shift+Enter). 첫 셀은 대개 라이브러리 설치이다.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56048"/>
            <a:ext cx="475488" cy="47548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5604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19472"/>
            <a:ext cx="100584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API 키 입력 (해당 실습만)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Co-Scientist 는 실행 중 Gemini API 키를 입력받는다. 키는 노트북에 저장하지 말고 런타임마다 입력한다.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실습사이트(Colab 배지 URL)는 각 절 노트북마다 파일명만 교체 — t042_molt5 / t110_esm2_peptide_optimization_tutorial / t111_esm3_protein_design / t050_simple-local-rag / T004_nsclc_llm_coscientist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1절 Step-by-Step 구축 가이드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[1-1] Colab에서 GitHub 최신본 열기 · [1-2] GPU 확인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002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[1-1] Colab 에서 노트북 GitHub 최신본으로 열기(URL 직접 접속)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02536"/>
            <a:ext cx="10607040" cy="83896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93976"/>
            <a:ext cx="10241280" cy="747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브라우저 주소창에 아래 형식으로 접속하면 GitHub 의 최신 노트북이 Colab 으로 열립니다.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https://colab.research.google.com/github/fourmodern/2026_aidrugdiscovery/blob/main/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Day06_LLM_Agent/t042_molt5.ipynb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3115818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34106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[1-2] GPU 사용 여부 확인(첫 셀 실행 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18153"/>
            <a:ext cx="10607040" cy="83896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09594"/>
            <a:ext cx="10241280" cy="747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torch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print('CUDA 사용 가능:', torch.cuda.is_available())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print('장치:', torch.cuda.get_device_name(0) if torch.cuda.is_available() else 'CPU')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247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예상 출력 : CUDA 사용 가능: True / 장치: Tesla T4 (GPU 런타임일 때). CPU 런타임이면 False 로 출력된다.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[1-1], [1-2]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화학 언어모델 — MolT5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분자 ↔ 텍스트 양방향 변환 · t042_molt5.ipynb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MolT5 실습 개요 — 3가지 양방향 변환 과제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475488" cy="47548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55064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텍스트 설명 → SMILES 생성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자연어 분자 설명을 넣어 SMILES 를 생성하고 RDKit 으로 시각화 (셀 3~5)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60320"/>
            <a:ext cx="475488" cy="47548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23744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SMILES → 텍스트 설명 생성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방향을 반대로 하여 smiles2caption 모델로 SMILES 를 자연어 설명으로 변환 (셀 7)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29000"/>
            <a:ext cx="475488" cy="47548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92424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설명 변형 → 유사 구조 생성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설명에 구조 변형 문장을 덧붙여 변형 분자를 생성하고 원본과 나란히 시각화 (셀 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10607040" cy="1234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6A4C93"/>
                </a:solidFill>
                <a:latin typeface="Malgun Gothic"/>
              </a:rPr>
              <a:t>참조 모델 (Hugging Face)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laituan245/molt5-large-caption2smiles  (텍스트→SMILES)      ·      laituan245/molt5-large-smiles2caption  (SMILES→텍스트)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MolT5 = T5(Text-To-Text Transfer Transformer) 기반 분자 언어모델 — 분자 설명과 SMILES 등 표현 사이의 매핑을 학습. 예시 분자는 PDE5 저해제 sildenafil(비아그라).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8247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8247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실습사이트(Colab) : …/blob/main/Day06_LLM_Agent/t042_molt5.ipynb   ·   실습 진행: Colab 배지 → GPU(T4) 런타임 → 셀 순차 실행(Shift+Enter)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2절 실습 개요·실습 사이트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[2-1] 라이브러리 설치 · [2-2] 임포트 (셀 1~2)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916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[2-1] 라이브러리 설치 (셀 1) — transformers 와 RDKit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93976"/>
            <a:ext cx="10607040" cy="45796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85416"/>
            <a:ext cx="10241280" cy="36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!pip install -q transformers rdkit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2871978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90266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[2-2] 임포트 (셀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74314"/>
            <a:ext cx="10607040" cy="126568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65754"/>
            <a:ext cx="10241280" cy="117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from</a:t>
            </a:r>
            <a:r>
              <a:rPr sz="1200">
                <a:solidFill>
                  <a:srgbClr val="E6EDF3"/>
                </a:solidFill>
                <a:latin typeface="Consolas"/>
              </a:rPr>
              <a:t> transformers </a:t>
            </a:r>
            <a:r>
              <a:rPr sz="1200">
                <a:solidFill>
                  <a:srgbClr val="59C2D6"/>
                </a:solidFill>
                <a:latin typeface="Consolas"/>
              </a:rPr>
              <a:t>import</a:t>
            </a:r>
            <a:r>
              <a:rPr sz="1200">
                <a:solidFill>
                  <a:srgbClr val="E6EDF3"/>
                </a:solidFill>
                <a:latin typeface="Consolas"/>
              </a:rPr>
              <a:t> T5Tokenizer, T5ForConditionalGeneration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from</a:t>
            </a:r>
            <a:r>
              <a:rPr sz="1200">
                <a:solidFill>
                  <a:srgbClr val="E6EDF3"/>
                </a:solidFill>
                <a:latin typeface="Consolas"/>
              </a:rPr>
              <a:t> rdkit.Chem </a:t>
            </a:r>
            <a:r>
              <a:rPr sz="1200">
                <a:solidFill>
                  <a:srgbClr val="59C2D6"/>
                </a:solidFill>
                <a:latin typeface="Consolas"/>
              </a:rPr>
              <a:t>import</a:t>
            </a:r>
            <a:r>
              <a:rPr sz="1200">
                <a:solidFill>
                  <a:srgbClr val="E6EDF3"/>
                </a:solidFill>
                <a:latin typeface="Consolas"/>
              </a:rPr>
              <a:t> Draw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from</a:t>
            </a:r>
            <a:r>
              <a:rPr sz="1200">
                <a:solidFill>
                  <a:srgbClr val="E6EDF3"/>
                </a:solidFill>
                <a:latin typeface="Consolas"/>
              </a:rPr>
              <a:t> rdkit </a:t>
            </a:r>
            <a:r>
              <a:rPr sz="1200">
                <a:solidFill>
                  <a:srgbClr val="59C2D6"/>
                </a:solidFill>
                <a:latin typeface="Consolas"/>
              </a:rPr>
              <a:t>import</a:t>
            </a:r>
            <a:r>
              <a:rPr sz="1200">
                <a:solidFill>
                  <a:srgbClr val="E6EDF3"/>
                </a:solidFill>
                <a:latin typeface="Consolas"/>
              </a:rPr>
              <a:t> Chem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import</a:t>
            </a:r>
            <a:r>
              <a:rPr sz="1200">
                <a:solidFill>
                  <a:srgbClr val="E6EDF3"/>
                </a:solidFill>
                <a:latin typeface="Consolas"/>
              </a:rPr>
              <a:t> pandas </a:t>
            </a:r>
            <a:r>
              <a:rPr sz="1200">
                <a:solidFill>
                  <a:srgbClr val="59C2D6"/>
                </a:solidFill>
                <a:latin typeface="Consolas"/>
              </a:rPr>
              <a:t>as</a:t>
            </a:r>
            <a:r>
              <a:rPr sz="1200">
                <a:solidFill>
                  <a:srgbClr val="E6EDF3"/>
                </a:solidFill>
                <a:latin typeface="Consolas"/>
              </a:rPr>
              <a:t> pd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from</a:t>
            </a:r>
            <a:r>
              <a:rPr sz="1200">
                <a:solidFill>
                  <a:srgbClr val="E6EDF3"/>
                </a:solidFill>
                <a:latin typeface="Consolas"/>
              </a:rPr>
              <a:t> IPython.display </a:t>
            </a:r>
            <a:r>
              <a:rPr sz="1200">
                <a:solidFill>
                  <a:srgbClr val="59C2D6"/>
                </a:solidFill>
                <a:latin typeface="Consolas"/>
              </a:rPr>
              <a:t>import</a:t>
            </a:r>
            <a:r>
              <a:rPr sz="1200">
                <a:solidFill>
                  <a:srgbClr val="E6EDF3"/>
                </a:solidFill>
                <a:latin typeface="Consolas"/>
              </a:rPr>
              <a:t> display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셀 1은 설치, 셀 2는 임포트 — Colab 런타임을 새로 잡을 때마다 두 셀을 먼저 실행한다.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[2-1], [2-2]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[2-3] caption2smiles 로드 · [2-4] 설명 → SMILES (셀 3~4)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481328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9616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[2-3] MolT5 (caption2smiles) 로드 (셀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83664"/>
            <a:ext cx="10607040" cy="100279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241280" cy="91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tokenizer = T5Tokenizer.from_pretrained(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"laituan245/molt5-large-caption2smiles", model_max_length=512)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model = T5ForConditionalGeneration.from_pretrained(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"laituan245/molt5-large-caption2smiles")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3105912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2420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[2-4] 설명 → SMILES 생성 (PDE5 저해제 sildenafil 예시, 셀 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08248"/>
            <a:ext cx="10607040" cy="2309621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99688"/>
            <a:ext cx="10241280" cy="22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input_text = ('The molecule is sildenafil, a selective phosphodiesterase '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'type 5 (PDE5) inhibitor used to treat erectile dysfunction '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'and pulmonary arterial hypertension.')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inputs = tokenizer.encode(input_text, return_tensors='pt')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output_ids = model.generate(inputs, max_length=512)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smiles = tokenizer.decode(output_ids[0], skip_special_tokens=True)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print('생성된 SMILES:', smiles)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mol = Chem.MolFromSmiles(smiles)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if</a:t>
            </a:r>
            <a:r>
              <a:rPr sz="1100">
                <a:solidFill>
                  <a:srgbClr val="E6EDF3"/>
                </a:solidFill>
                <a:latin typeface="Consolas"/>
              </a:rPr>
              <a:t> mol: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display(Draw.MolToImage(mol, size=(300, 300)))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72733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8187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예상 출력 : 설명에 대응하는 SMILES 문자열과 2D 분자 이미지. (생성 결과는 실행마다 다를 수 있음 — 확인 권장)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[2-3], [2-4]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[2-5] SMILES → 설명 생성 (셀 7) + 셀 5·8 정리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481328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9616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[2-5] SMILES → 설명 생성 (sildenafil SMILES 입력)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83664"/>
            <a:ext cx="10607040" cy="2309621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241280" cy="22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tokenizer_caption = T5Tokenizer.from_pretrained(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"laituan245/molt5-large-smiles2caption", model_max_length=512)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model_caption = T5ForConditionalGeneration.from_pretrained(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"laituan245/molt5-large-smiles2caption")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7EC699"/>
                </a:solidFill>
                <a:latin typeface="Consolas"/>
              </a:rPr>
              <a:t># sildenafil(비아그라)의 SMILES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smiles_example = "CCCc1nn(C)c2c1nc([nH]c2=O)-c1cc(ccc1OCC)S(=O)(=O)N1CCN(C)CC1"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inputs = tokenizer_caption.encode(smiles_example, return_tensors='pt')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output_ids = model_caption.generate(inputs, max_length=512)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print('생성된 설명:', tokenizer_caption.decode(output_ids[0],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       skip_special_tokens=True))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A4C93"/>
                </a:solidFill>
                <a:latin typeface="Malgun Gothic"/>
              </a:rPr>
              <a:t>▷ 여러 설명 일괄 처리 (셀 5) : </a:t>
            </a:r>
            <a:r>
              <a:rPr sz="1100" b="0" i="0">
                <a:solidFill>
                  <a:srgbClr val="1C242B"/>
                </a:solidFill>
                <a:latin typeface="Malgun Gothic"/>
              </a:rPr>
              <a:t>여러 설명을 DataFrame 으로 만들어 각각 SMILES 를 생성한다(반복 generate).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A4C93"/>
                </a:solidFill>
                <a:latin typeface="Malgun Gothic"/>
              </a:rPr>
              <a:t>▷ 설명 변형 → 유사 구조 (셀 8) : </a:t>
            </a:r>
            <a:r>
              <a:rPr sz="1100" b="0" i="0">
                <a:solidFill>
                  <a:srgbClr val="1C242B"/>
                </a:solidFill>
                <a:latin typeface="Malgun Gothic"/>
              </a:rPr>
              <a:t>SMILES 에서 얻은 설명에 구조 변형 문장(예: 피페라진 N-메틸기를 에틸기로 치환)을 덧붙인 뒤 다시 caption2smiles 로 변형 분자를 생성하고, 원본과 나란히 시각화한다.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정리 : MolT5 는 텍스트와 분자 표현을 오가며 반응 예측·물성 추정 등 화학정보학 작업에 활용할 수 있다. 생성된 구조는 유효성(RDKit 파싱)과 화학적 타당성을 반드시 검토해야 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[2-5], 셀 5·8, 2절 정리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단백질 언어모델 — ESM-2 / ESM-3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결합 펩타이드 생성·방향진화 · 서열 채우기·구조 예측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ESM-2 vs ESM-3 — 무엇이 다른가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1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17319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ESM-2 (t110)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417319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ESM-3 (t111)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성격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83080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masked language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4480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생성형 멀티모달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04872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04872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다루는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04872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서열만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04872"/>
            <a:ext cx="4480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서열 + 구조 + 기능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26664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026664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사용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026664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EsmForMaskedLM 로짓 스코어링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026664"/>
            <a:ext cx="4480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model.generate() 반복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48456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648456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구조 예측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648456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불가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48456"/>
            <a:ext cx="4480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가능 (좌표 + pTM/pLDDT)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480560"/>
            <a:ext cx="10607040" cy="1188720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57200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B2A4A"/>
                </a:solidFill>
                <a:latin typeface="Malgun Gothic"/>
              </a:rPr>
              <a:t>예시 표적 : PDE5A (phosphodiesterase type 5A; UniProt O76074, 875 aa)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PDE5 저해제(sildenafil, tadalafil)의 표적 — 2절 MolT5 예시 분자, 6절 하네스 표적과 동일하다.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과제 (3-1) ESM-2 기반 masked LM(PepMLM)으로 표적 결합 펩타이드 생성 + EvoProtGrad in silico 방향진화(최적화). (3-2) 생성형 멀티모달 ESM-3 로 서열 채우기(inpainting)와 구조 예측.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3절 실습 개요 비교표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실습 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노트북 · 참조 모델 · (3-1) ESM-2 진행 순서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0233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실습사이트 · 참조 모델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…/Day06_LLM_Agent/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t110_esm2_peptide_optimization_tutorial.ipynb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…/Day06_LLM_Agent/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t111_esm3_protein_design.ipynb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ChatterjeeLab/PepMLM-650M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ESM-2 계열 masked LM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facebook/esm2_t6_8M_UR50D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EvoProtGrad 전문가(expert) 모델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4632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EvolutionaryScale/esm3-sm-open-v1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생성형 멀티모달 (1.4B)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5166360" cy="40233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(3-1) ESM-2 펩타이드 생성·최적화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셀 1 설치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transformers 만 설치 (PyPI 'esm' 은 ESM-3, 여기선 불필요)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셀 2 모델 로드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PepMLM-650M + tokenizer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셀 3 표적 서열 준비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PDE5A(O76074) 아미노산 서열 토큰화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셀 4~6 펩타이드 생성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&lt;mask&gt; 이어붙여 top-k 샘플링 → PPL 순위화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셀 7~8 in silico 방향진화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EvoProtGrad — 표적 보존, 펩타이드만 변이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torch 는 Colab 기본 제공 — 3-1 은 transformers 만 설치하면 된다. 3-2(ESM-3)는 별도 설치 절차가 있으니 노트북을 분리해 실행한다.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3절 실습 사이트·참조 모델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[3-1] 설치 · [3-2] PepMLM 로드 · [3-3] 표적 서열 (셀 1~3)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4630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[3-1] 설치 (셀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65376"/>
            <a:ext cx="10607040" cy="44272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10241280" cy="351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!pip install -q transformers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2490978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09266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[3-2] PepMLM(ESM-2 계열) 로드 (셀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3314"/>
            <a:ext cx="10607040" cy="137617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84754"/>
            <a:ext cx="10241280" cy="128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from</a:t>
            </a:r>
            <a:r>
              <a:rPr sz="1100">
                <a:solidFill>
                  <a:srgbClr val="E6EDF3"/>
                </a:solidFill>
                <a:latin typeface="Consolas"/>
              </a:rPr>
              <a:t> transformers </a:t>
            </a:r>
            <a:r>
              <a:rPr sz="1100">
                <a:solidFill>
                  <a:srgbClr val="59C2D6"/>
                </a:solidFill>
                <a:latin typeface="Consolas"/>
              </a:rPr>
              <a:t>import</a:t>
            </a:r>
            <a:r>
              <a:rPr sz="1100">
                <a:solidFill>
                  <a:srgbClr val="E6EDF3"/>
                </a:solidFill>
                <a:latin typeface="Consolas"/>
              </a:rPr>
              <a:t> AutoTokenizer, AutoModelForMaskedLM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import</a:t>
            </a:r>
            <a:r>
              <a:rPr sz="1100">
                <a:solidFill>
                  <a:srgbClr val="E6EDF3"/>
                </a:solidFill>
                <a:latin typeface="Consolas"/>
              </a:rPr>
              <a:t> torch, pandas </a:t>
            </a:r>
            <a:r>
              <a:rPr sz="1100">
                <a:solidFill>
                  <a:srgbClr val="59C2D6"/>
                </a:solidFill>
                <a:latin typeface="Consolas"/>
              </a:rPr>
              <a:t>as</a:t>
            </a:r>
            <a:r>
              <a:rPr sz="1100">
                <a:solidFill>
                  <a:srgbClr val="E6EDF3"/>
                </a:solidFill>
                <a:latin typeface="Consolas"/>
              </a:rPr>
              <a:t> pd, numpy </a:t>
            </a:r>
            <a:r>
              <a:rPr sz="1100">
                <a:solidFill>
                  <a:srgbClr val="59C2D6"/>
                </a:solidFill>
                <a:latin typeface="Consolas"/>
              </a:rPr>
              <a:t>as</a:t>
            </a:r>
            <a:r>
              <a:rPr sz="1100">
                <a:solidFill>
                  <a:srgbClr val="E6EDF3"/>
                </a:solidFill>
                <a:latin typeface="Consolas"/>
              </a:rPr>
              <a:t> np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from</a:t>
            </a:r>
            <a:r>
              <a:rPr sz="1100">
                <a:solidFill>
                  <a:srgbClr val="E6EDF3"/>
                </a:solidFill>
                <a:latin typeface="Consolas"/>
              </a:rPr>
              <a:t> torch.distributions </a:t>
            </a:r>
            <a:r>
              <a:rPr sz="1100">
                <a:solidFill>
                  <a:srgbClr val="59C2D6"/>
                </a:solidFill>
                <a:latin typeface="Consolas"/>
              </a:rPr>
              <a:t>import</a:t>
            </a:r>
            <a:r>
              <a:rPr sz="1100">
                <a:solidFill>
                  <a:srgbClr val="E6EDF3"/>
                </a:solidFill>
                <a:latin typeface="Consolas"/>
              </a:rPr>
              <a:t> Categorical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model = AutoModelForMaskedLM.from_pretrained("ChatterjeeLab/PepMLM-650M")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tokenizer = AutoTokenizer.from_pretrained("ChatterjeeLab/PepMLM-650M")</a:t>
            </a:r>
          </a:p>
        </p:txBody>
      </p:sp>
      <p:sp>
        <p:nvSpPr>
          <p:cNvPr id="14" name="Round Same Side Corner Rectangle 13"/>
          <p:cNvSpPr/>
          <p:nvPr/>
        </p:nvSpPr>
        <p:spPr>
          <a:xfrm>
            <a:off x="777240" y="4452366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70654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[3-3] 표적 단백질 서열 토큰화 (셀 3, 서열은 노트북에 전체 수록)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54702"/>
            <a:ext cx="10607040" cy="62941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46142"/>
            <a:ext cx="10241280" cy="53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protein_seq = "MERAGPSFGQQRQQQ...GESGQAKRN"   </a:t>
            </a:r>
            <a:r>
              <a:rPr sz="1100">
                <a:solidFill>
                  <a:srgbClr val="7EC699"/>
                </a:solidFill>
                <a:latin typeface="Consolas"/>
              </a:rPr>
              <a:t># PDE5A, 875 aa (UniProt O76074)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inputs = tokenizer(protein_seq, return_tensors="pt")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8247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8247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서열은 노트북에 875 aa 전체가 수록되어 있다 — 슬라이드에는 앞·뒤만 발췌. PepMLM-650M 은 첫 로드 시 가중치 다운로드에 수 분 걸릴 수 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[3-1], [3-2], [3-3]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[3-4] 결합 펩타이드 생성 실행 (셀 4~6)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288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[3-4] 결합 펩타이드 생성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31136"/>
            <a:ext cx="10607040" cy="90754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1024128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results_df = generate_peptide(protein_seq, peptide_length=15,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top_k=3, num_binders=5)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print(results_df)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9354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0268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예상 출력 : 생성 펩타이드 서열과 PPL 값이 담긴 표(낮은 PPL 우선). 생성 결과는 실행마다 달라진다.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849624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마스크 토큰(&lt;mask&gt;)을 이어붙인 입력으로부터 top-k 샘플링으로 결합 후보 펩타이드를 생성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17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41655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각 후보의 pseudo-perplexity(PPL, 낮을수록 좋음)를 계산해 순위화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08406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49834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peptide_length=15 · top_k=3 · num_binders=5 — 후보 5개를 뽑아 표로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PPL 은 모델이 그 서열을 얼마나 '자연스럽다'고 보는지의 지표일 뿐 — 실제 결합력이 아니다. 결합 검증은 실험(SPR/ITC 등)으로 별도 수행해야 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[3-4] 펩타이드 생성 (셀 4~6)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[3-5] EvoProtGrad — in silico 방향진화 (셀 7~8)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916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[3-5] EvoProtGrad 설치 주의(따옴표 + --no-deps)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93976"/>
            <a:ext cx="10607040" cy="88468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85416"/>
            <a:ext cx="10241280" cy="79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50">
                <a:solidFill>
                  <a:srgbClr val="7EC699"/>
                </a:solidFill>
                <a:latin typeface="Consolas"/>
              </a:rPr>
              <a:t># "&gt;"가 셸 리다이렉션으로 해석되지 않도록 따옴표로 묶습니다.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7EC699"/>
                </a:solidFill>
                <a:latin typeface="Consolas"/>
              </a:rPr>
              <a:t># --no-deps 로 현재 transformers 버전을 유지합니다.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!pip install -q --no-deps "evo_prot_grad&gt;=0.2"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10607040" cy="1874519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56432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A68C"/>
                </a:solidFill>
                <a:latin typeface="Malgun Gothic"/>
              </a:rPr>
              <a:t>핵심 설정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parallel_chains · n_steps=50 · max_mutations=15 · scoring_strategy='mutant_marginal'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preserved_regions=[표적 구간, 링커 구간]  →  표적 영역은 보존한 채 펩타이드 구간만 변이시켜 결합 적합도를 개선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표적:펩타이드는 ':' 로 연결하고 내부적으로 G×20 링커로 치환한다. 작은 ESM-2(esm2_t6_8M) 전문가 모델과 mutant_marginal 스코어링을 사용.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설치 시 "&gt;" 를 따옴표로 감싸지 않으면 셸 리다이렉션으로 해석되어 빈 파일이 생성된다. --no-deps 없이 설치하면 transformers 가 다운그레이드될 수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[3-5] EvoProtGrad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[3-6] ESM-3 설치 · [3-7] 모델 로드 (3-2 셀 1~2)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5544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[3-6] ESM-3 설치 — esm 은 --no-deps, 런타임 의존성만 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56816"/>
            <a:ext cx="10607040" cy="83896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10241280" cy="747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!pip install -q --no-deps esm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!pip install -q zstd msgpack-numpy cloudpathlib tenacity pygtrie pydssp brotli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!pip install -q einops "biotite&gt;=1.0.0" py3Dmol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305181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7009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[3-7] ESM-3 (esm3_sm_open_v1, 1.4B) 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54146"/>
            <a:ext cx="10607040" cy="142189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45586"/>
            <a:ext cx="10241280" cy="133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torch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</a:t>
            </a:r>
            <a:r>
              <a:rPr sz="1150">
                <a:solidFill>
                  <a:srgbClr val="E6EDF3"/>
                </a:solidFill>
                <a:latin typeface="Consolas"/>
              </a:rPr>
              <a:t> esm.models.esm3 </a:t>
            </a: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ESM3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</a:t>
            </a:r>
            <a:r>
              <a:rPr sz="1150">
                <a:solidFill>
                  <a:srgbClr val="E6EDF3"/>
                </a:solidFill>
                <a:latin typeface="Consolas"/>
              </a:rPr>
              <a:t> esm.sdk.api </a:t>
            </a: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ESMProtein, GenerationConfig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device = torch.device("cuda" if torch.cuda.is_available() else "cpu")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가중치는 Hugging Face 에서 내려받음(약 2.8GB, CPU 에서도 동작)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model = ESM3.from_pretrained("esm3_sm_open_v1", device=device)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esm 패키지를 --no-deps 로 설치하는 이유 : 의존성 해석 과정에서 transformers 가 다운그레이드되어 3-1 노트북이 깨지는 것을 막기 위함이다.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[3-6], [3-7]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[3-8] 서열 채우기(inpainting) — 마스크 구간 설계 (셀 3)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4592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[3-8] 마스크 구간 서열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48256"/>
            <a:ext cx="10607040" cy="207340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10241280" cy="1981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scaffold = "MKTVRQERLKSIVRIL"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tail = "ERLKSIVRILERSKEPVSGAQLAEELSVSRQVIVQDIAYLRSLGYNIVATPRGYVLAGG"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masked_sequence = scaffold + "_" * 12 + tail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prompt = ESMProtein(sequence=masked_sequence)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designed = model.generate(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prompt,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GenerationConfig(track="sequence", num_steps=8, temperature=0.7))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print(designed.sequence)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8247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8247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'_' 로 마스킹한 12 잔기 구간을 ESM-3 가 설계해 채운다(루프/링커 재설계에 대응). track='sequence', num_steps, temperature 로 제어한다.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[3-8] 서열 채우기 (inpainting)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[3-9] 서열 → 구조 예측 + 시각화 (셀 4~5)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5544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[3-9] 서열 → 구조 예측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56816"/>
            <a:ext cx="10607040" cy="126568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10241280" cy="117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structure_prompt = ESMProtein(sequence=designed.sequence)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predicted = model.generate(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structure_prompt, GenerationConfig(track="structure", num_steps=8))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print("pTM   :", float(predicted.ptm))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print("pLDDT :", float(predicted.plddt.mean()))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5166360" cy="1371600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47548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A68C"/>
                </a:solidFill>
                <a:latin typeface="Malgun Gothic"/>
              </a:rPr>
              <a:t>신뢰도 해석 기준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pLDDT ≥ 0.9  →  매우 신뢰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pTM ≥ 0.5  →  대체로 올바른 fold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16636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56432"/>
            <a:ext cx="47548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5C99"/>
                </a:solidFill>
                <a:latin typeface="Malgun Gothic"/>
              </a:rPr>
              <a:t>구조 시각화 (셀 5)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to_pdb_string() 으로 PDB 텍스트를 얻어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py3Dmol 에 올리고 pLDDT(B-factor)로 색을 칠한다.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292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383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0383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한계 : esm3_sm_open_v1 은 공개 소형(1.4B) 모델이며 대형(98B)은 Forge API 로만 접근 가능. 예측 구조는 모델 추정이므로 실제 검증(발현·결합·열안정성)이 필요하다.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[3-9], 구조 시각화, 3절 한계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LLM 활용 &amp;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Retrieval-Augmented Generation · t050_simple-local-rag.ipynb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 는 왜 필요한가 — 환각↓ · 출처 제공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00784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RAG 는 관련 정보를 프롬프트에 주입(Augmentation)해 LLM 의 환각을 줄이고 출처를 함께 제공한다.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51175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450591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답변의 근거가 된 청크를 함께 확인할 수 있어 출처 추적이 가능하다.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009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200400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도메인 특화 답변을 원하면 코퍼스(PDF)를 해당 도메인 문헌으로 교체한다.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5079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950207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도메인 적용 예: 질의를 'mechanism of sildenafil as a PDE5 inhibitor…' 로 바꾸려면 코퍼스 PDF 도 PDE5 도메인 문헌으로 교체해야 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54880"/>
            <a:ext cx="1060704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463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임베딩 : sentence-transformers all-mpnet-base-v2 (출력 768 차원)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생성 LLM (택 1) : google/gemma-2b-it · gemma-7b-it · Qwen/Qwen3-1.7B · Qwen3-8B (GPU/양자화에 맞게 선택)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실습사이트(Colab) : …/Day06_LLM_Agent/t050_simple-local-rag.ipynb  —  로컬 RAG 파이프라인을 처음부터 직접 구축한다.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4절 실습 개요·모델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 4단계 파이프라인 — 문서 분할 → 임베딩 → 검색 →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651760" cy="86868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187451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문서 처리 &amp; 청크 분할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7680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PDF → PyMuPDF(fitz) 로 페이지별 텍스트 → spaCy 문장 분리 → 10문장 = 1 청크. 짧은 청크(≤30 토큰) 제거.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79192"/>
            <a:ext cx="2651760" cy="86868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79192"/>
            <a:ext cx="187451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청크 임베딩 &amp;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79192"/>
            <a:ext cx="7680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all-mpnet-base-v2 로 각 청크를 768 차원 벡터로 임베딩하고 CSV 로 저장 (GPU 가 CPU 보다 훨씬 빠름).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66744"/>
            <a:ext cx="2651760" cy="8686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66744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66744"/>
            <a:ext cx="187451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유사도 검색 (Retrieval)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666744"/>
            <a:ext cx="7680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질의를 임베딩 → dot product 로 전체 청크와 유사도 계산 → torch.topk 로 상위 k 개 추출.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54296"/>
            <a:ext cx="2651760" cy="86868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54296"/>
            <a:ext cx="187451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생성 (Augmented Generation)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654296"/>
            <a:ext cx="7680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검색 문맥을 프롬프트에 넣고(apply_chat_template) 로컬 LLM(gemma-2b-it 등)으로 답변 생성.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gemma 는 gated 모델이라 Hugging Face 라이선스 동의가 필요하다 — 실습 전에 계정 로그인·동의를 미리 마쳐 두자.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4절 Step-by-Step 구축 가이드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[4-1] PDF → 청크 · [4-2] 청크 임베딩 &amp; 저장 (① ②)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5544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[4-1] PDF 텍스트 추출 + 청크화 핵심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56816"/>
            <a:ext cx="10607040" cy="122758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10241280" cy="1136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fitz 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PyMuPDF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</a:t>
            </a:r>
            <a:r>
              <a:rPr sz="1150">
                <a:solidFill>
                  <a:srgbClr val="E6EDF3"/>
                </a:solidFill>
                <a:latin typeface="Consolas"/>
              </a:rPr>
              <a:t> spacy.lang.en </a:t>
            </a: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English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nlp = English(); nlp.add_pipe('sentencizer')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num_sentence_chunk_size = 10   </a:t>
            </a:r>
            <a:r>
              <a:rPr sz="1150">
                <a:solidFill>
                  <a:srgbClr val="7EC699"/>
                </a:solidFill>
                <a:latin typeface="Consolas"/>
              </a:rPr>
              <a:t># 10 문장 = 1 청크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3422141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40429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[4-2] 청크 임베딩 생성 및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24478"/>
            <a:ext cx="10607040" cy="161620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15918"/>
            <a:ext cx="10241280" cy="152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</a:t>
            </a:r>
            <a:r>
              <a:rPr sz="1150">
                <a:solidFill>
                  <a:srgbClr val="E6EDF3"/>
                </a:solidFill>
                <a:latin typeface="Consolas"/>
              </a:rPr>
              <a:t> sentence_transformers </a:t>
            </a: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SentenceTransformer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embedding_model = SentenceTransformer("all-mpnet-base-v2", device="cuda")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text_chunk_embeddings = embedding_model.encode(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text_chunks, convert_to_tensor=True)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pd.DataFrame(pages_and_chunks_over_min_token_len).to_csv(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"text_chunks_and_embeddings_df.csv", index=False)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247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짧은 청크(≤30 토큰)는 제거한다 — 문장 조각은 임베딩 품질을 떨어뜨린다. 임베딩은 GPU 가 CPU 보다 훨씬 빠르므로 T4 런타임을 권장.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[4-1], [4-2]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[4-3] 질의 임베딩 → 상위 k 청크 검색 (③)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916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[4-3] 질의 임베딩 → 상위 k 청크 검색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93976"/>
            <a:ext cx="10607040" cy="166954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85416"/>
            <a:ext cx="10241280" cy="157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from</a:t>
            </a:r>
            <a:r>
              <a:rPr sz="1200">
                <a:solidFill>
                  <a:srgbClr val="E6EDF3"/>
                </a:solidFill>
                <a:latin typeface="Consolas"/>
              </a:rPr>
              <a:t> sentence_transformers </a:t>
            </a:r>
            <a:r>
              <a:rPr sz="1200">
                <a:solidFill>
                  <a:srgbClr val="59C2D6"/>
                </a:solidFill>
                <a:latin typeface="Consolas"/>
              </a:rPr>
              <a:t>import</a:t>
            </a:r>
            <a:r>
              <a:rPr sz="1200">
                <a:solidFill>
                  <a:srgbClr val="E6EDF3"/>
                </a:solidFill>
                <a:latin typeface="Consolas"/>
              </a:rPr>
              <a:t> util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import</a:t>
            </a:r>
            <a:r>
              <a:rPr sz="1200">
                <a:solidFill>
                  <a:srgbClr val="E6EDF3"/>
                </a:solidFill>
                <a:latin typeface="Consolas"/>
              </a:rPr>
              <a:t> torch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query = "macronutrients functions"   </a:t>
            </a:r>
            <a:r>
              <a:rPr sz="1200">
                <a:solidFill>
                  <a:srgbClr val="7EC699"/>
                </a:solidFill>
                <a:latin typeface="Consolas"/>
              </a:rPr>
              <a:t># (PDE5 예: sildenafil 기전 질의로 교체 가능)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query_embedding = embedding_model.encode(query, convert_to_tensor=True)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dot_scores = util.dot_score(a=query_embedding, b=embeddings)[0]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top_results = torch.topk(dot_scores, k=5)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1838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27525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예상 출력 : 유사도 점수 상위 5 개 청크의 점수·본문·페이지 번호.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검색은 학습이 필요 없다 — 질의와 청크를 같은 임베딩 공간에 놓고 내적(dot product) 크기로 정렬할 뿐. k 를 키우면 문맥은 늘지만 노이즈도 늘어난다.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[4-3] 유사도 검색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[4-4] 생성 LLM 로드 및 답변 생성 (④)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4630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[4-4] 생성 LLM 로드 및 답변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65376"/>
            <a:ext cx="10607040" cy="258775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10241280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</a:t>
            </a:r>
            <a:r>
              <a:rPr sz="1150">
                <a:solidFill>
                  <a:srgbClr val="E6EDF3"/>
                </a:solidFill>
                <a:latin typeface="Consolas"/>
              </a:rPr>
              <a:t> transformers </a:t>
            </a: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AutoTokenizer, AutoModelForCausalLM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model_id = "google/gemma-2b-it"   </a:t>
            </a:r>
            <a:r>
              <a:rPr sz="1150">
                <a:solidFill>
                  <a:srgbClr val="7EC699"/>
                </a:solidFill>
                <a:latin typeface="Consolas"/>
              </a:rPr>
              <a:t># 또는 Qwen/Qwen3-1.7B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tokenizer = AutoTokenizer.from_pretrained(model_id)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llm_model = AutoModelForCausalLM.from_pretrained(model_id)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검색 문맥 + 질문 → dialogue → 프롬프트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prompt = tokenizer.apply_chat_template(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conversation=dialogue_template, tokenize=False,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add_generation_prompt=True)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input_ids = tokenizer(prompt, return_tensors='pt').to('cuda')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outputs = llm_model.generate(**input_ids, max_new_tokens=256)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print(tokenizer.decode(outputs[0], skip_special_tokens=True))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정리 : RAG 의 답변은 어떤 청크가 근거로 들어갔는지 함께 확인할 수 있어 출처 추적이 가능하다. 도메인 특화 답변을 원하면 코퍼스(PDF)를 해당 도메인 문헌으로 교체한다.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[4-4] 생성, 4절 정리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LLM 에이전트 — Co-Scientist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LangGraph 다중 에이전트 · T004_nsclc_llm_coscientist.ipynb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5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다중 에이전트 구성 — 상태(State)를 전달하며 순차 평가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011680" cy="114300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1828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Literature
문헌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PubMed 검색·초록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1783080"/>
            <a:ext cx="2743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8A929A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783080"/>
            <a:ext cx="2011680" cy="114300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783080"/>
            <a:ext cx="1828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Mechanism
메커니즘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718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질환 기전 연관성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783080"/>
            <a:ext cx="2743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8A929A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1783080"/>
            <a:ext cx="2011680" cy="114300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1" y="1783080"/>
            <a:ext cx="1828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Clinical
임상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1" y="29718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임상 근거·시험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1783080"/>
            <a:ext cx="2743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8A929A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1783080"/>
            <a:ext cx="2011680" cy="114300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1783080"/>
            <a:ext cx="1828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Drug
약물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9718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기존 약물·성약성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1783080"/>
            <a:ext cx="2743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8A929A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9216" y="1783080"/>
            <a:ext cx="2011680" cy="11430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0656" y="1783080"/>
            <a:ext cx="1828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Judge
심판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29718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최종 점수 산출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7673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" y="3666744"/>
            <a:ext cx="106984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과제: LangGraph 로 다중 LLM 에이전트 파이프라인을 구성해 폐동맥고혈압(PAH) 표적 후보 유전자들을 자동으로 문헌 검색·분석·평가하고 점수화·순위화한다.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43891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4288536"/>
            <a:ext cx="106984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각 유전자를 평가한 뒤, 상위 후보를 토너먼트(쌍대 비교)로 비교한다.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50109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" y="4910328"/>
            <a:ext cx="106984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필요 API : Google Gemini API 키 (aistudio.google.com/app/apikey) — 실행 중 getpass 로 입력, 노트북에 저장 금지.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5절 실습 개요·에이전트 구성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5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[5-1] 설치 · [5-2] Gemini API 키 입력 (셀 1~3)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5544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[5-1] 설치 (셀 1~2)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56816"/>
            <a:ext cx="10607040" cy="83896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10241280" cy="747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!pip install -q langchain langchain-google-genai langgraph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!pip install -q biopython xmltodict requests matplotlib seaborn plotly pandas numpy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!pip install -q wordcloud networkx beautifulsoup4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3033522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5181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[5-2] Gemini API 키 입력 및 모델 선택 (셀 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35858"/>
            <a:ext cx="10607040" cy="161620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27298"/>
            <a:ext cx="10241280" cy="152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</a:t>
            </a:r>
            <a:r>
              <a:rPr sz="1150">
                <a:solidFill>
                  <a:srgbClr val="E6EDF3"/>
                </a:solidFill>
                <a:latin typeface="Consolas"/>
              </a:rPr>
              <a:t> getpass </a:t>
            </a: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getpass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os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os.environ["GOOGLE_API_KEY"] = getpass("Google Gemini API 키를 입력하세요: ")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</a:t>
            </a:r>
            <a:r>
              <a:rPr sz="1150">
                <a:solidFill>
                  <a:srgbClr val="E6EDF3"/>
                </a:solidFill>
                <a:latin typeface="Consolas"/>
              </a:rPr>
              <a:t> google </a:t>
            </a: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genai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</a:t>
            </a:r>
            <a:r>
              <a:rPr sz="1150">
                <a:solidFill>
                  <a:srgbClr val="E6EDF3"/>
                </a:solidFill>
                <a:latin typeface="Consolas"/>
              </a:rPr>
              <a:t> langchain_google_genai </a:t>
            </a:r>
            <a:r>
              <a:rPr sz="1150">
                <a:solidFill>
                  <a:srgbClr val="59C2D6"/>
                </a:solidFill>
                <a:latin typeface="Consolas"/>
              </a:rPr>
              <a:t>import</a:t>
            </a:r>
            <a:r>
              <a:rPr sz="1150">
                <a:solidFill>
                  <a:srgbClr val="E6EDF3"/>
                </a:solidFill>
                <a:latin typeface="Consolas"/>
              </a:rPr>
              <a:t> ChatGoogleGenerativeAI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pick_gemini_model(): client.models.list()로 generateContent 지원 모델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구 google-generativeai 는 폐지 → google-genai 사용. LangChain 1.x 는 langchain_core.prompts 를 쓴다. API 키는 노트북에 저장하지 말고 런타임마다 getpass 로 입력.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[5-1], [5-2]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5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[5-3] LangGraph 워크플로우 구성 (셀 6)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41732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[5-3] LangGraph 워크플로우 구성 — 5개 노드를 순서대로 연결한 StateGraph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19656"/>
            <a:ext cx="10607040" cy="365836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11095"/>
            <a:ext cx="10241280" cy="356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from</a:t>
            </a:r>
            <a:r>
              <a:rPr sz="1050">
                <a:solidFill>
                  <a:srgbClr val="E6EDF3"/>
                </a:solidFill>
                <a:latin typeface="Consolas"/>
              </a:rPr>
              <a:t> langgraph.graph </a:t>
            </a:r>
            <a:r>
              <a:rPr sz="1050">
                <a:solidFill>
                  <a:srgbClr val="59C2D6"/>
                </a:solidFill>
                <a:latin typeface="Consolas"/>
              </a:rPr>
              <a:t>import</a:t>
            </a:r>
            <a:r>
              <a:rPr sz="1050">
                <a:solidFill>
                  <a:srgbClr val="E6EDF3"/>
                </a:solidFill>
                <a:latin typeface="Consolas"/>
              </a:rPr>
              <a:t> StateGraph, END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def</a:t>
            </a:r>
            <a:r>
              <a:rPr sz="1050">
                <a:solidFill>
                  <a:srgbClr val="E6EDF3"/>
                </a:solidFill>
                <a:latin typeface="Consolas"/>
              </a:rPr>
              <a:t> create_research_workflow():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workflow = StateGraph(ResearchState)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</a:t>
            </a:r>
            <a:r>
              <a:rPr sz="1050">
                <a:solidFill>
                  <a:srgbClr val="59C2D6"/>
                </a:solidFill>
                <a:latin typeface="Consolas"/>
              </a:rPr>
              <a:t>for</a:t>
            </a:r>
            <a:r>
              <a:rPr sz="1050">
                <a:solidFill>
                  <a:srgbClr val="E6EDF3"/>
                </a:solidFill>
                <a:latin typeface="Consolas"/>
              </a:rPr>
              <a:t> name, fn </a:t>
            </a:r>
            <a:r>
              <a:rPr sz="1050">
                <a:solidFill>
                  <a:srgbClr val="59C2D6"/>
                </a:solidFill>
                <a:latin typeface="Consolas"/>
              </a:rPr>
              <a:t>in</a:t>
            </a:r>
            <a:r>
              <a:rPr sz="1050">
                <a:solidFill>
                  <a:srgbClr val="E6EDF3"/>
                </a:solidFill>
                <a:latin typeface="Consolas"/>
              </a:rPr>
              <a:t> [('literature', literature_agent),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 ('mechanism', mechanism_agent),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 ('clinical', clinical_agent),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 ('drug', drug_agent),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 ('judge', judge_agent)]: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workflow.add_node(name, fn)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workflow.set_entry_point('literature')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workflow.add_edge('literature', 'mechanism')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workflow.add_edge('mechanism', 'clinical')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workflow.add_edge('clinical', 'drug')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workflow.add_edge('drug', 'judge')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workflow.add_edge('judge', END)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</a:t>
            </a:r>
            <a:r>
              <a:rPr sz="1050">
                <a:solidFill>
                  <a:srgbClr val="59C2D6"/>
                </a:solidFill>
                <a:latin typeface="Consolas"/>
              </a:rPr>
              <a:t>return</a:t>
            </a:r>
            <a:r>
              <a:rPr sz="1050">
                <a:solidFill>
                  <a:srgbClr val="E6EDF3"/>
                </a:solidFill>
                <a:latin typeface="Consolas"/>
              </a:rPr>
              <a:t> workflow.compile()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research_app = create_research_workflow()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흐름 : Literature → Mechanism → Clinical → Drug → Judge (논문검색 → 메커니즘 → 임상 → 약물 → 최종점수)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[5-3] LangGraph 워크플로우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5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[5-4] 후보 유전자 평가 루프 (셀 7) — PAH 후보 14개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5544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[5-4] 후보 유전자 평가 루프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56816"/>
            <a:ext cx="10607040" cy="187147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10241280" cy="178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TARGET_GENES = ["PDE5A", "GUCY1A1", "GUCY1B1", "EDNRA", "EDNRB",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    "PTGIR", "NOS3", "BMPR2", "ACVRL1", "ENG",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    "GDF2", "KCNK3", "CAV1", "SMAD9"]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for</a:t>
            </a:r>
            <a:r>
              <a:rPr sz="1200">
                <a:solidFill>
                  <a:srgbClr val="E6EDF3"/>
                </a:solidFill>
                <a:latin typeface="Consolas"/>
              </a:rPr>
              <a:t> gene </a:t>
            </a:r>
            <a:r>
              <a:rPr sz="1200">
                <a:solidFill>
                  <a:srgbClr val="59C2D6"/>
                </a:solidFill>
                <a:latin typeface="Consolas"/>
              </a:rPr>
              <a:t>in</a:t>
            </a:r>
            <a:r>
              <a:rPr sz="1200">
                <a:solidFill>
                  <a:srgbClr val="E6EDF3"/>
                </a:solidFill>
                <a:latin typeface="Consolas"/>
              </a:rPr>
              <a:t> TARGET_GENES: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initial_state = {'gene_name': gene, ...}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result = research_app.invoke(initial_state)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  <a:r>
              <a:rPr sz="1200">
                <a:solidFill>
                  <a:srgbClr val="7EC699"/>
                </a:solidFill>
                <a:latin typeface="Consolas"/>
              </a:rPr>
              <a:t># result['final_score']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A4C93"/>
                </a:solidFill>
                <a:latin typeface="Malgun Gothic"/>
              </a:rPr>
              <a:t>▷ ③ PubMed 문헌 검색 (셀 4) : </a:t>
            </a:r>
            <a:r>
              <a:rPr sz="1100" b="0" i="0">
                <a:solidFill>
                  <a:srgbClr val="1C242B"/>
                </a:solidFill>
                <a:latin typeface="Malgun Gothic"/>
              </a:rPr>
              <a:t>유전자·질병(PAH) 키워드로 PubMed 를 검색하는 클래스를 구성한다(예: search_gene_papers('PDE5A')).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A4C93"/>
                </a:solidFill>
                <a:latin typeface="Malgun Gothic"/>
              </a:rPr>
              <a:t>▷ ④ 에이전트 프롬프트 &amp; 노드 (셀 5) : </a:t>
            </a:r>
            <a:r>
              <a:rPr sz="1100" b="0" i="0">
                <a:solidFill>
                  <a:srgbClr val="1C242B"/>
                </a:solidFill>
                <a:latin typeface="Malgun Gothic"/>
              </a:rPr>
              <a:t>literature/mechanism/clinical/drug/judge 5종 PromptTemplate 과 각 노드 함수를 정의한다. run_prompt = (prompt | llm) 파이프로 실행한다(LLMChain 대체).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PAH 연관 후보 유전자 리스트를 순회하며 워크플로우를 invoke 하고 최종 점수를 수집한다(문헌 확인 권장).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[5-4], 셀 4·5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5 ·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⑦ 토너먼트 &amp; 시각화 (셀 8~9) + 해석 주의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점수 상위 8개 유전자로 토너먼트(쌍대 비교)를 수행한다.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0604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05456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최종 점수 랭킹 등을 막대/히트맵으로 시각화한다.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1927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218688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각 에이전트가 남긴 문헌·메커니즘·임상·약물 근거를 함께 읽어 점수의 이유를 확인한다.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10607040" cy="1600200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605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88A1A"/>
                </a:solidFill>
                <a:latin typeface="Malgun Gothic"/>
              </a:rPr>
              <a:t>⚠ 주의 — 결과 = 가설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노트북의 PubMed 초록 일부는 데모용 텍스트로 대체될 수 있다.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LLM 점수는 추론 결과이므로, 실제 표적 우선순위 결정에는 원문 문헌·실험 근거 확인이 필요하다.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5절 ⑦ 토너먼트 &amp; 시각화, 주의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SECTION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[강사 데모] PDE5 저해제 탐색 에이전트 하네스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PLAN → 단계별 검증 게이트(EXECUTE) → 근거 인용 보고서(REPORT)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6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표적·사례 약물·핵심 개념 (설치는 함께, 실행은 강사 데모 — B 방식)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166360" cy="17373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7548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5C99"/>
                </a:solidFill>
                <a:latin typeface="Malgun Gothic"/>
              </a:rPr>
              <a:t>표적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PDE5A  (UniProt O76074, ChEMBL CHEMBL1827)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기전 : cGMP 분해 억제 → NO-cGMP 경로 혈관확장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737360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548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A68C"/>
                </a:solidFill>
                <a:latin typeface="Malgun Gothic"/>
              </a:rPr>
              <a:t>사례 약물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sildenafil (CHEMBL192) · tadalafil (CHEMBL779)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vardenafil · avanafil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66160"/>
            <a:ext cx="10607040" cy="1828800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703320"/>
            <a:ext cx="100584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E88A1A"/>
                </a:solidFill>
                <a:latin typeface="Malgun Gothic"/>
              </a:rPr>
              <a:t>핵심 개념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이 하네스는 에이전트가 '무-날조(No-Fabrication) · provenance(출처) · 단계별 검증'을 지키며 파이프라인을 수행하는 방법을 시연한다.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수치·식별자는 도구가 실제 계산·반환한 값만 사용하고, LLM 이 IC50·물성·ID 를 지어내는 것을 금지한다.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392B"/>
                </a:solidFill>
                <a:latin typeface="Malgun Gothic"/>
              </a:rPr>
              <a:t>결과는 모두 가설이며 신약 발견이 아니다.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778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5961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5961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참조 : github.com/fourmodern/2026_aidrugdiscovery (폴더 Day06_LLM_Agent/pde5_harness/) · Claude Code 문서 docs.claude.com/en/docs/claude-code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6절 실습 개요·실습 참조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6 ·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[6-1] pde5_harness/ 주요 파일 — 폴더 구조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002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[6-1] pde5_harness/ 주요 파일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02536"/>
            <a:ext cx="10607040" cy="258775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93976"/>
            <a:ext cx="10241280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pde5_harness/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├─ CLAUDE.md    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에이전트 규약(워크플로·하드 규칙·검증 기준)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├─ README.md    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개요·실행법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├─ requirements.txt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rdkit, chembl-webresource-client, requests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├─ .claude/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│  ├─ settings.json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PostToolUse 훅 등록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│  ├─ skills/   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plan-research, target-lookup, chembl-actives,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│  │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  mol-properties, selectivity-check, report-writer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│  └─ hooks/    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verify_provenance.py, no_fabrication_guard.py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├─ scripts/     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target_lookup / chembl_actives / mol_properties 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│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  selectivity / verify / mol_utils / docking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└─ outputs/                </a:t>
            </a:r>
            <a:r>
              <a:rPr sz="1150">
                <a:solidFill>
                  <a:srgbClr val="7EC699"/>
                </a:solidFill>
                <a:latin typeface="Consolas"/>
              </a:rPr>
              <a:t># plan.json, report_pde5.md 생성 위치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CLAUDE.md(규약) + .claude/skills(스킬) + .claude/hooks(훅) + scripts(실계산 도구) + outputs(산출물) — 이 5개가 하네스의 뼈대다.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[6-1] 하네스 구성(폴더 구조)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6 · 워크플로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CLAUDE.md 규약 — 단계 / 스킬·스크립트 / 검증 게이트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19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17319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스킬 / 스크립트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17319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검증 게이트 (통과 조건)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1.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8308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plan-research → outputs/plan.json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objective/questions/tools/criteria/rules 6키 포함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8658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86584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2a. 표적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386584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target-lookup (target_lookup.py)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86584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accession=O76074 + 'PDE5' 언급 + 기능 서술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9008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990088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2b. 활성물질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990088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chembl-actives (chembl_actives.py)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9008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 molecule_chembl_id + SMILES RDKit 파싱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93591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93591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2c. 물성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593591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mol-properties (mol_properties.py)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93591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MW/logP/QED/SA 등 물리적 sanity 범위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97096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197096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2d. 선택성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197096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selectivity-check (selectivity.py)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97096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정량 미날조(정성 보고) + PDE6 기전 서술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00600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80060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3.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80060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report-writer → outputs/report_pde5.md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00600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모든 수치가 앞 단계 도구 결과에 존재(근거 없는 수치 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6692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6784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56784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각 단계는 verification.passed=false 이면 다음 단계 진행 금지 — 최대 2회 재시도 후에도 실패하면 '미확인/플래그'로 표시하고 보고서 한계 섹션에 명시한다. 훅은 Bash 실행 후 provenance/무-날조를 점검하는 경고형(비차단)이다.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6절 워크플로 (CLAUDE.md 규약)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6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[6-2]~[6-5] 설치 · 실행 (① ~ ④, 함께 진행)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41732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[6-2] git clone 및 폴더 이동 (① 함께)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19656"/>
            <a:ext cx="10607040" cy="61417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11095"/>
            <a:ext cx="10241280" cy="52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git clone https://github.com/fourmodern/2026_aidrugdiscovery.git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cd 2026_aidrugdiscovery/Day06_LLM_Agent/pde5_harness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25527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709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[6-3] requirements 설치 (② 함께) — RDKit·ChEMBL 클라이언트·requests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55036"/>
            <a:ext cx="10607040" cy="43510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46476"/>
            <a:ext cx="10241280" cy="34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4" name="Round Same Side Corner Rectangle 13"/>
          <p:cNvSpPr/>
          <p:nvPr/>
        </p:nvSpPr>
        <p:spPr>
          <a:xfrm>
            <a:off x="777240" y="3509009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729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[6-4] Claude Code 실행 (③ 함께) — CLAUDE.md 규약·스킬·훅이 로드된다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11346"/>
            <a:ext cx="10607040" cy="61417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02785"/>
            <a:ext cx="10241280" cy="52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cd 2026_aidrugdiscovery/Day06_LLM_Agent/pde5_harness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claude</a:t>
            </a:r>
          </a:p>
        </p:txBody>
      </p:sp>
      <p:sp>
        <p:nvSpPr>
          <p:cNvPr id="18" name="Round Same Side Corner Rectangle 17"/>
          <p:cNvSpPr/>
          <p:nvPr/>
        </p:nvSpPr>
        <p:spPr>
          <a:xfrm>
            <a:off x="777240" y="464439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6267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[6-5] 표준 봉투(result/provenance/verification) 확인 (④ 노트북 없이도 동작)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046726"/>
            <a:ext cx="10607040" cy="79324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38166"/>
            <a:ext cx="10241280" cy="70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scripts/target_lookup.py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scripts/chembl_actives.py | python scripts/mol_properties.py --stdin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scripts/selectivity.py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888736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888736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예상 출력 : 각 스크립트가 {result, provenance, verification} JSON 봉투를 반환. 네트워크 불가 시 'OFFLINE DEMO … 실데이터 아님' 표기로 폴백한다.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[6-2] ~ [6-5] Step-by-Step (설치는 함께)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6 ·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[6-6] 강사 데모 — 자연어 지시 한 줄 + 하드 규칙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002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[6-6] 강사 데모 — 자연어 지시(Claude Code 프롬프트)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02536"/>
            <a:ext cx="10607040" cy="48844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93976"/>
            <a:ext cx="10241280" cy="39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"PDE5 저해제 후보 조사해 보고서 써줘"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4584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5498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산출물 : outputs/plan.json(연구 계획), outputs/report_pde5.md(IMRAD 보고서 — 활성물질/물성 표 + 검증 로그 + 한계 + 참고문헌)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Malgun Gothic"/>
              </a:rPr>
              <a:t>하드 규칙 (무-날조 · 과학적 엄밀성)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0440"/>
            <a:ext cx="10561320" cy="502920"/>
          </a:xfrm>
          <a:prstGeom prst="roundRect">
            <a:avLst/>
          </a:prstGeom>
          <a:solidFill>
            <a:srgbClr val="FCF0DD"/>
          </a:solidFill>
          <a:ln w="95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2044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88A1A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20440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수치는 도구 실계산값만 — LLM 이 IC50·물성·ChEMBL ID·PMID 등 수치·식별자를 지어내는 것 금지.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87368"/>
            <a:ext cx="10561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087368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88A1A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87368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모든 사실 주장에 출처(provenance): ChEMBL ID / UniProt / PMID / DOI. 없으면 '확인 필요'로 표기.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54296"/>
            <a:ext cx="10561320" cy="502920"/>
          </a:xfrm>
          <a:prstGeom prst="roundRect">
            <a:avLst/>
          </a:prstGeom>
          <a:solidFill>
            <a:srgbClr val="FCF0DD"/>
          </a:solidFill>
          <a:ln w="95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54296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88A1A"/>
                </a:solidFill>
                <a:latin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54296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단계별 검증 게이트 통과 후에만 다음 단계로 진행.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21224"/>
            <a:ext cx="10561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21224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88A1A"/>
                </a:solidFill>
                <a:latin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21224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불확실은 불확실로 — 도킹 스코어·LLM 추론은 '가설'. 결과=가설이며 신약 발견이 아님(실검증은 별도).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[6-6], 산출물, 하드 규칙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부록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노트북 · Colab 링크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630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Colab URL (…/blob/main/Day06_LLM_Agent/ 뒤에 파일명)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28800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28800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t042_molt5.ipynb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.../t042_molt5.ipynb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3230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32304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32304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t110_esm2_peptide_optimization_tutorial.ipynb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32304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.../t110_esm2_peptide_optimization_tutorial.ipynb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3580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035808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35808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t111_esm3_protein_design.ipynb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35808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.../t111_esm3_protein_design.ipynb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3931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639312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639312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t050_simple-local-rag.ipynb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39312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.../t050_simple-local-rag.ipynb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42816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242816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242816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T004_nsclc_llm_coscientist.ipynb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242816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.../T004_nsclc_llm_coscientist.ipynb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46320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846320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846320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pde5_harness/ (폴더)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46320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github.com/fourmodern/2026_aidrugdiscovery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577840"/>
            <a:ext cx="10607040" cy="7772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66928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공통 접두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https://colab.research.google.com/github/fourmodern/2026_aidrugdiscovery/blob/main/Day06_LLM_Agent/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부록 1) 노트북·Colab 링크 요약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부록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모델 · 라이브러리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286000" cy="7315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화학 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83080"/>
            <a:ext cx="8092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MolT5 (laituan245/molt5-large-*)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87752"/>
            <a:ext cx="2286000" cy="73152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단백질 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87752"/>
            <a:ext cx="8092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ESM-2/PepMLM (ChatterjeeLab/PepMLM-650M, facebook/esm2_t6_8M_UR50D), ESM-3 (EvolutionaryScale/esm3-sm-open-v1), EvoProtGrad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2286000" cy="7315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92424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392424"/>
            <a:ext cx="8092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sentence-transformers(all-mpnet-base-v2), transformers(gemma-2b-it/Qwen3), PyMuPDF, spaCy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2286000" cy="73152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97096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197096"/>
            <a:ext cx="8092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LangGraph, langchain-google-genai(Gemini), Claude Code(하네스)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01768"/>
            <a:ext cx="2286000" cy="7315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0176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화학정보학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001768"/>
            <a:ext cx="8092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RDKit, chembl-webresource-client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목록은 워크북 부록의 '주요 모델·라이브러리' 그대로 — 각 절의 설치 셀([2-1] [3-1] [3-6] [5-1] [6-3])과 1:1로 대응한다.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부록 2) 주요 모델·라이브러리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부록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한계 및 유의사항 — 오늘 실습 결과를 어떻게 다룰 것인가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82495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242B"/>
                </a:solidFill>
                <a:latin typeface="Malgun Gothic"/>
              </a:rPr>
              <a:t>생성·예측 결과는 모두 '가설'이다 — 생성 분자/펩타이드/구조/표적 점수는 실험(합성·결합·어세이·구조)으로 검증해야 한다.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78608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23744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242B"/>
                </a:solidFill>
                <a:latin typeface="Malgun Gothic"/>
              </a:rPr>
              <a:t>생성 결과는 실행마다 달라질 수 있으며(temperature·샘플링), SMILES 는 RDKit 파싱 등 유효성 확인이 필요하다.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19856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1985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64992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242B"/>
                </a:solidFill>
                <a:latin typeface="Malgun Gothic"/>
              </a:rPr>
              <a:t>일부 모델은 gated(라이선스 동의)이거나 API 키가 필요하다(gemma, Gemini). 키는 노트북에 저장하지 않는다.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61104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6110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0624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242B"/>
                </a:solidFill>
                <a:latin typeface="Malgun Gothic"/>
              </a:rPr>
              <a:t>본 교재의 서열·수치는 노트북·하네스에서 확인한 값이며, 불확실한 항목은 '확인 권장'으로 표기했다.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02352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47488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242B"/>
                </a:solidFill>
                <a:latin typeface="Malgun Gothic"/>
              </a:rPr>
              <a:t>PDE5 하네스는 알려진 화학공간의 후보를 선별·정리하는 시연이며 신약 발견이 아니다. 무-날조 원칙(수치=도구 실계산값)을 준수한다.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오늘 만든 모든 산출물(SMILES · 펩타이드 · 구조 · 표적 점수 · 보고서)은 '가설'이다. 실제 검증(합성·효소 어세이·실험)은 별도임을 반드시 기억하자.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워크북 「언어모델과 에이전트 실습」(0905) · 원문 그대로 인용 · 부록 3) 한계 및 유의사항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