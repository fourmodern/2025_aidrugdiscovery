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_sci_agent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188720"/>
            <a:ext cx="4389120" cy="23940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24528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 i="0">
                <a:solidFill>
                  <a:srgbClr val="FFFFFF"/>
                </a:solidFill>
                <a:latin typeface="Malgun Gothic"/>
              </a:rPr>
              <a:t>6일차 · 5교시 — 과학을 자율로: 자율 과학의 미래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자율 과학 폐루프 · AI Scientist · 자율실험실 · 멀티오믹스·가상세포 · 동향·한계 · 실습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재직자 3과정 · 6일차(9/12) · 대규모 언어모델과 신약개발 · 이론 · 스토리 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스토리 ④→⑤ · 5교시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견고·안전한 에이전트 → 자율 과학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17904"/>
            <a:ext cx="10515600" cy="566928"/>
          </a:xfrm>
          <a:prstGeom prst="roundRect">
            <a:avLst/>
          </a:prstGeom>
          <a:solidFill>
            <a:srgbClr val="E9EDF1"/>
          </a:solidFill>
          <a:ln w="9525">
            <a:solidFill>
              <a:srgbClr val="8A9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A636B"/>
                </a:solidFill>
                <a:latin typeface="Malgun Gothic"/>
              </a:rPr>
              <a:t>1–4교시 </a:t>
            </a:r>
            <a:r>
              <a:rPr sz="1100" b="0" i="0">
                <a:solidFill>
                  <a:srgbClr val="1C242B"/>
                </a:solidFill>
                <a:latin typeface="Malgun Gothic"/>
              </a:rPr>
              <a:t>LLM 원리·과학LM → 활용·RAG·환각 통제 → 에이전트 원리·사례 → 하네스·보안·안전</a:t>
            </a:r>
            <a:r>
              <a:rPr sz="1100" b="1" i="0">
                <a:solidFill>
                  <a:srgbClr val="009CD8"/>
                </a:solidFill>
                <a:latin typeface="Malgun Gothic"/>
              </a:rPr>
              <a:t>   →   </a:t>
            </a:r>
            <a:r>
              <a:rPr sz="1100" b="1" i="0">
                <a:solidFill>
                  <a:srgbClr val="6A4C93"/>
                </a:solidFill>
                <a:latin typeface="Malgun Gothic"/>
              </a:rPr>
              <a:t>5교시 </a:t>
            </a:r>
            <a:r>
              <a:rPr sz="1100" b="0" i="0">
                <a:solidFill>
                  <a:srgbClr val="1C242B"/>
                </a:solidFill>
                <a:latin typeface="Malgun Gothic"/>
              </a:rPr>
              <a:t>발견 폐루프 전체를 자율화한다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95728"/>
            <a:ext cx="5303520" cy="8686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A. 자율 과학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95728"/>
            <a:ext cx="5212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폐루프·AI Scientist·AI co-scientist·Virtual 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93008"/>
            <a:ext cx="5303520" cy="86868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93008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B. 자율실험실·오믹스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93008"/>
            <a:ext cx="5212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self-driving lab·A-Lab·멀티오믹스·가상세포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90288"/>
            <a:ext cx="5303520" cy="86868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90288"/>
            <a:ext cx="5120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</a:rPr>
              <a:t>C. 동향·한계·실습 예고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90288"/>
            <a:ext cx="5212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C242B"/>
                </a:solidFill>
                <a:latin typeface="Malgun Gothic"/>
              </a:rPr>
              <a:t>2024–26 동향·냉정한 한계·전망·실습(3H)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76072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779007"/>
            <a:ext cx="2286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용어 · 자율 과학(Autonomous Science)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779007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AI가 가설 생성→실험 설계→실행→분석→가설 갱신의 발견 폐루프를 사람 개입 최소로 반복하는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Lu et al. 2024 (The AI Scientist); Boiko et al. 2023 (Coscientist, Nature)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자율 과학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가설부터 논문까지, AI가 과학을 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자율 과학이란 무엇인가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과학의 본질은 '가설-실험-검증'의 반복 폐루프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AI는 이 각 단계를 가속·자동화한다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도구 증강(2교시 RAG) → 에이전트(3교시 자율 도구 사용) → 자율 과학(폐루프 반복)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연속적 확장선상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사람의 역할이 '실행'에서 '질문·감독·검증·책임'으로 이동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자동화될수록 감독이 더 중요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242B"/>
                </a:solidFill>
                <a:latin typeface="Malgun Gothic"/>
              </a:rPr>
              <a:t>완전 자율은 아직 없음 — 현실은 좁은 도메인의 '가속'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오늘 냉정하게 구분한다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Wang et al. 2023 (Scientific discovery in the age of AI, Nature 620:47)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폐루프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자율 과학의 폐루프(closed loop)</a:t>
            </a:r>
          </a:p>
        </p:txBody>
      </p:sp>
      <p:pic>
        <p:nvPicPr>
          <p:cNvPr id="6" name="Picture 5" descr="sci_closed_loop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6409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23543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3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① 가설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4952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② 실험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③ 실행(로봇/시뮬)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7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7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④ 분석·해석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9176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⑤ 가설 갱신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3교시 에이전트가 '한 사이클'이라면, 자율 과학은 이 폐루프를 스스로 반복하며 발견을 누적. 4교시 하네스·보안이 이 반복을 '믿을 수 있게' 만든다. 중심의 사람은 감독·검증 역할.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Boiko et al. 2023 (Coscientist, Nature 624:570); Google 2025 (AI co-scientist)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단계별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폐루프 각 단계에 붙는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0876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AI/에이전트 도구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50876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연결 교시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① 가설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19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문헌·KG·오믹스로 가설·타겟 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74519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2·3교시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②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41448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실험 설계·프로토콜·계산 파이프라인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41448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3·4교시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③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008376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로봇 자동화·분자 시뮬·가상 스크리닝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08376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SDL·4교시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④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575303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통계·오믹스 분석·결과 해석·시각화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75303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2·4교시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42231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142231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⑤ 갱신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142231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결과로 가설 수정→다음 실험 우선순위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42231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active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강의 종합 (1–4교시 연계)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자율성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자율성 스펙트럼 — 어디까지 맡길까</a:t>
            </a:r>
          </a:p>
        </p:txBody>
      </p:sp>
      <p:pic>
        <p:nvPicPr>
          <p:cNvPr id="6" name="Picture 5" descr="autonomy_spectrum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6409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23543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3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L0 수동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4952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L1 보조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L2 협업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7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7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L3 감독하 자율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9176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L4 완전 자율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L1 코파일럿(초안·요약) → L2 사람+AI 팀(Virtual Lab) → L3 감독하 폐루프(A-Lab, SDL) → L4 완전 자율(AI Scientist, 아직 데모). 신약·임상은 규제로 L3 이상 진입이 특히 느리다.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자율주행 SAE 레벨 유추(개념 설명용); 본 강의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AI 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The AI Scientist — 논문까지 자동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아이디어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연구 아이디어 자동 생성·참신성 평가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실험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코드 작성·실행·결과 수집(반복 디버깅)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집필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논문 초안·그림·서술 자동 작성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리뷰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LLM 리뷰어로 자기 평가·개선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도메인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주로 ML 연구(확산모델·언어모델 등)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의의 ·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'발견→집필→리뷰' 전자동 시연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논문 1편당 저비용(~수 달러) 다수 탐색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완전 자율(L4)의 상징적 데모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창의성·검증 한계, 품질 편차·환각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좁은 ML 도메인, 신약 직접 적용은 초기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Lu et al. 2024 (The AI Scientist, arXiv:2408.06292, Sakana AI)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AI Scientist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The AI Scientist — v2와 그 한계</a:t>
            </a:r>
          </a:p>
        </p:txBody>
      </p:sp>
      <p:pic>
        <p:nvPicPr>
          <p:cNvPr id="6" name="Picture 5" descr="ai_scientist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874519"/>
            <a:ext cx="4709160" cy="262836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46504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v2(2025): 트리 탐색으로 아이디어·실험을 확장·재시도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사람이 준 코드 템플릿 의존도 낮춤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60904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자기생성 논문 1편이 워크숍 심사를 통과했다고 주장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단 저자·주최측 사전 합의하 실험, '확인 권장'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575304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LLM 자기 리뷰는 관대·일관성 부족 — 인간 피어리뷰 대체 불가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2교시 검증 원칙과 직결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489704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결론: 인상적 데모이나 '자동 과학자'가 아니라 '자동 초안 생성기'에 가깝다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과대해석 경계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Lu et al. 2024 (arXiv:2408.06292); Sakana AI 2025 (v2, 워크숍 통과 주장 — 확인 권장)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AI co-scientist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AI co-scientist — 가설 생성 멀티에이전트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구조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Google, Gemini 2.0 기반 다수 전문 에이전트(2025.2)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에이전트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생성·반영(비평)·랭킹·진화·근접·메타리뷰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경쟁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가설끼리 토너먼트(Elo) — 자기대국으로 개선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검증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약물 재창출·표적 발굴 등 in-silico 가설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실증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일부 가설을 실험실이 사후 확인 보고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의의 ·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새 가설을 대량 생성·순위화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'토론하는 AI 팀' 구조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전문가와 협업하는 도구 지향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가설 '생성'까지 — 실험·검증은 사람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정식 저널 게재 여부 확인 권장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Google Research 2025 (Towards an AI co-scientist, arXiv:2502.18864; 정식 게재 확인 권장)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Virtual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Virtual Lab — AI 연구팀이 과제를 수행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개념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AI PI(연구책임자)가 AI 에이전트 팀을 지휘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팀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면역학·ML·계산생물학 전문 AI + 사람 1명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회의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에이전트 팀 회의로 설계·의사결정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성과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COVID-19 변이 대응 나노바디 후보 설계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검증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설계 후보를 실험실에서 실제 검증 보고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의의 ·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'AI 연구팀' 협업 구조의 대표 사례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사람은 소수 개입(방향·검증)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L2 협업형 자율 과학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과제·도메인 특화, 일반화는 별개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bioRxiv 단계 — 정식 게재 확인 권장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Swanson et al. 2024 (The Virtual Lab, bioRxiv; 정식 게재 확인 권장)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Coscientist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Coscientist(2023) — 자율 화학 실험의 초기 원형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두뇌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GPT-4가 계획·추론·코드 작성 (2023 초기 사례)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도구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웹 검색·문서 읽기·파이썬 실행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실행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클라우드/로봇 랩을 직접 제어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과제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교차 커플링 반응 조건 자율 최적화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검증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실제 실험 실행으로 결과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의의 ·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LLM이 습식 실험을 폐루프로 수행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'추론+도구+실행'의 통합 시연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신약 SDL의 화학 원형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화학 반응 최적화 범위로 한정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초기 사례 — 이후 다중 에이전트로 발전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Boiko et al. 2023 (Autonomous chemical research with LLMs, Nature 624:570)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FutureHouse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Robin·PaperQA2 — 문헌 기반 발견 자동화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PaperQA2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문헌 QA·요약을 사람 이상 수준으로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Robin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문헌→가설→실험 데이터 분석 통합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사례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안질환(건성 AMD) 치료 후보 제안 보고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구조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다수 전문 에이전트 협업(3교시)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지향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오픈 과학 에이전트 생태계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의의 ·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문헌 탐색·가설의 자동화 도구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실제 후보 도출 사례 보고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실무 도입 가까운 유형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가설·분석 보조 — 최종 검증은 사람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일부 결과 정식 게재 확인 권장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Skarlinski et al. 2024 (PaperQA2); Ghareeb et al. 2025 (Robin, FutureHouse — 확인 권장)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협업형 자율 과학 — 시스템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주역할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5544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자율수준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55448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2468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AI Scientist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920240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ML 논문 전자동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20240"/>
            <a:ext cx="20116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L4(데모)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920240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LLM 자기리뷰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8716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87168"/>
            <a:ext cx="2468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AI co-scientist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487168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가설 생성·랭킹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487168"/>
            <a:ext cx="20116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L3 감독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487168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in-silico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5409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54096"/>
            <a:ext cx="2468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Virtual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054096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AI팀 과제수행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054096"/>
            <a:ext cx="20116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L2 협업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054096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습식 실험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21024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621024"/>
            <a:ext cx="2468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Robin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621024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문헌→가설→분석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621024"/>
            <a:ext cx="20116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L2–L3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621024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세포 실험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87952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187952"/>
            <a:ext cx="2468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Coscientist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187952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자율 화학 실험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187952"/>
            <a:ext cx="20116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L3 감독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187952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로봇 실행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완전 자율(AI Scientist)보다 현실적인 건 '사람+AI 협업'. Virtual Lab·Coscientist처럼 습식·로봇 실험으로 검증까지 닫는 시스템이 신약에 더 가깝다.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Swanson 2024; Google 2025; Boiko 2023 (Coscientist); Ghareeb et al. 2025 (Robin, FutureHouse — 확인 권장)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2025–26 신약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다중 에이전트 신약 — 최신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TxAgent/Agentic-Tx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Google, Gemini 2.0 기반 치료 태스크 자율 실행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PharmAgents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다중 에이전트 신약 파이프라인(2025.3)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DiscoVerse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추적가능(traceable) 제약 co-scientist(2025.11)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MADD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multi-agent drug discovery(EMNLP 2025)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흐름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단일 LLM → 다중 에이전트 co-scientist로 이동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의의 ·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가설·설계·분석을 팀으로 분업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추적성(traceability)·검증 내장 지향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2교시 RAG + 3교시 multi-agent 결합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대부분 preprint·초기 단계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정식 게재·산업 배치 확인 권장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TxAgent/Agentic-Tx (Google); PharmAgents 2025.3; DiscoVerse arXiv:2511.18259 (2025.11); MADD (EMNLP 2025) — 확인 권장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멀티에이전트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자율 과학의 멀티에이전트 패턴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역할 분담(3교시 확장)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생성자: 가설·후보 제안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비평자: 결함·반례 지적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랭커: 우선순위·점수화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정제자: 피드백 반영·개선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왜 팀 구조인가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단일 에이전트의 편향·환각 완화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토너먼트·토론으로 품질 향상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역할별 도구·프롬프트 특화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사람은 '심판'으로 개입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Google 2025 (AI co-scientist); Swanson 2024 (Virtual Lab); 3교시 multi-agent 연계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검증 병목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'검증'이 자율 과학의 핵심인가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폐루프의 위험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각 단계 오차가 다음 단계로 증폭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환각 가설 → 낭비된 실험·자원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자기 리뷰는 관대 — 오류 걸러내지 못함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자율성↑ = 사람이 볼 지점↓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그래서 필요한 것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각 단계 근거·출처(2교시 RAG)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독립 검증·재현(seed·버전 고정)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인간 승인 게이트(4교시 안전)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실패를 기록·학습(감사 로그)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자율 과학이 '빨라진다'는 건 곧 '틀려도 빨리 틀린다'는 뜻. 속도를 살리려면 검증·감독을 폐루프 안에 설계로 넣어야 한다 — 2·4교시가 5교시의 전제.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Ji et al. 2023 (Survey of hallucination); 본 강의 종합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자율실험실 · 멀티오믹스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in-silico를 넘어 물리세계·세포로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SDL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self-driving lab — 물리세계 폐루프</a:t>
            </a:r>
          </a:p>
        </p:txBody>
      </p:sp>
      <p:pic>
        <p:nvPicPr>
          <p:cNvPr id="6" name="Picture 5" descr="self_driving_lab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6409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23543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3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AI 제안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4952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로봇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측정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7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7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학습·갱신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9176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다음 제안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self-driving lab(SDL) = AI가 '무엇을 실험할지' 정하고(active learning/베이지안 최적화) 로봇이 수행·측정 → 결과로 모델 갱신 → 다음 실험 제안. 사람 개입 최소의 물리세계 폐루프.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Häse et al. 2019; Coley et al. 2019 (autonomous synthesis, Science)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SDL의 두뇌 — active learning·베이지안 최적화</a:t>
            </a:r>
          </a:p>
        </p:txBody>
      </p:sp>
      <p:pic>
        <p:nvPicPr>
          <p:cNvPr id="6" name="Picture 5" descr="active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0"/>
            <a:ext cx="4754880" cy="2593571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46504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실험은 비싸다 → '가장 정보량 큰 다음 실험'을 골라야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무작정 다 해볼 수 없음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60904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모델이 예측+불확실성을 내고, 획득함수로 다음 후보 선택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탐색 vs 활용 균형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575304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결과를 다시 학습 → 몇 사이클 만에 최적 영역 수렴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실험 횟수 대폭 절감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489704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SDL·신약 최적화의 '의사결정 엔진' — 로봇은 손, 이건 머리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A-Lab·Coscientist 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Häse et al. 2018 (Phoenics); Gómez-Bombarelli et al. 2018; 본 강의 4교시 연계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클라우드랩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원격·클라우드 실험실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Emerald Cloud Lab·Strateos 등 — 코드로 원격 실험을 예약·실행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실험을 API로 호출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Coscientist가 제어한 것도 이런 프로그래머블 랩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LLM→클라우드랩 연결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장점: 재현성(프로토콜=코드)·표준화·원격 협업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실패도 정확히 기록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한계: 지원 장비·assay 범위 제한, 비용, 물리 병목은 여전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만능 아님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Boiko et al. 2023 (Coscientist가 클라우드랩 활용); Emerald Cloud Lab·Strateos 문서 (확인 권장)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A-Lab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A-Lab — 자율 재료 합성 실험실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무엇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Berkeley 자율 실험실(로봇+AI 폐루프)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동작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계산 예측→로봇 합성→분석→학습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성과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17일간 목표 58종 중 신물질 41종 합성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규모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약 355회 실험을 사람 개입 없이 수행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의의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물리세계 자율 실험의 대표 실증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의의 ·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24/7 자율 실험 가동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계산-실험 폐루프 닫음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발견 속도 대폭 가속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재료 분야 사례(신약은 진행중)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일부 특성분석에 학계 이견 존재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Szymanski et al. 2023 (A-Lab, Nature 624:86, 10.1038/s41586-023-06734-w)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A-Lab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A-Lab을 냉정하게 읽기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성과: 계산DB(Materials Project) 후보→로봇 합성→XRD 분석→ML 판정의 완전 폐루프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'사람 없는 발견'을 물리세계에서 시연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의의: 실험 설계·실행·해석·의사결정을 AI가 연결 — 데모가 아닌 실증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24/7 무중단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비판(2023-24): 일부 '신물질' 판정이 XRD 특성분석상 기존 상과 구분 불충분이란 반론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과학적 검증의 어려움을 보여준 사례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교훈: 자율성만큼 '검증 기준'이 성패를 가른다 — 신약에도 그대로 적용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5교시 핵심과 연결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'AI가 41종을 발견'이라는 헤드라인만 보지 말 것. 무엇을 '발견'으로 인정하는가(검증 기준)가 자율 과학의 진짜 쟁점. 재료에서의 논쟁은 신약에서 더 첨예해진다.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Szymanski et al. 2023 (Nature); Leeman et al. / Palgrave 등 특성분석 관련 논평 (확인 권장)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SDL 신약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자율실험실을 신약개발로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구성 요소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로봇 자동화(분주·합성·측정)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AI 실험 설계(active learning·BO)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고속 assay·분석 파이프라인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폐루프: 제안→실행→측정→학습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신약 적용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고속 합성·스크리닝 자동화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DMTA 물리 사이클 가속(3·4교시)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에이전트가 실험 오케스트레이션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화합물 최적화 탐색 공간 축소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Coley et al. 2019 (Science); Boiko et al. 2023 (Coscientist, Nature)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DMTA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DMTA 물리 사이클을 자율로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DMTA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544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전통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5544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자율실험실(SDL)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2024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화학자 직관·수동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920240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생성모델+AI 제안(active learning)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2374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23744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23744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수 주 수작업 합성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523744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로봇 자동 합성·병렬화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2724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2724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127248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개별 assay 수동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127248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자동 assay·고속 측정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3075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30752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730752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엑셀·수동 해석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73075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자동 분석→모델 갱신→다음 제안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3·4교시의 DMTA가 '가상(in-silico) 가속'이었다면, SDL은 '물리(습식) 가속'. 두 사이클을 붙이면 설계-합성-평가 전체가 폐루프로 돈다 — 자율 신약개발의 뼈대.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Schneider 2018; 본 강의 3·4교시 연계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멀티오믹스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멀티오믹스 통합 — 데이터가 커진다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유전체·전사체·단백체·대사체·공간(spatial)·단일세포 통합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서로 다른 층위를 함께 해석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파운데이션 모델로 이질적 오믹스를 하나의 표현공간에 임베딩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세포 FM(scGPT 등) + 치료제 FM TxGemma(Google 2025.4, TDC 66태스크)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타겟 발굴·환자 층화·기전 규명·바이오마커에 활용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정밀의료의 데이터 기반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에이전트가 오믹스 분석 파이프라인을 자동 오케스트레이션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4교시 도구·스킬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Cui et al. 2024 (scGPT, Nat Methods); Hao et al. 2024 (scFoundation); TxGemma arXiv:2504.06196 (Google 2025)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오믹스 FM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멀티오믹스 파운데이션 모델</a:t>
            </a:r>
          </a:p>
        </p:txBody>
      </p:sp>
      <p:pic>
        <p:nvPicPr>
          <p:cNvPr id="6" name="Picture 5" descr="multiomics_fm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7256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23543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3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다층 오믹스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4952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통합 임베딩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파운데이션 모델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7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7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전이 학습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9176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다운스트림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수천만 세포·다층 오믹스로 자기지도 사전학습 → 통합 표현공간 → 세포유형 주석·유전자 네트워크·교란 반응 등 다운스트림에 전이. 1교시 단백질 LM(ESM)의 '세포·오믹스판'.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Cui et al. 2024 (scGPT, Nat Methods); Theodoris et al. 2023 (Geneformer, Nature)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단일세포 FM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단일세포 파운데이션 모델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0876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사전학습 규모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특징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scGPT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74519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약 3,300만 세포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생성형 트랜스포머, 다과제 미세조정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Geneformer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41448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약 3,000만 세포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41448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유전자 순위 인코딩, 네트워크 추론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scFoundation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008376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약 5,000만 세포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08376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대규모, 결측·교란 반응 예측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CellFM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575303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규모 확인 권장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75303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대규모 단일세포 FM(2025, 확인 권장)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42231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142231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UCE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142231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다종·수백만 세포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142231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종 초월 세포 임베딩(universal)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공통 아이디어: '유전자=토큰, 세포=문장'으로 대규모 자기지도 학습. ⚠ 정직한 한계: 섭동(perturbation) 예측 벤치에서 단순 PCA/baseline이 여전히 우세한 경우 다수(arXiv:2410.13956) — 파운데이션 우위 과장 금지.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Cui 2024 (scGPT); Theodoris 2023 (Geneformer); Hao 2024 (scFoundation); CellFM·UCE (확인 권장); perturbation 벤치 arXiv:2410.13956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가상세포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AI Virtual Cell — 세포를 시뮬레이션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비전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세포를 in-silico로 모사하는 파운데이션 모델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입력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멀티오믹스+이미징 대규모 학습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표현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세포의 '보편 표현(universal rep.)' 학습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예측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약물·유전자 교란에 대한 반응 예측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활용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실험 전 가상 스크리닝·기전 가설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의의 ·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실험 전 in-silico 예측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교란(perturbation) 반응 시뮬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자율 과학의 '시뮬레이터'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아직 비전·초기 단계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검증·데이터 규모·해석 과제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Bunne et al. 2024 (How to build the virtual cell with AI, Cell 187:7045)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가상세포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가상세포 — 어디까지 왔나</a:t>
            </a:r>
          </a:p>
        </p:txBody>
      </p:sp>
      <p:pic>
        <p:nvPicPr>
          <p:cNvPr id="6" name="Picture 5" descr="virtual_cell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874519"/>
            <a:ext cx="4709160" cy="262836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008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46504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CZI 등 컨소시엄이 대규모 세포 데이터·모델 구축 추진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오픈 생태계 지향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60904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교란 반응 예측 모델이 등장 중이나, 아직 좁은 조건·검증 초기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'세포 전체 시뮬'과는 거리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575304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의의: 성공하면 습식 실험 전 후보를 대량 사전 선별 가능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자율 폐루프의 in-silico 검증기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489704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냉정: 현재는 '비전 논문+초기 모델' 단계 — 임상 예측력은 미검증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과대광고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Bunne et al. 2024 (Cell 187:7045); Chan Zuckerberg Initiative 2024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구조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2024 구조 예측 — AF3와 Boltz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AlphaFold3 (2024)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단백질+리간드+핵산+이온 복합체 예측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도킹·상호작용을 한 모델로 확장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확산(diffusion) 기반 생성 헤드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초기엔 서버 한정→코드 공개 확대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Boltz-1 / 오픈 모델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AF3급 성능의 오픈소스 재현(MIT)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상업 활용 가능한 라이선스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커뮤니티가 빠르게 개선·확장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자율 파이프라인에 삽입 용이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Abramson et al. 2024 (AlphaFold3, Nature); Wohlwend et al. 2024 (Boltz-1)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노벨상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2024 노벨화학상 — 왜 상징적인가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David Baker: 계산 단백질 '설계'(de novo design) 공로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1교시 ProteinMPNN·RFdiffusion 계열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Demis Hassabis · John Jumper: AlphaFold의 단백질 '구조 예측'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1교시 구조 예측 혁명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AI가 생명과학의 근본 문제 해결에 기여했음을 제도권이 인정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계산+실험의 융합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의미: 자율 과학의 '엔진'(단백질 FM)이 이미 최고 수준에 도달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도구는 준비됐다 — 문제는 통합·검증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노벨상은 '단일 도구'의 성취. 자율 과학은 이런 도구들을 폐루프로 엮는 다음 단계 — 개별 엔진은 강력하나, 이를 안전하게 통합하는 것이 남은 숙제.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The Nobel Prize in Chemistry 2024 (nobelprize.org); Jumper et al. 2021; Watson et al. 2023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동향·한계·전망·실습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냉정하게, 그리고 직접 만들어보기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동향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2024–2026 자율 과학 동향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19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동향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17319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내용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247120" cy="42062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31089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과학 자동화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83080"/>
            <a:ext cx="79552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AI Scientist·AI co-scientist(2025.2)·Virtual 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58568"/>
            <a:ext cx="1124712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31089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다중 에이전트 신약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258568"/>
            <a:ext cx="79552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PharmAgents·DiscoVerse·MADD·TxAgent(2025–26)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34056"/>
            <a:ext cx="11247120" cy="42062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34056"/>
            <a:ext cx="31089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자율실험실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734056"/>
            <a:ext cx="79552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A-Lab 등 로봇+AI 폐루프 실증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9544"/>
            <a:ext cx="1124712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09544"/>
            <a:ext cx="31089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파운데이션모델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209544"/>
            <a:ext cx="79552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단백질·오믹스·가상세포·치료제(TxGemma)로 확장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85032"/>
            <a:ext cx="11247120" cy="42062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685032"/>
            <a:ext cx="31089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구조 예측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685032"/>
            <a:ext cx="79552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AlphaFold3·Boltz 복합체 예측·오픈화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60520"/>
            <a:ext cx="1124712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160520"/>
            <a:ext cx="31089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상용 과학 에이전트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160520"/>
            <a:ext cx="79552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Claude for LS·Gemini for Science(3교시)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36008"/>
            <a:ext cx="11247120" cy="42062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636008"/>
            <a:ext cx="31089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표준·생태계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636008"/>
            <a:ext cx="79552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MCP·에이전트 스킬·평가 정착(4교시)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2024–26은 '자율 과학'이 데모에서 실증으로, 단일 LLM에서 다중 에이전트 co-scientist로 이동한 시기. 단 대부분 좁은 도메인·감독하 협업 — 완전 자율은 아직. 신약은 가장 어렵고 규제도 강한 분야.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Nobel Prize 2024; Lu 2024; Szymanski 2023; Abramson 2024; Anthropic·Google 2025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성숙도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자율 과학, 지금 어디쯤인가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성숙도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5544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예시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데모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20240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제한 조건 시연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920240"/>
            <a:ext cx="4572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AI Scientist v1/v2, 가상세포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05456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실증(PoC)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05456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실제 실험으로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505456"/>
            <a:ext cx="4572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A-Lab, Virtual Lab, Coscientist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90672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90672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실용(제한)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90672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현장에 일부 도입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090672"/>
            <a:ext cx="4572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문헌·분석 에이전트, SDL 일부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75887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75887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일상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675887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표준 워크플로우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675887"/>
            <a:ext cx="4572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아직 — 특히 신약·임상은 초기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기사 헤드라인은 '데모'를 '일상'처럼 말한다. 재직자는 이 넷을 구분해야 한다 — 지금 실무에 쓸 수 있는 건 주로 '문헌·분석·설계 보조'(실용 초입)까지.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강의 종합; Gartner Hype Cycle 유추(개념 설명용)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임상 현실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AI가 설계한 신약, 지금 어디까지 왔나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54480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현황(확인 권장)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3108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Insilico INS018_055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920240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AI 발굴 타겟+AI 설계 분자, 폐섬유증(IPF) 2상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8716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87168"/>
            <a:ext cx="3108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Exscientia DSP-1181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87168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최초의 AI 설계 분자 1상 진입(2020)·이후 중단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5409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54096"/>
            <a:ext cx="3108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Recursion/Exscientia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054096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2024 합병 — 대규모 AI 신약 플랫폼화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21024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621024"/>
            <a:ext cx="3108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Isomorphic 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621024"/>
            <a:ext cx="79552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DeepMind 계열, 제약사 제휴(임상 전 단계)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핵심: AI는 '발굴·설계'를 가속했지만, 승인된 'AI 단독 신약'은 아직 없다. 임상 성패는 여전히 사람·시간·생물학이 결정 — 자율 과학의 앞단만 빨라진 것.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Insilico Medicine 2023–25; Exscientia 2020; Recursion 2024 (모두 정식 서지·최신 현황 확인 권장)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자율 과학을 어떻게 신뢰하나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재현성: seed·모델버전·데이터·프롬프트를 고정·기록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4교시 프로비넌스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근거성: 모든 주장에 출처·인용(2교시 RAG·검증)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환각 차단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독립 검증: 자기 리뷰 금지 — 사람/외부 도구로 재확인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AI Scientist 교훈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벤치마크 주의: 좋은 점수 ≠ 실제 발견력 — 누출·과적합 경계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오믹스 FM 논쟁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강의 2·4교시 연계; Wang et al. 2023 (Nature 620:47)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한계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한계 ① 검증 병목 · 환각 증폭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환각·오류가 폐루프에서 다음 단계로 증폭된다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가설 오류 → 낭비된 실험·비용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자기 리뷰(LLM reviewer)는 관대·비일관 — 인간 검증 대체 불가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AI Scientist의 핵심 약점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무엇을 '발견/성공'으로 인정할지 기준 설계가 성패를 좌우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A-Lab 특성분석 논쟁이 실례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검증 없는 자율은 위험 — 속도가 오류도 가속한다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2·4교시 원칙이 전제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자율성을 높일수록 사람이 결과를 볼 지점이 줄어든다. 그래서 '인간 승인 게이트'와 '독립 검증'을 폐루프 설계 단계에서 넣어야 한다(4교시 안전).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Ji et al. 2023 (hallucination survey); Szymanski 2023 관련 논평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한계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한계 ② 좁은 도메인 · 일반화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성공 사례는 대부분 좁고 잘 정의된 문제(재료 합성·나노바디 설계)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경계 조건이 명확한 과제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좁은 도메인 성공 ≠ 일반 과학 자동화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전이는 자동으로 되지 않음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신약은 다단계·다분야·불확실성이 커 자동화 난도 최상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타겟→후보→전임상→임상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벤치마크 성능이 실제 발견력으로 이어진다는 보장 없음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오믹스 FM 논쟁이 실례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'AI가 신물질 41종 발견'을 '이제 AI가 신약도 알아서 만든다'로 확대해석하면 안 된다. 도메인마다 데이터·검증·규제 조건이 전혀 다르다.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Wang et al. 2023 (Nature 620:47); Kedzierska et al. 2023 (scFM 벤치마크 비판 — 확인 권장)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한계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한계 ③ 데이터 · 습식실험 · 임상 병목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in-silico 예측은 습식 실험·임상을 '대체'하지 못한다 — 보완일 뿐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가상세포도 아직 예측기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고품질·표준화된 실패 데이터 부족(음성 결과는 잘 공유 안 됨)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폐루프 학습의 연료 결핍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습식 실험은 여전히 느리고 비싸다 — SDL도 장비·시약 비용 큼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완전 자율의 물리적 제약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임상은 사람·시간·윤리가 개입 — 압축 불가한 병목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AI로 못 줄이는 구간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강의 종합; Wang et al. 2023 (Nature)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한계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한계 ④ 책임 · 재현 · 윤리 · 규제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위험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책임 소재 불분명(AI가 틀리면 누가?)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재현성 — seed·버전·데이터 미고정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dual-use(유해물질 설계 악용)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데이터 편향·프라이버시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필요한 통제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인간 감독·승인 게이트(4교시)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감사 로그·프로비넌스 기록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접근 통제·안전 필터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규제 적합성(FDA/EMA)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2025년 기준, AI가 '단독으로' 설계·승인시킨 신약은 없다. FDA도 AI 활용 신약 심사 프레임을 정비 중 — 자율성이 커질수록 규제·책임 설계가 더 중요.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Urbina et al. 2022 (dual-use, Nat Mach Intell); FDA 2025 (AI in drug development, 논의 단계 — 확인 권장)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신약 특수성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신약이 가장 어려운 도메인인가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요인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544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자율화를 막는 이유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다단계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8229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타겟→후보→전임상→임상, 각 단계 실패율 높음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8716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87168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긴 주기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87168"/>
            <a:ext cx="8229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10년+·수천억 원 — 폐루프 한 바퀴가 느리다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5409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5409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검증 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054096"/>
            <a:ext cx="8229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세포·동물·사람에서 결과가 자주 뒤집힘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21024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621024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규제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621024"/>
            <a:ext cx="8229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안전·윤리·문서화 — 자동화가 곧 승인은 아님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87952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187952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187952"/>
            <a:ext cx="8229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음성·실패·임상 데이터 희소·비공개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98932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99846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99846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'AI가 과학자를 대체한다'는 과장. 현실은 '사람+AI 협업으로 앞단을 가속'. AI 결과는 가설 — 반드시 실험·임상으로 검증한다.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Wang et al. 2023 (Nature); 본 강의 종합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43/48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전망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전망 — 우리는 어디로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가까운 미래(1–3년)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에이전트가 문헌·분석·초안 일상화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SDL로 특정 단계 자율 가속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과학 LM·오믹스 FM 실무 확산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구조·복합체 예측이 표준 부품화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먼 미래(5–10년)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협업형 자율 과학의 폭넓은 정착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가상세포·시뮬로 실험 전 예측 강화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SDL이 특정 파이프라인 상시 가동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사람은 '질문·검증·책임'에 집중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Wang et al. 2023 (Scientific discovery in the age of AI, Nature 620:47)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44/48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재직자 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무엇을 준비할 것인가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470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465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도구 리터러시: 에이전트·RAG·MCP를 실무에 붙이는 능력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오늘 실습의 목표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614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609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검증 리터러시: AI 결과를 근거·재현성으로 의심·확인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2교시 핵심 역량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758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753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문제 정의력: '좋은 질문'과 '검증 가능한 가설'을 설계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AI가 대체 못 하는 부분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902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89704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안전·규제 감각: 감사·승인 게이트·프로비넌스 습관화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4교시 실무 직결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자율 과학 시대에 대체되는 건 '단순 실행'이고, 귀해지는 건 '질문·판단·책임'. 재직자는 AI를 '팀원'으로 쓰되 검증·책임의 최종 주체로 남는다.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강의 종합 (1–5교시)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45/48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실습 미리보기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실습(3H) — Claude Code 기반 과학 에이전트 구축</a:t>
            </a:r>
          </a:p>
        </p:txBody>
      </p:sp>
      <p:pic>
        <p:nvPicPr>
          <p:cNvPr id="6" name="Picture 5" descr="arch_sci_agent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6409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23543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3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자연어 지시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4952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도구 선택·실행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결과 종합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7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7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검증·인용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9176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보고서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'타겟 X의 후보물질을 조사해줘' 한 줄 → PubMed·UniProt·ChEMBL·RDKit·ADMET을 MCP 도구로 자율 호출(4교시) → 타겟 조사·후보 검색·ADMET 예측·보고서까지 작은 폐루프. 근거 인용·최소권한·감사로그·인간 승인 게이트로 검증(2·4교시).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실습 3H 예고 (Claude Code · MCP 도구)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46/48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5교시 &amp; 6일차 이론 정리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73352"/>
            <a:ext cx="10058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자율 과학 = 가설→실험→분석→논문 폐루프의 자동화(스펙트럼)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완전 자율 아님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24328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24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06040"/>
            <a:ext cx="10058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시스템: AI Scientist·AI co-scientist·Virtual Lab·Coscientist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57016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5701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38728"/>
            <a:ext cx="10058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물리·데이터: A-Lab(SDL)·멀티오믹스·가상세포·AF3/Boltz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89704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8970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71416"/>
            <a:ext cx="10058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한계: 검증 병목·좁은 도메인·데이터/임상·규제 — 사람+AI 협업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냉정하게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422392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223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404104"/>
            <a:ext cx="10058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다음: 실습(3H)에서 Claude Code 과학 에이전트 직접 구축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오늘 배운 1–5교시를 손으로 — 작지만 '진짜' 폐루프. 6일차 완주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6일차 이론(1–5교시) 종합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47/48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(5교시) ·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070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자율 과학 시스템: Lu et al. 2024 (The AI Scientist, arXiv:2408.06292, Sakana AI); Google Research 2025 (Towards an AI co-scientist, arXiv:2502.18864).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6070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다중 에이전트 신약(2025–26): TxAgent/Agentic-Tx (Google); PharmAgents 2025.3; DiscoVerse (arXiv:2511.18259, 2025.11); MADD (EMNLP 2025) — 확인 권장.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106070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협업형: Swanson et al. 2024 (The Virtual Lab, bioRxiv); Boiko et al. 2023 (Coscientist, Nature 624:570); Ghareeb et al. 2025 (Robin, FutureHouse).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6070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자율실험실: Szymanski et al. 2023 (A-Lab, Nature 624:86–91, 10.1038/s41586-023-06734-w); Coley et al. 2019 (autonomous synthesis, Science 365:eaax1566).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106070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오믹스·치료제 FM: Cui 2024 (scGPT); Theodoris 2023 (Geneformer); Hao 2024 (scFoundation); CellFM(2025, 확인 권장); TxGemma (arXiv:2504.06196); perturbation 벤치 arXiv:2410.13956.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06070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가상세포: Bunne et al. 2024 (How to build the virtual cell with AI, Cell 187:7045–7063); Chan Zuckerberg Initiative 2024.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48/48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(5교시) ·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구조 예측: Abramson et al. 2024 (AlphaFold3, Nature 630:493); Wohlwend et al. 2024 (Boltz-1); Jumper et al. 2021 (AlphaFold2, Nature 596:583).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동향·수상: The Nobel Prize in Chemistry 2024 (Baker; Hassabis &amp; Jumper, nobelprize.org); Watson et al. 2023 (RFdiffusion, Nature).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전망·한계: Wang et al. 2023 (Scientific discovery in the age of AI, Nature 620:47–60); Ji et al. 2023 (hallucination survey).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안전·규제: Urbina et al. 2022 (dual-use of AI drug discovery, Nat Mach Intell); FDA 2025 (AI in drug development — 논의 단계).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* 확인 권장: Virtual Lab·AI co-scientist·Robin·UCE·A-Lab 특성분석 논평·scFM 벤치마크 비판의 정식 게재 서지는 최신 상태 확인 필요.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