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arlm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97280"/>
            <a:ext cx="6035040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114800"/>
            <a:ext cx="12191695" cy="2194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Malgun Gothic"/>
              </a:rPr>
              <a:t>대규모 언어모델과 신약개발</a:t>
            </a:r>
          </a:p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09CD8"/>
                </a:solidFill>
                <a:latin typeface="Malgun Gothic"/>
              </a:rPr>
              <a:t>— LLM부터 자율 과학 에이전트까지 · 1교시: LLM 원리 &amp; 과학 언어모델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 3과정 · 6일차(9/5) · 이론 5교시 + 프로젝트(실습) · 강사 박혜진 · 재직자(3년+ 경력)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6일차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대규모 언어모델과 신약개발 — 하루 구성 (이론 4H + 프로젝트 4H)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이론 (5교시)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1교시: LLM 원리 + 과학 특화 LM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2교시: 일반 LLM 활용 + 환각·RAG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3교시: 에이전트 원리 + 신약 사례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4교시: 하네스 엔지니어링·Agentic 보안</a:t>
            </a:r>
          </a:p>
        </p:txBody>
      </p:sp>
      <p:sp>
        <p:nvSpPr>
          <p:cNvPr id="17" name="Oval 16"/>
          <p:cNvSpPr/>
          <p:nvPr/>
        </p:nvSpPr>
        <p:spPr>
          <a:xfrm>
            <a:off x="896112" y="4892040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18888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5교시: 자율 과학·멀티오믹스·전망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프로젝트 (실습 4H)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Claude Code 과학 에이전트 직접 구축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등록(function calling): PubMed·ChEMBL·RDKit·ADMET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자연어→타겟조사→후보→ADMET→보고서 자율실행</a:t>
            </a:r>
          </a:p>
        </p:txBody>
      </p:sp>
      <p:sp>
        <p:nvSpPr>
          <p:cNvPr id="28" name="Oval 27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+ 화학·단백질 LM·RAG hands-on · PDE5 하네스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6일차 목표: LLM·에이전트의 '원리'를 이해하고 신약개발에 '활용'한다. 1교시는 일반 LLM 작동원리(PART A, 박혜진 교안 도식) + 생물학·화학 과학 특화 모델(PART B, 2026 현행).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재직자 3과정 커리큘럼 · 6일차 (박혜진)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1교시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1교시에서 볼 것 — 일반 LLM 원리 → 과학 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4572000" cy="96012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A. 일반 LLM 원리 (박혜진 교안 도식)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783080"/>
            <a:ext cx="6035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RNN→LSTM→seq2seq→Attention→Q/K/V→Self/Multihead→Transformer→GPT/BERT/T5→RLHF→LLaMA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17520"/>
            <a:ext cx="4572000" cy="96012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B. 과학 언어모델 (2026 현행)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3017520"/>
            <a:ext cx="6035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생물학 LM(ESM3·ESMC·ESMFold2) · 화학 LM(ChemDFM·ChemMLLM·MolT5) · 치료제/오믹스(TxGemma·scGPT)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572000" cy="9601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4389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</a:rPr>
              <a:t>C.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251960"/>
            <a:ext cx="60350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C242B"/>
                </a:solidFill>
                <a:latin typeface="Malgun Gothic"/>
              </a:rPr>
              <a:t>일반 vs 과학 LM 대비 · 2026 지형 · 2교시(활용·환각통제)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 구성 · PART A 원리는 박혜진 교안, PART B 지형은 2026 현행으로 갱신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왜 신약개발에 LLM인가 — 과거·현재·미래</a:t>
            </a:r>
          </a:p>
        </p:txBody>
      </p:sp>
      <p:pic>
        <p:nvPicPr>
          <p:cNvPr id="6" name="Picture 5" descr="u_d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신약 지식의 대부분은 비정형 텍스트(논문·특허·실험노트). LLM은 이를 읽고 요약·추출·가설 생성 → 분자·단백질도 '언어'로(PART 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Zeng et al., LLMs in Drug Discovery &amp;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LLM이 신약개발 전주기에 들어오는 지점</a:t>
            </a:r>
          </a:p>
        </p:txBody>
      </p:sp>
      <p:pic>
        <p:nvPicPr>
          <p:cNvPr id="6" name="Picture 5" descr="u_ai_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Target ID → Hit/Lead → 최적화 → 전임상 → 임상: 각 단계에 LLM·에이전트가 접목. 오늘은 그 '언어모델' 자체의 원리부터.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AI in Drug Discovery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일반 LLM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다음 토큰 예측 → RNN → Attention → Transformer → GPT/BERT → 정렬(RLHF)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언어모델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언어모델 = 다음 문자/토큰 예측 (char-LM 예시)</a:t>
            </a:r>
          </a:p>
        </p:txBody>
      </p:sp>
      <p:pic>
        <p:nvPicPr>
          <p:cNvPr id="6" name="Picture 5" descr="u_char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'hello'를 한 글자씩: 지금까지 입력으로 다음 글자를 확률 예측 → 샘플링 → 다시 입력. 이 '자기회귀'가 GPT의 뿌리.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자기회귀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언어모델의 수식 — 자기회귀 밀도모델</a:t>
            </a:r>
          </a:p>
        </p:txBody>
      </p:sp>
      <p:sp>
        <p:nvSpPr>
          <p:cNvPr id="6" name="Round Same Side Corner Rectangle 5"/>
          <p:cNvSpPr/>
          <p:nvPr/>
        </p:nvSpPr>
        <p:spPr>
          <a:xfrm>
            <a:off x="777240" y="192024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autoregressive LM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22576"/>
            <a:ext cx="10607040" cy="1353312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14016"/>
            <a:ext cx="1024128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p(x) = ∏ᵢ p(xᵢ | x₁ … xᵢ₋₁)        </a:t>
            </a:r>
            <a:r>
              <a:rPr sz="1200">
                <a:solidFill>
                  <a:srgbClr val="7EC699"/>
                </a:solidFill>
                <a:latin typeface="Consolas"/>
              </a:rPr>
              <a:t># chain rule (다음 토큰 예측)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학습:  L = −Σᵢ log p(xᵢ | x_{&lt;i})    </a:t>
            </a:r>
            <a:r>
              <a:rPr sz="1200">
                <a:solidFill>
                  <a:srgbClr val="7EC699"/>
                </a:solidFill>
                <a:latin typeface="Consolas"/>
              </a:rPr>
              <a:t># 자기지도(라벨 불필요)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E6EDF3"/>
                </a:solidFill>
                <a:latin typeface="Consolas"/>
              </a:rPr>
              <a:t>생성:  start → 샘플링 → 피드백 → 반복  </a:t>
            </a:r>
            <a:r>
              <a:rPr sz="1200">
                <a:solidFill>
                  <a:srgbClr val="7EC699"/>
                </a:solidFill>
                <a:latin typeface="Consolas"/>
              </a:rPr>
              <a:t># 한 토큰씩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30751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739895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문장 확률 = 각 토큰 확률의 곱. '다음 단어 맞히기'를 끝까지 이어붙인 것 — 요약·추론·번역도 이 목표의 부산물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언어모델 = '지금까지의 말'을 보고 '다음 단어'를 확률로 맞히는 것. 방대한 문장으로 자기지도 학습 → 맞힌 단어를 다시 입력에 붙여 반복하면 글이 생성된다.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Bengio et al. 2003; Radford et al. 2019 (GPT-2)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RNN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RNN 역전파 — 그래디언트 소멸 문제</a:t>
            </a:r>
          </a:p>
        </p:txBody>
      </p:sp>
      <p:pic>
        <p:nvPicPr>
          <p:cNvPr id="6" name="Picture 5" descr="u_rnn_grad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같은 가중치 Wₕ를 시점마다 반복 곱 → 긴 문장에서 그래디언트가 0에 수렴(소멸) 또는 발산(폭발). 앞부분을 '잊는다'.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RNN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vanishing / exploding → 구조를 바꾸자</a:t>
            </a:r>
          </a:p>
        </p:txBody>
      </p:sp>
      <p:pic>
        <p:nvPicPr>
          <p:cNvPr id="6" name="Picture 5" descr="u_rnn_van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폭발은 gradient clipping으로, 소멸은 '구조 변경'으로 해결 → LSTM 등장.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LSTM — 게이트가 있는 기억 셀</a:t>
            </a:r>
          </a:p>
        </p:txBody>
      </p:sp>
      <p:pic>
        <p:nvPicPr>
          <p:cNvPr id="6" name="Picture 5" descr="u_lstm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cell state(기억 고속도로) + forget·input·output 게이트(0~1 수도꼭지). 덧셈적 갱신으로 장기 의존성 보존.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LSTM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LSTM 게이트 상세 — 무엇을 지우고·저장하고·내보낼까</a:t>
            </a:r>
          </a:p>
        </p:txBody>
      </p:sp>
      <p:pic>
        <p:nvPicPr>
          <p:cNvPr id="6" name="Picture 5" descr="u_lstm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매 시점 4개 게이트 계산. GRU(Cho 2014)는 게이트 2개로 단순화. 그래도 '순차 처리'라 병렬 불가 → 느림.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seq2seq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시퀀스 처리 패턴 — one/many-to-one/many</a:t>
            </a:r>
          </a:p>
        </p:txBody>
      </p:sp>
      <p:pic>
        <p:nvPicPr>
          <p:cNvPr id="6" name="Picture 5" descr="u_seq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입력·출력 길이 조합(감성분류=many-to-one, 번역=many-to-many). 번역·요약을 위한 Encoder–Decoder로 이어진다.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seq2seq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Encoder–Decoder — 문맥벡터로 압축</a:t>
            </a:r>
          </a:p>
        </p:txBody>
      </p:sp>
      <p:pic>
        <p:nvPicPr>
          <p:cNvPr id="6" name="Picture 5" descr="u_encd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인코더가 입력을 하나의 벡터로 압축→디코더가 출력 생성. 문제: 긴 문장을 벡터 하나에 다 담는 '병목' →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Sutskever et al. 2014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Attention 기초 — seq2seq 병목을 푼다</a:t>
            </a:r>
          </a:p>
        </p:txBody>
      </p:sp>
      <p:pic>
        <p:nvPicPr>
          <p:cNvPr id="6" name="Picture 5" descr="u_attn_bottlen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디코더가 매 스텝 '원문의 어디를 볼지' 가중(attention) → 고정벡터 병목 해소. Transformer의 직전 단계.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Attention (Bahdanau et al. 2015) — additive</a:t>
            </a:r>
          </a:p>
        </p:txBody>
      </p:sp>
      <p:pic>
        <p:nvPicPr>
          <p:cNvPr id="6" name="Picture 5" descr="u_attn_bahdan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정렬점수 e=vᵀtanh(W₁h+W₂s) → softmax → 가중합(context). 학습형 정렬.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Bahdanau et al. 2015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Attention (Luong et al. 2015) — dot / global·local</a:t>
            </a:r>
          </a:p>
        </p:txBody>
      </p:sp>
      <p:pic>
        <p:nvPicPr>
          <p:cNvPr id="6" name="Picture 5" descr="u_attn_lu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내적(dot) 기반 점수로 단순·효율화. global vs local attention 구분.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Luong et al. 2015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seq2seq+Attn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Sequence-to-Sequence with RNNs and Attention</a:t>
            </a:r>
          </a:p>
        </p:txBody>
      </p:sp>
      <p:pic>
        <p:nvPicPr>
          <p:cNvPr id="6" name="Picture 5" descr="u_seq2seq_at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인코더 은닉상태들 ↔ 디코더가 매 스텝 정렬점수→softmax→context 생성. 병목 없이 원문 전체를 참조.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attention 가중치 시각화 — 번역 정렬</a:t>
            </a:r>
          </a:p>
        </p:txBody>
      </p:sp>
      <p:pic>
        <p:nvPicPr>
          <p:cNvPr id="6" name="Picture 5" descr="u_attn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어느 입력 단어에 얼마나 주목했는지 히트맵으로. 대각선=순차 대응, 오프대각=어순 재배열(불어↔영어).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Q·K·V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Attention Layer — Query·Key·Value 일반화</a:t>
            </a:r>
          </a:p>
        </p:txBody>
      </p:sp>
      <p:pic>
        <p:nvPicPr>
          <p:cNvPr id="6" name="Picture 5" descr="u_attn_q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검색어(Q)로 색인(K)을 훑어 관련 내용(V)을 가중합. 이 일반화가 self-attention으로.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self-attention 핵심 수식 — Q·K·V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600200"/>
            <a:ext cx="8321040" cy="82296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1673352"/>
            <a:ext cx="795527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 i="0">
                <a:solidFill>
                  <a:srgbClr val="0B2A4A"/>
                </a:solidFill>
                <a:latin typeface="Malgun Gothic"/>
              </a:rPr>
              <a:t>Attention(Q,K,V) = softmax(QKᵀ / √dₖ) V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Query=찾는 것, Key=색인, Value=내용 (도서관 비유)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8269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18211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Q·K 유사도로 '어느 토큰에 주목할지' → softmax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4962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3749039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÷√dₖ: 내적이 커져 softmax 포화(기울기 소실)되는 것 방지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16552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6424" y="43159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모든 토큰이 서로를 '동시에' 참조 → 병렬·장거리 O(1)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검색어(Q)로 색인(K)을 뒤져 관련 내용(V)을 섞어 요약 — 그게 attention. RNN처럼 순서를 기다리지 않아 빠르고 먼 단어도 직접 참조. 부담은 O(n²)(2교시 긴 문맥·RAG로 연결).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Vaswani et al. 2017 (Attention Is All You Need)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Self-Attention Layer</a:t>
            </a:r>
          </a:p>
        </p:txBody>
      </p:sp>
      <p:pic>
        <p:nvPicPr>
          <p:cNvPr id="6" name="Picture 5" descr="u_selfat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입력 벡터마다 자기 자신의 Q/K/V를 만들어 서로 참조. 순서 정보는 positional encoding으로 주입.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Masked Self-Attention — '미래 훔쳐보기' 차단</a:t>
            </a:r>
          </a:p>
        </p:txBody>
      </p:sp>
      <p:pic>
        <p:nvPicPr>
          <p:cNvPr id="6" name="Picture 5" descr="u_mas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생성(디코더)에서는 미래 토큰을 못 보게 마스킹. GPT류 자기회귀 생성의 핵심.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Multi-head Self-Attention — 여러 관점 병렬</a:t>
            </a:r>
          </a:p>
        </p:txBody>
      </p:sp>
      <p:pic>
        <p:nvPicPr>
          <p:cNvPr id="6" name="Picture 5" descr="u_multi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H개 head가 각각 다른 관계(문법·의미·장거리)를 병렬 포착 → concat. 차원을 H로 나눠 총 연산은 single-head와 비슷.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The Transformer — attention으로 병렬·장거리</a:t>
            </a:r>
          </a:p>
        </p:txBody>
      </p:sp>
      <p:pic>
        <p:nvPicPr>
          <p:cNvPr id="6" name="Picture 5" descr="u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RNN 순차 처리를 self-attention으로 대체 → 병렬 학습 + 장거리 O(1). 이 블록을 깊게 쌓고 인터넷 규모 학습 = GPT/BERT/LLM.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Vaswani et al. 2017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Transformer 블록 — residual · LayerNorm</a:t>
            </a:r>
          </a:p>
        </p:txBody>
      </p:sp>
      <p:pic>
        <p:nvPicPr>
          <p:cNvPr id="6" name="Picture 5" descr="u_transformer_l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residual(skip)=그래디언트 고속도로, LayerNorm=층 분포 안정화. 두 장치 덕에 수십~수백 층을 안정적으로 쌓는다.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Vaswani 2017; Ba 2016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Adding Attention → Self-Attention → Transformer</a:t>
            </a:r>
          </a:p>
        </p:txBody>
      </p:sp>
      <p:pic>
        <p:nvPicPr>
          <p:cNvPr id="6" name="Picture 5" descr="u_attn_e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RNN에 attention을 붙이는 단계 → self-attention → 순수 Transformer. 세 단계의 진화를 한 장으로.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CS231n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정규화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정규화 비교 — Batch / Layer / Instance / Group</a:t>
            </a:r>
          </a:p>
        </p:txBody>
      </p:sp>
      <p:pic>
        <p:nvPicPr>
          <p:cNvPr id="6" name="Picture 5" descr="u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Transformer는 토큰별 LayerNorm 채택(batch 크기·순서에 무관). 최근 LLM은 Pre-LN(서브층 앞 정규화)이 표준.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전이학습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전이학습 — 사전학습 → 미세조정</a:t>
            </a:r>
          </a:p>
        </p:txBody>
      </p:sp>
      <p:pic>
        <p:nvPicPr>
          <p:cNvPr id="6" name="Picture 5" descr="u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대규모 비지도 사전학습으로 범용 표현 습득 → 소규모 라벨로 과제 적응. 실무는 프롬프팅→PEFT(LoRA)→full 순으로 필요만큼.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GPT/BERT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Transformers, GPT-2, and BERT</a:t>
            </a:r>
          </a:p>
        </p:txBody>
      </p:sp>
      <p:pic>
        <p:nvPicPr>
          <p:cNvPr id="6" name="Picture 5" descr="u_gpt2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같은 Transformer, 다른 사용: GPT=decoder(생성), BERT=encoder(이해). 사전학습 목적함수가 용도를 가른다.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GPT 학습 — 비지도(사전학습=미세조정 분리 없음)</a:t>
            </a:r>
          </a:p>
        </p:txBody>
      </p:sp>
      <p:pic>
        <p:nvPicPr>
          <p:cNvPr id="6" name="Picture 5" descr="u_gpt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GPT-2는 대규모 텍스트로 '다음 토큰 예측'만 학습. 별도 태스크 학습 없이 프롬프트로 다양한 작업 수행.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GPT-2 생성 — top-k 샘플링</a:t>
            </a:r>
          </a:p>
        </p:txBody>
      </p:sp>
      <p:pic>
        <p:nvPicPr>
          <p:cNvPr id="6" name="Picture 5" descr="u_gpt_to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매 스텝 상위 k개 후보에서 샘플링(다양성·안정성 균형). temperature·top-p와 함께 생성 제어.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GPT-2 응용 — 번역·요약</a:t>
            </a:r>
          </a:p>
        </p:txBody>
      </p:sp>
      <p:pic>
        <p:nvPicPr>
          <p:cNvPr id="6" name="Picture 5" descr="u_gpt_su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별도 학습 없이 프롬프트만으로 번역·요약 수행(in-context). 대형화가 만든 사용법.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BERT — 양방향 인코더 표현</a:t>
            </a:r>
          </a:p>
        </p:txBody>
      </p:sp>
      <p:pic>
        <p:nvPicPr>
          <p:cNvPr id="6" name="Picture 5" descr="u_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양쪽 문맥을 동시에 보는 인코더(이해·분류에 강함). 입력 차원 512, [CLS]/[SEP] 토큰 구조.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Devlin et al. 2019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BERT 사전학습 ① Masked LM</a:t>
            </a:r>
          </a:p>
        </p:txBody>
      </p:sp>
      <p:pic>
        <p:nvPicPr>
          <p:cNvPr id="6" name="Picture 5" descr="u_bert_m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입력의 15%를 가리고 복원(양방향 문맥 활용). GPT의 '다음 토큰'과 대비되는 '가린 토큰' 예측.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Devlin 2019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BERT 사전학습 ② Next Sentence Prediction</a:t>
            </a:r>
          </a:p>
        </p:txBody>
      </p:sp>
      <p:pic>
        <p:nvPicPr>
          <p:cNvPr id="6" name="Picture 5" descr="u_bert_n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두 문장이 이어지는지 판별(문장 관계 학습). 50% 진짜 후속 / 50% 무작위.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Devlin 2019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BERT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BERT 미세조정 — 다양한 다운스트림</a:t>
            </a:r>
          </a:p>
        </p:txBody>
      </p:sp>
      <p:pic>
        <p:nvPicPr>
          <p:cNvPr id="6" name="Picture 5" descr="u_bert_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[CLS] 표현 위에 작은 head를 얹어 분류·NER·QA 등으로 적응. 사전학습→미세조정 패러다임의 대표.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Devlin 2019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계보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모델 계보 타임라인 — BERT·GPT·T5·FLAN</a:t>
            </a:r>
          </a:p>
        </p:txBody>
      </p:sp>
      <p:pic>
        <p:nvPicPr>
          <p:cNvPr id="6" name="Picture 5" descr="u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2017 Transformer 이후 encoder(BERT)·decoder(GPT)·enc-dec(T5/BART) 세 갈래. 최근 대형 LLM은 decoder-only 우세.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T5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T5 — 모든 과제를 text-to-text로</a:t>
            </a:r>
          </a:p>
        </p:txBody>
      </p:sp>
      <p:pic>
        <p:nvPicPr>
          <p:cNvPr id="6" name="Picture 5" descr="u_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번역·요약·분류를 전부 '텍스트→텍스트'로 통일. span corruption으로 사전학습.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Raffel et al. 2020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정렬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정렬(alignment) — InstructGPT / RLHF</a:t>
            </a:r>
          </a:p>
        </p:txBody>
      </p:sp>
      <p:pic>
        <p:nvPicPr>
          <p:cNvPr id="6" name="Picture 5" descr="u_rlh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① SFT(사람 시연) → ② 보상모델(선호 순위) → ③ RL(PPO, 보상↑ + KL 제약). 목표: 유용·정직·무해(3H). 최근엔 DPO로 간소화.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 · Ouyang et al. 2022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현행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LLaMA / ChatGPT — decoder-only Transformer</a:t>
            </a:r>
          </a:p>
        </p:txBody>
      </p:sp>
      <p:pic>
        <p:nvPicPr>
          <p:cNvPr id="6" name="Picture 5" descr="u_ll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현대 대형 LLM의 주류 = decoder-only. 이 구조 위에 RoPE 위치인코딩·GQA·긴 문맥 등이 얹힌 것이 GPT-5·Claude·Gemini·Llama.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A · 학습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LLaMA vs GPT — 데이터 &amp; 학습 단계</a:t>
            </a:r>
          </a:p>
        </p:txBody>
      </p:sp>
      <p:pic>
        <p:nvPicPr>
          <p:cNvPr id="6" name="Picture 5" descr="u_data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비지도 사전학습 → 지도 미세조정(SFT) → 인간 피드백 강화학습(RLHF). 오픈(Llama)·폐쇄(GPT) 모두 이 3단계 골격.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박혜진 교안(202507) · 도식 인용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스케일링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스케일링 법칙 — 왜 '더 크게'가 통했나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91640"/>
            <a:ext cx="9418320" cy="13258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90525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0B2A4A"/>
                </a:solidFill>
                <a:latin typeface="Malgun Gothic"/>
              </a:rPr>
              <a:t>L(N,D,C) ∝ 멱법칙 감소   ·   C ≈ 6·N·D</a:t>
            </a:r>
          </a:p>
          <a:p>
            <a:pPr algn="ctr">
              <a:spcAft>
                <a:spcPts val="300"/>
              </a:spcAft>
            </a:pPr>
            <a:r>
              <a:rPr sz="1300" b="0" i="0">
                <a:solidFill>
                  <a:srgbClr val="5A636B"/>
                </a:solidFill>
                <a:latin typeface="Malgun Gothic"/>
              </a:rPr>
              <a:t>Chinchilla 최적: 토큰 D ≈ 파라미터 N × 20 (크기:데이터 균형)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3101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3209544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Kaplan 2020: 손실이 모델·데이터·연산의 멱법칙으로 예측 가능하게 감소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77056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776472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Chinchilla 2022: 같은 연산이면 '작은 모델+많은 데이터'가 유리 — '데이터가 왕'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443984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343400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이 예측 가능성이 GPT-3→현재의 대형화 경쟁을 촉발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'모델·데이터·연산을 키우면 손실이 예측 가능하게 준다'가 수식으로 밝혀져, 대형화에 투자할 근거가 생겼다. 단 크기만이 아니라 데이터 균형이 핵심(Chinchilla).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Kaplan et al. 2020; Hoffmann et al. 2022 (Chinchilla)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2026 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범용(프론티어) LLM 지형 — 2026 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2026 현행·특징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OpenAI GPT-5 계열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GPT-5.x · 코딩특화 GPT-5.3-Codex · 추론형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API·폐쇄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Anthropic Claude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Opus 5 / Sonnet 5 · Claude for Life Sciences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API·폐쇄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Google Gemini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Gemini 3 Pro · Gemini for Science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API·폐쇄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오픈 가중치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Llama 4 · DeepSeek(R1) · Qwen3 · Mistral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오픈·온프레미스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2026 흐름: (1) 추론형(reasoning) 기본 탑재, (2) 'agentic' — 모델이 챗봇에서 '도구를 실행하는 워커'로(→3교시). 세부 버전은 빠르게 갱신되므로 2026.9 시점 확인 권장.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Anthropic·OpenAI·Google 2025–26 발표; 0905_agent/2026_landscape.md (확인 권장)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PART A 요약 — 일반 LLM 관통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LLM = 자기회귀 밀도모델 p(x)=∏ p(xᵢ|x&lt;ᵢ) ('다음 토큰 예측')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RNN/LSTM의 순차·병목을 self-attention(Transformer)이 병렬·장거리로 해결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GPT(생성)·BERT(이해)·T5(text-to-text) — 사전학습 목적함수가 용도를 가름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스케일링(Kaplan/Chinchilla) + 정렬(SFT→RLHF/DPO) → 현재의 GPT-5·Claude·Gemini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핵심: LLM은 마법이 아니라 '초대형 자기회귀 밀도모델'. 강력하지만 사실성은 보장 안 됨 → 과학 특화·RAG·검증·에이전트가 필요(PART B·2·3교시).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Vaswani 2017; Radford 2018/19; Devlin 2019; Raffel 2020; Kaplan 2020; Hoffmann 2022; Ouyang 2022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과학 언어모델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같은 Transformer, 다른 어휘 — 단백질 서열·분자 SMILES·논문을 '언어'로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개관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범용 LLM vs 과학 언어모델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생물학 언어 (B-1)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단백질: ESM3(생성)·ESMC(표현)·ESMFold2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생의학 텍스트: SciBERT·PubMedBERT·BioGPT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치료제/오믹스: TxGemma·scGPT·Geneformer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아미노산 20자 '알파벳'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서열→구조·기능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화학 언어 (B-2)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 문자열: SMILES·SELFIES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표현: ChemBERTa-2·MolT5·SMI-TED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파운데이션: ChemDFM·ChemMLLM(멀티모달)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원자·결합을 토큰으로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분자↔자연어·물성·생성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범용 LLM(A)은 '자연어'를, 과학 LM은 '생명·화학의 언어'(서열·SMILES·논문)를 학습 — 같은 Transformer 원리, 다른 어휘. 2024–25 모델이 아니라 2026 현행으로 본다.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0905_agent/2026_landscape.md; Lin 2023; Hayes 2024; 각 사 2025–26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왜 특화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과학 특화 LM인가 — Galactica 교훈 (여전히 유효)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일반 LLM은 과학 전문용어·수식·구조식·최신 문헌에 약함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Galactica(Meta 2022): 과학 전용 LLM 데모 → 공개 3일 만에 철회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이유: 그럴듯하나 틀린 출력(환각)·가짜 논문·서지 생성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교훈(2026에도): '유창함 ≠ 정확성' → 특화·RAG·검증·에이전트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88736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897880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897880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Galactica 사건은 이 과정의 출발점 — 과학 LLM은 말이 유창해도 틀릴 수 있다. 도메인 특화·근거 제시(RAG)·도구·인간 검증이 필수(2·3교시).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Taylor et al. 2022 (Galactica, arXiv:2211.09085)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B-1 · 단백질 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단백질 언어 — Learning the protein language (ESM)</a:t>
            </a:r>
          </a:p>
        </p:txBody>
      </p:sp>
      <p:pic>
        <p:nvPicPr>
          <p:cNvPr id="6" name="Picture 5" descr="u_e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단백질=아미노산 '알파벳'으로 쓴 문장. 대규모 MLM 학습 → 구조·기능이 임베딩에 창발.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Rives 2021; Lin 2023 (ESM-2/ESMFold, Science) · 도식 인용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B-1 · 단백질 LM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단백질 언어모델 / 구조 — 2026 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ESM3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74519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멀티모달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74519"/>
            <a:ext cx="5486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서열·구조·기능 통합 track, open 1.4B, 신규 esmGFP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ESM Cambrian(ESMC)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표현(임베딩)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41448"/>
            <a:ext cx="5486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~2.8B 서열·최대 6B 파라미터, 대규모 표현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ESMFold2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008376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구조 예측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08376"/>
            <a:ext cx="5486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FoldBench서 AF3 대등/상회 주장(확인 권장)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4688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AlphaFold3 / Boltz-2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75303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복합체 구조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75303"/>
            <a:ext cx="54864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AF3(2024)·Boltz-2(2025, 3일차 실습)·Chai-1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단백질 LM = '표현(ESMC 임베딩)' + '생성(ESM3)'. MSA-free·초고속이 대규모 스캔의 열쇠. 구조 예측은 AF3·Boltz-2·ESMFold2가 경쟁 — 3일차(구조기반)와 직접 연결.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evolutionaryscale.ai (ESMC); Hayes 2024 (ESM3); AlphaFold3 2024; Boltz-2 2025 · 확인 권장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B-1 · 단백질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ProGen — 조건부로 기능성 단백질 서열 생성</a:t>
            </a:r>
          </a:p>
        </p:txBody>
      </p:sp>
      <p:pic>
        <p:nvPicPr>
          <p:cNvPr id="6" name="Picture 5" descr="u_pro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기능 tag를 조건으로 신규 서열 생성 → 라이소자임이 wet-lab에서 실제 효소로 작동 입증. '이해'를 넘어 '생성'으로.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Madani et al. 2023 (ProGen, Nat Biotechnol) · 도식 인용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B-1 · 생의학·오믹스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생의학 텍스트 · 치료제 · 단일세포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 (2026 현행)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핵심·주의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생의학 텍스트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28800"/>
            <a:ext cx="49377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SciBERT·PubMedBERT(이해)·BioGPT(생성)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도메인 from-scratch 우위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치료제 범용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77440"/>
            <a:ext cx="49377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TxGemma(2B/9B/27B, Gemma-2)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7744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Tx-LLM 대체·TDC 66태스크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2608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치료 에이전트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26080"/>
            <a:ext cx="49377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TxAgent / Agentic-Tx (Gemini 2.0)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2608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도구·추론 자율(→3교시)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7472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468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단일세포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474720"/>
            <a:ext cx="493776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scGPT·Geneformer·scFoundation·CellFM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74720"/>
            <a:ext cx="32918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⚠ 섭동예측: baseline 우세 다수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구 Tx-LLM → TxGemma(오픈, 2·9·27B)로 갱신, 에이전트(TxAgent)로 확장. 단일세포 파운데이션은 강력하나 섭동 예측 벤치에서 단순 PCA/baseline이 여전히 우세한 경우 다수 — 과장 금지(5교시 비판적 재론).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2024 (TxGemma, arXiv:2504.06196); Cui 2023 (scGPT); Nature s12276-025-01547-5; arXiv:2410.13956 (확인 권장)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B-1 · 단일세포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단일세포 LM — scBERT / scGPT (전사체를 '언어'로)</a:t>
            </a:r>
          </a:p>
        </p:txBody>
      </p:sp>
      <p:pic>
        <p:nvPicPr>
          <p:cNvPr id="6" name="Picture 5" descr="u_sc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유전자 발현을 토큰으로 → 세포 유형 주석·섭동 예측. 5교시 멀티오믹스에서 강점·한계를 함께 다룬다.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Yang 2022 (scBERT); Cui 2023 (scGPT) · 도식 인용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화학 언어모델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분자를 '언어'로 — SMILES·SELFIES · 표현→생성→멀티모달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B-2 · 화학 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화학 LM 계열 — ChemBERTa·MolBERT·ChemGPT</a:t>
            </a:r>
          </a:p>
        </p:txBody>
      </p:sp>
      <p:pic>
        <p:nvPicPr>
          <p:cNvPr id="6" name="Picture 5" descr="u_chemb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SMILES를 토큰으로 자기지도 사전학습 → 분자 임베딩(물성 예측). BERT(이해)/GPT(생성) 구도의 화학판.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Chithrananda 2020 (ChemBERTa) 등 · 도식 인용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B-2 · 화학 LM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화학 언어모델 / 분자 파운데이션 — 2026 현행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508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핵심 (2026)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ChemBERTa-2·MolT5·SMI-TED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19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표현·번역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SMILES 자기지도 임베딩·분자↔자연어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ChemDFM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41448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화학 파운데이션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대화형 화학 추론(ScienceDirect 2025)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ChemMLLM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08376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멀티모달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text+SMILES+분자 이미지 통합(Cell RPS 2026)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DrugAssist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575303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대화형 최적화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Llama-2-7B, human-in-loop 물성 조정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화학 LM은 'SMILES 문자열 LM(MolT5/ChemBERTa)' → '화학 파운데이션(ChemDFM)'·'멀티모달(ChemMLLM, 구조 이미지 직접 입출력)'으로 이동. 다수 최신은 2025–26 preprint — 벤치·재현 확인 권장.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ChemDFM (ScienceDirect 2025); ChemMLLM (Cell Rep Phys Sci 2026, arXiv:2505.16326); Edwards 2022 (MolT5) · 확인 권장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57/66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B-2 · 분자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MolGPT — Transformer 디코더로 분자 생성</a:t>
            </a:r>
          </a:p>
        </p:txBody>
      </p:sp>
      <p:pic>
        <p:nvPicPr>
          <p:cNvPr id="6" name="Picture 5" descr="u_molg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GPT식 자기회귀로 SMILES를 한 토큰씩 생성. 스캐폴드·물성 조건부 생성 가능(4일차 생성모델과 연결).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Bagal et al. 2022 (MolGPT, JCIM) · 도식 인용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58/66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B-2 · 반응·표현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ChemFormer — 사전학습 Transformer(합성·물성)</a:t>
            </a:r>
          </a:p>
        </p:txBody>
      </p:sp>
      <p:pic>
        <p:nvPicPr>
          <p:cNvPr id="6" name="Picture 5" descr="u_chem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반응 예측·역합성·물성으로 미세조정되는 화학 특화 seq2seq Transformer.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Irwin et al. 2022 (Chemformer) · 도식 인용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59/66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 · 표현 전이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사전학습 표현 전이 — DTI/DTA 예측</a:t>
            </a:r>
          </a:p>
        </p:txBody>
      </p:sp>
      <p:pic>
        <p:nvPicPr>
          <p:cNvPr id="6" name="Picture 5" descr="u_d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AlphaFold·ESM·ProtBert 임베딩을 특징으로 추출→약물-표적 상호작용 예측. 사전학습 표현의 '만능키' 활용 예.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Transformer 기반 DTI/DTA · 도식 인용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60/66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3291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9CD8"/>
                </a:solidFill>
                <a:latin typeface="Malgun Gothic"/>
              </a:rPr>
              <a:t>B · 텍스트 마이닝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0B2A4A"/>
                </a:solidFill>
                <a:latin typeface="Malgun Gothic"/>
              </a:rPr>
              <a:t>LLM 파인튜닝 — 화학 문헌 텍스트 마이닝</a:t>
            </a:r>
          </a:p>
        </p:txBody>
      </p:sp>
      <p:pic>
        <p:nvPicPr>
          <p:cNvPr id="6" name="Picture 5" descr="u_chem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960120"/>
            <a:ext cx="10515600" cy="49135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6053328"/>
            <a:ext cx="10607040" cy="384048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6062472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논문에서 반응물·촉매·용매·조건·NMR을 자동 추출 → 실험노트·DB 구축 자동화(6일차 실습 에이전트와 연결).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Fine-tuning LLMs for chemical text mining (Chem. Sci.) · 도식 인용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61/66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Claude for 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과학 특화 상용 — Claude for Life Sciences · Gemini for Science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Claude for Life Sciences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Anthropic 생명과학 특화(Claude Sonnet/Opus 계열)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문헌리뷰→가설→데이터분석→규제문서 초안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MCP 커넥터로 랩 도구·DB 연결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Benchling·PubMed 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Gemini for Science · TxGemma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Google 과학 특화 + TxGemma(치료제)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AI co-scientist(가설)·TxAgent(치료 태스크)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agentic — 도구 실행형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3교시에서 에이전트로 상세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범용 LLM이 '과학 전용 제품'으로 진화 — 연구 전 과정 지원 + MCP로 실험실 도구 연결. 6일차 실습(Claude Code 과학 에이전트)의 배경이자 3교시 심화 주제.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(Claude for Life Sciences); Google 2025–26 (Gemini for Science·TxGemma·AI co-scientist)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62/66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일반 LLM ↔ 과학 LM · 2026 지형 · 2교시 예고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63/66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일반 LLM vs 과학 LM — 핵심 대비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일반(범용) LLM (A)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어휘: 자연어 토큰(BPE)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데이터: 웹·책·코드(조 단위)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목표: 다음 토큰 예측·정렬(RLHF)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강점: 범용 언어·추론·대화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약점: 도메인 정밀·최신성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43434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과학 LM (B)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어휘: 서열/SMILES/전문용어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데이터: PubMed·UniProt·분자 DB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목표: 도메인 MLM/AR + 임베딩 전이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강점: 도메인 정밀·표현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약점: 최신성·환각·검증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같은 Transformer 원리(A) 위에서 '어휘·데이터·목표'만 도메인에 맞춘 것이 과학 LM(B). 어느 쪽도 사실성은 보장 못 함 → RAG·도구·검증·에이전트가 공통 해법(2·3교시).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종합; Zhao et al. 2023; Taylor et al. 2022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64/66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1교시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6479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일반 LLM = 자기회귀 밀도모델 — RNN→Transformer→GPT/BERT (박혜진 교안 도식)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919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self-attention(QKᵀ/√dₖ)·multi-head·residual/LayerNorm이 핵심 장치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11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9359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생물학 LM 2026: ESM3(생성)·ESMC(표현)·ESMFold2·TxGemma·scGPT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50799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화학 LM 2026: ChemBERTa-2·MolT5·ChemDFM·ChemMLLM(멀티모달)·MolGPT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40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2239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Galactica 교훈(유창≠정확) → RAG·검증·에이전트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다음: 일반 LLM 활용·환각통제(2교시)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1교시 종합 · 2026 현행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65/66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2교시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algun Gothic"/>
              </a:rPr>
              <a:t>일반 LLM의 신약개발 활용 + 환각 통제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프롬프트 엔지니어링 · RAG · 출처 인용 표준 · 사실성 검증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LLM 원리를 알았으니, 이제 '실제로 어떻게 쓰고 어떻게 믿을까'로.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66/66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(1교시)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원리 도식: 박혜진 교안(202507_바이오강의교안_full3_part2) 슬라이드 211–356 인용 (RNN→Transformer→GPT/BERT/RLHF).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일반 LLM 원리: Vaswani 2017 (Transformer); Radford 2018/2019 (GPT); Devlin 2019 (BERT); Raffel 2020 (T5); Ba 2016 (LayerNorm).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62656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학습·스케일·정렬: Kaplan 2020·Hoffmann 2022 (scaling); Brown 2020 (GPT-3); Ouyang 2022 (RLHF); Rafailov 2023 (DPO).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21024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단백질/오믹스 2026: Lin 2023 (ESM-2/ESMFold); Hayes 2024 (ESM3); ESM Cambrian 2024–25; Madani 2023 (ProGen); Wang 2024 (TxGemma); Cui 2023 (scGPT).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79392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화학 LM 2026: Edwards 2022 (MolT5); Chithrananda 2020 (ChemBERTa); ChemDFM (2025); ChemMLLM (2026, arXiv:2505.16326); Bagal 2022 (MolGPT).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59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프론티어 지형 2026: GPT-5 계열·Claude 5(Opus/Sonnet)·Gemini 3·Llama 4 — 세부 버전 2026.9 확인 권장 (0905_agent/2026_landscape.md).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96128"/>
            <a:ext cx="108813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C242B"/>
                </a:solidFill>
                <a:latin typeface="Malgun Gothic"/>
              </a:rPr>
              <a:t>• * 원리 그림은 박혜진 교안 도식(CS231n/논문 기반). 최신·2차소스 수치는 확인 권장. 데이터·수치 무-날조 원칙.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