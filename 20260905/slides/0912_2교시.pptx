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llm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234440"/>
            <a:ext cx="4389120" cy="23940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069080"/>
            <a:ext cx="12191695" cy="2148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6일차 · 2교시 — 일반 LLM 활용 &amp; 환각 통제</a:t>
            </a:r>
          </a:p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09CD8"/>
                </a:solidFill>
                <a:latin typeface="Malgun Gothic"/>
              </a:rPr>
              <a:t>프롬프트 엔지니어링 · API·함수호출 · RAG 파이프라인 · 인용 표준 · 사실성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6일차(9/12) · 대규모 언어모델과 신약개발 · 이론(심화)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1교시 → 2교시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1교시 (원리·모델)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원리·Transformer·정렬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 ↔ 과학 LM(단백질·화학)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'무엇이 있나'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2교시 (활용·신뢰)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LLM을 연구에 어떻게 쓰나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프롬프트·API·RAG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환각을 어떻게 통제·검증하나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'어떻게 믿고 쓰나'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Zhao et al. 2023 (LLM Survey); Ji et al. 2023 (Hallucination Survey)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2교시에서 볼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120640" cy="82296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A. 일반 LLM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83080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프롬프트 엔지니어링(심화)·API·함수호출·구조화 출력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34639"/>
            <a:ext cx="5120640" cy="82296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39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A2. LLM 커스터마이징 4가지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834639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프롬프트 · 미세 튜닝 · 프롬프트 튜닝/LoRA · RAG — 무엇을 언제 (박혜진 커스터마이징 교안)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5120640" cy="82296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B. RAG &amp; 환각 통제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886200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환각 원리·유형·완화 · RAG 파이프라인 · 인용·검증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937759"/>
            <a:ext cx="5120640" cy="82296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37759"/>
            <a:ext cx="4937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C. 정리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937759"/>
            <a:ext cx="5394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실무 원칙·벤치마크 함정·3교시 예고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2교시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일반 LLM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프롬프트·API·함수호출로 연구를 가속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활용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범용 LLM을 신약연구에 — 어디에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작업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LLM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문헌·특허 리뷰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방대한 논문 요약·핵심 추출·비교(RAG 결합)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실험노트·리포트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비정형 기록 구조화·표 추출·요약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가설·아이디어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선행연구 종합→가설·실험 설계 초안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분자·데이터 질의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SMILES 설명·속성 해석·코드 생성(RDKit)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규제·문서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SOP·프로토콜·요약 초안(사람 검수 전제)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LLM은 '읽고·요약하고·초안 쓰고·코드 만드는' 만능 조수. 신약연구의 병목인 방대한 문헌·비정형 데이터에 특히 유용 — 단, 결과는 반드시 검증(B파트)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Zhao et al. 2023; Skarlinski et al. 2024 (PaperQA2)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프롬프트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재학습 없이 행동을 바꾸는 다섯 개의 손잡이</a:t>
            </a:r>
          </a:p>
        </p:txBody>
      </p:sp>
      <p:pic>
        <p:nvPicPr>
          <p:cNvPr id="6" name="Picture 5" descr="c_pe_f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93" y="914400"/>
            <a:ext cx="1019270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역할 부여 · 제로샷/퓨샷 · 사고의 연쇄(CoT) · 출력 형식 강제 · 문맥 제공 — 재학습 없이 행동만 바꾼다. temperature는 분류·추출은 낮게, 아이디어 발산은 높게(작은 모델일수록 높이면 환각↑).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엔지니어링 — 기본기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역할·맥락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system: '너는 의약화학 전문가' + 배경 제공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명확한 지시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무엇을·형식·제약을 구체적으로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few-shot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예시 1~few개로 패턴 제시(in-context)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Chain-of-Thought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'단계별로 생각' → 추론 정확도↑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구조화 출력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JSON/표 스키마 강제 → 파싱·자동화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6.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검증 유도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'출처·근거를 함께', '모르면 모른다고'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재학습 없이 행동 제어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형식 고정→파이프라인 연결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CoT로 추론 품질↑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프롬프트 민감·불안정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여전히 환각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(CoT, 2201.11903); Brown et al. 2020; OpenAI/Anthropic 프롬프트 가이드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좋은 프롬프트의 6-요소 해부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무엇을 넣나 (구성)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① 역할/페르소나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system: 전문성·톤 고정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② 맥락/배경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도메인·데이터·목적 제공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③ 지시(task)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동사로 명확히·범위 한정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④ 예시(few-shot)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입력→출력 패턴 시연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어떻게 통제하나 (제약)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⑤ 출력 형식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JSON 스키마·표·길이 제한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⑥ 제약/가드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'근거 필수·모르면 unknown'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우선순위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system &gt; 예시 &gt; user 지시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반복·튜닝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실패 케이스로 프롬프트 개선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감각: 프롬프트는 '지시문'이 아니라 '사양서(spec)'. 6요소를 빠짐없이 채우면 같은 모델도 재현성·정확도가 크게 오른다. 특히 ⑤·⑥이 자동화·환각 억제의 핵심.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2023 (Prompting Survey); Anthropic/OpenAI 프롬프트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프롬프트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— 구조화 출력·근거 요구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288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의약화학 질의 프롬프트 (개념)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31136"/>
            <a:ext cx="10607040" cy="1938528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22576"/>
            <a:ext cx="10241280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[system] 너는 의약화학 전문가다. 근거 없는 주장 금지.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[user] 다음 표적의 알려진 저해제 계열 3개를 정리.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각 항목: {계열, 대표물질, 근거(PMID/DOI)}</a:t>
            </a:r>
            <a:r>
              <a:rPr sz="1100">
                <a:solidFill>
                  <a:srgbClr val="7EC699"/>
                </a:solidFill>
                <a:latin typeface="Consolas"/>
              </a:rPr>
              <a:t>  # 구조화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출처를 못 찾으면 'unknown'으로.        </a:t>
            </a:r>
            <a:r>
              <a:rPr sz="1100">
                <a:solidFill>
                  <a:srgbClr val="7EC699"/>
                </a:solidFill>
                <a:latin typeface="Consolas"/>
              </a:rPr>
              <a:t>  # 환각 억제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[출력] JSON 배열 (파싱→검증 파이프라인)         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24528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33672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핵심: (1) 역할·제약 명시, (2) 스키마 강제, (3) 출처 요구 + '모르면 모른다' — 환각을 줄이고 자동 검증을 가능하게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9618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96188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좋은 프롬프트 = '누가·무엇을·어떤 형식으로·어떤 근거로'를 못 박기. 특히 '출처를 붙여라'와 '모르면 모른다고 해라'가 환각을 크게 줄인다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Anthropic/OpenAI 프롬프트 가이드; Wei et al. 2022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few-shot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few-shot — 예시로 패턴을 심는다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830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few-shot: 라벨링 규칙을 예시로 시연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85416"/>
            <a:ext cx="10607040" cy="2231136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76856"/>
            <a:ext cx="1024128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[system] 문장에서 (약물, 표적, 관계)를 추출해 JSON으로.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[예시1] '실데나필은 PDE5A를 저해한다'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   → {"drug":"sildenafil","target":"PDE5A","rel":"inhibits"}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[예시2] '트라스투주맙은 HER2에 결합한다'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   → {"drug":"trastuzumab","target":"HER2","rel":"binds"}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[입력] '타다라필은 PDE5A를 억제한다'  →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471416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80559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예시 2~5개로 '출력 형식+판단 기준'을 동시에 전달 — 규칙을 장황히 쓰는 것보다 예시가 더 정확하고 안정적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few-shot 실무: (1) 예시는 다양·대표적으로(경계 케이스 포함), (2) 형식을 예시 안에 그대로 보여줌, (3) 예시 순서·개수도 성능에 영향 → 실패 샘플을 예시로 추가하며 튜닝.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Brown et al. 2020 (GPT-3 in-context, 2005.14165); Liu et al. 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CoT·분해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추론 강화 — Chain-of-Thought &amp; 분해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Chain-of-Thought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'단계별로 풀이를 쓰게' 유도 → 다단계 추론↑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분해(decomposition)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복잡 질문을 하위 질문으로 쪼개 순차 해결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근거-먼저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'근거를 먼저 나열 → 그 뒤 결론' 강제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scratchpad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중간 계산·가정을 명시적으로 적게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적용 예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기전 추론·용량 계산·다단계 문헌 종합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단순 프롬프트 대비 추론 정확도↑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중간 과정 노출→검토·디버깅 용이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분해로 오류 국소화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토큰·비용·지연↑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쉬운 과제엔 과함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과정이 그럴듯해도 결론 오답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(CoT, 2201.11903); Zhou et al. 2023 (Least-to-Most); 확인 권장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SC·자기검토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안정화 — self-consistency &amp; 자기검토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여러 번 샘플링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temperature&gt;0으로 풀이를 N개 생성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다수결(self-consistency)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가장 많이 나온 최종답 채택 → 분산↓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자기검토(critique)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초안→'오류를 찾아 고쳐라' 2-pass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페르소나 재검토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'회의적 리뷰어' 시점으로 재평가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교차검증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서로 다른 프롬프트/모델 답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단발 답보다 신뢰도↑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논리 비약·계산오류 감소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자동 파이프라인에 적합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샘플 수만큼 비용 배수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합의가 '틀린 합의'일 수도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최종 사실검증은 여전히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(Self-Consistency, ICLR, 2203.11171); Madaan et al. 2023 (Self-Refine)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구조화 출력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구조화 출력 — JSON 스키마로 계약을 건다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37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출력 스키마 강제 (function/JSON schema 개념)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3969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3113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schema = 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"type":"object",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"properties": 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"target":  {"type":"string"},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"inhibitors": {"type":"array",</a:t>
            </a:r>
            <a:r>
              <a:rPr sz="1050">
                <a:solidFill>
                  <a:srgbClr val="7EC699"/>
                </a:solidFill>
                <a:latin typeface="Consolas"/>
              </a:rPr>
              <a:t>  # 리스트 강제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"items": {"required":["name","pmid"]}},</a:t>
            </a:r>
            <a:r>
              <a:rPr sz="1050">
                <a:solidFill>
                  <a:srgbClr val="7EC699"/>
                </a:solidFill>
                <a:latin typeface="Consolas"/>
              </a:rPr>
              <a:t> # 출처 필수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"confidence": {"enum":["high","low","unknown"]}}}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71830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스키마를 '계약'으로 강제 → 필드 누락·자유서술 차단, 출처(pmid) 필수화, 불확실성(confidence)까지 구조로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structured outputs / function calling; Anthropic tool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안티패턴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안티패턴 — 이렇게 하면 틀린다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안티패턴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왜 위험 / 대안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'다 알아서 해줘'(모호)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74519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범위·형식 불명→엉뚱한 답 / 지시·형식 명시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04872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04872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출처 요구 안 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04872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환각·위조 방치 / '근거·DOI 필수'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35224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35224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'모르면 모른다'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35224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억지 답 생성 / 불확실성 허용 명시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5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65575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한 번에 거대 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465575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오류 누적 / 분해·단계화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95927"/>
            <a:ext cx="11247120" cy="47548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995927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출력 자유서술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995927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파싱·검증 불가 / JSON 스키마 강제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79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526279"/>
            <a:ext cx="39319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결과 맹신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526279"/>
            <a:ext cx="6949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검증 생략→오판 / 체크리스트(B파트)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현업 최다 실수: (1) 출처를 안 시키고 (2) 결과를 그대로 믿는 것. 프롬프트에 '근거 필수·모르면 모른다'를 넣고, 답은 항상 가설로 취급하라.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Anthropic/OpenAI 프롬프트 가이드; Ji et al. 2023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함수호출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함수호출(tool calling) — 모델이 도구를 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무텍스트 개념도: 모델 → 구조화 JSON 호출 → 외부 도구(계산·DB·검색·화학) → 결과 회신 루프</a:t>
            </a:r>
          </a:p>
        </p:txBody>
      </p:sp>
      <p:pic>
        <p:nvPicPr>
          <p:cNvPr id="7" name="Picture 6" descr="function_calling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모델이 스스로 '어떤 도구를, 어떤 인자로' 호출할지 구조화(JSON)해 내보내면, 시스템이 실제 도구(계산기·DB·검색·RDKit)를 실행하고 결과를 다시 모델에 돌려준다. 이 요청-응답 루프가 3교시 '에이전트'의 토대.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OpenAI function calling; Anthropic tool use; Schick et al. 2023 (Toolformer)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함수호출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함수호출 — 도구 스키마 정의(개념)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916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tool 정의 + 모델의 호출 → 실행 → 회신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93976"/>
            <a:ext cx="10607040" cy="281635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85416"/>
            <a:ext cx="1024128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tools = [{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"name":"pubmed_search",</a:t>
            </a:r>
            <a:r>
              <a:rPr sz="1050">
                <a:solidFill>
                  <a:srgbClr val="7EC699"/>
                </a:solidFill>
                <a:latin typeface="Consolas"/>
              </a:rPr>
              <a:t>        # 도구 이름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"description":"질의어로 PubMed를 검색",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"parameters":{"query":"string","top_k":"int"}}]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# 모델 출력(구조화):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call = {"tool":"pubmed_search",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"args":{"query":"PDE5 inhibitor resistance","top_k":5}}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7EC699"/>
                </a:solidFill>
                <a:latin typeface="Consolas"/>
              </a:rPr>
              <a:t># 시스템이 실제 검색 실행 → 결과를 모델에 회신 → 최종답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6519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7433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모델은 '무엇을 검색할지'만 정하고, 실제 실행은 우리 코드가 담당 → 근거 있는 답 + 재현 가능한 행동 로그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도구 스키마를 잘 쓰면 LLM이 계산·검색·시뮬레이션을 '적절한 때' 호출한다. 단, 어떤 도구를 언제 부를지는 모델 판단이라 오호출 가능 → 인자 검증·권한 제한 필수(4교시 보안).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Schick et al. 2023 (Toolformer); OpenAI/Anthropic tool use 가이드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디코딩 파라미터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출력 제어 — temperature·top_p·seed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다양성 파라미터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temperature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0=결정적, ↑=창의·발산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top_p (nucleus)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확률 상위 집합만 샘플링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사실질의·추출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낮게(0~0.3)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아이디어 발산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높게(0.7~1.0)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재현·안정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seed 고정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같은 입력→같은 출력(가능 모델)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max_tokens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길이·비용 상한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stop 시퀀스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형식 이탈 방지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로그 보관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프롬프트·파라미터·버전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temperature = '모험 다이얼'. 사실을 뽑을 땐 낮춰 안정적으로, 브레인스토밍엔 높여 다양하게. self-consistency는 일부러 높여 여러 답을 뽑아 다수결하는 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모델 제공사 API 파라미터 스펙; Wang et al. 2023 (self-consistency)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모델 선택·비용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실무 — 모델 선택과 비용·보안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모델 선택 기준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과제 난도↔모델 급(비용) 매칭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긴 문서→긴 컨텍스트 모델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정형·대량→저가·고속 모델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불필요한 고급모델 낭비 주의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비용·보안 실무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비용=토큰(입력+출력)·캐싱 활용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민감데이터→온프렘/계약·마스킹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모델버전 고정·로그 보관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재현·감사(4교시)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실무 팁: 쉬운 작업엔 싸고 빠른 모델, 어려운 추론엔 고급 모델로 '급을 나눠' 쓰면 비용을 크게 아낀다. 2026 현행 프론티어=GPT-5 계열·Claude Opus 5/Sonnet 5·Gemini 3·오픈 Llama 4(세부 버전 2026.9 확인 권장). 민감정보(미공개 타겟·환자데이터)는 반드시 처리 정책 확인(4교시 보안).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모델 제공사 가격·컨텍스트 스펙; 0905_agent/2026_landscape.md (확인 권장); 본 강의 6일차 실습 비용 설계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토큰·비용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비용 구조 — 토큰·캐싱·컨텍스트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087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의미 / 실무 절감법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입력 토큰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19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프롬프트·문서 길이 → 프롬프트 다이어트·요약 선행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41448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출력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41448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생성 길이 → max_tokens·간결 형식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08376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캐싱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008376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반복 system·문서 재사용 → 캐시로 입력비↓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75303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컨텍스트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75303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길수록 비용·'중간 소실'↑ → 필요분만 RAG로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42231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배치·모델급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142231"/>
            <a:ext cx="7406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저난도는 소형·배치 → 단가↓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'긴 컨텍스트에 다 넣기'는 비싸고 위험 — 중간 정보 소실(lost-in-the-middle)·비용 급증. 필요한 근거만 RAG로 골라 넣는 것이 싸고 정확하다.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2023 (Lost in the Middle); 모델 제공사 가격 스펙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데이터·보안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민감데이터 — 넣기 전에 확인할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위험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미공개 타겟·후보구조 유출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환자·임상 개인정보(규제 대상)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계약·NDA 위반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 인젝션(4교시)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외부 문서에 숨은 지시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실무 가드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전송 전 마스킹·비식별화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온프렘/기업계약·데이터 미학습 옵션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접근권한·로그·감사 추적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사내 정책·IRB 확인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의심되면 넣지 않기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LLM Top 10 (2025, 4교시); 기관 데이터 거버넌스 정책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후보물질 활용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후보물질 생성·평가에 LLM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SMILES/서열을 프롬프트로 — 설명·유사물질·변형 제안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화학 LM(1교시)·생성모델과 결합해 아이디어 발산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물성·ADMET 도구 호출로 후보 스크리닝 자동화(3교시 에이전트)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단, LLM 단독 분자 '생성'은 validity·합성가능성 취약 → 전용 생성모델 병용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LLM에게 직접 'SMILES 만들어줘' 하면 문법 오류·비현실 분자가 흔하다. 후보 생성은 전용 생성모델(REINVENT 등, 4일차)에 맡기고 LLM은 오케스트레이션·해석에 쓰는 게 안전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Bran et al. 2024 (ChemCrow); Ye et al. 2024 (DrugAssist)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 · 멀티모달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멀티모달 LLM — 텍스트+분자+구조</a:t>
            </a:r>
          </a:p>
        </p:txBody>
      </p:sp>
      <p:pic>
        <p:nvPicPr>
          <p:cNvPr id="6" name="Picture 5" descr="u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LLM은 텍스트를 넘어 분자(SMILES)·단백질 구조·이미지를 한 모델에서 함께 다룬다. 화학 멀티모달(예: ChemMLLM 2026, 확인 권장)이 대표 — 1교시 과학 LM과 연결.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LLM 커스터마이징 — 4가지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프롬프트 엔지니어링 · 미세 튜닝 · 프롬프트 튜닝 · RAG — 무엇을 언제 쓰나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프롬프트만으로 안 되는 네 가지 — 그래서 무엇이 필요한가</a:t>
            </a:r>
          </a:p>
        </p:txBody>
      </p:sp>
      <p:pic>
        <p:nvPicPr>
          <p:cNvPr id="6" name="Picture 5" descr="c_pe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526" y="914400"/>
            <a:ext cx="994264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지식의 한계→RAG, 문맥 창·비용의 한계→검색으로 선별, 일관성·정확도의 한계→튜닝. 한 문장 요약: 프롬프트=말을 잘 거는 기술 / 튜닝=말을 잘 알아듣게 바꾸는 기술 / RAG=자료를 쥐여주는 기술.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전체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무엇이 바뀌고 훈련이 얼마나 드나 — 네 방법 대조</a:t>
            </a:r>
          </a:p>
        </p:txBody>
      </p:sp>
      <p:pic>
        <p:nvPicPr>
          <p:cNvPr id="6" name="Picture 5" descr="c_four_approa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466" y="914400"/>
            <a:ext cx="10976762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훈련 필요 여부(없음/무거움/가벼움/없음)와 '무엇이 바뀌나'(프롬프트 문자열/모델 전체/프롬프트 임베딩/벡터 DB)가 네 방법을 가르는 두 축. 데이터 요구량도 25,000샘플 vs 5,000샘플 vs 원문 PDF로 크게 다르다.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손대는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파이프라인 어디를 건드리나 — 가중치를 바꾸는 건 하나뿐</a:t>
            </a:r>
          </a:p>
        </p:txBody>
      </p:sp>
      <p:pic>
        <p:nvPicPr>
          <p:cNvPr id="6" name="Picture 5" descr="c_where_each_tou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71" y="914400"/>
            <a:ext cx="970455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모델 가중치를 바꾸는 것은 미세 튜닝뿐. 프롬프트 엔지니어링·프롬프트 튜닝은 '입력 앞', RAG는 '검색한 문맥을 프롬프트에 붙임' — 나머지 셋은 모델을 그대로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소프트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모델은 동결, 가상 토큰 20개만 학습한다</a:t>
            </a:r>
          </a:p>
        </p:txBody>
      </p:sp>
      <p:pic>
        <p:nvPicPr>
          <p:cNvPr id="6" name="Picture 5" descr="c_soft_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40" y="914400"/>
            <a:ext cx="10011415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BERT를 통째로 동결(requires_grad_(False))하고, 입력 앞 20개 가상 토큰 벡터만 학습. 작업마다 모델 전체가 아니라 프롬프트 벡터(61KB)만 저장하면 되므로 한 베이스 모델로 여러 작업을 돌릴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용어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'프롬프트 엔지니어링'과 '프롬프트 튜닝'은 다른 것</a:t>
            </a:r>
          </a:p>
        </p:txBody>
      </p:sp>
      <p:pic>
        <p:nvPicPr>
          <p:cNvPr id="6" name="Picture 5" descr="c_hard_vs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608" y="914400"/>
            <a:ext cx="961247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하드=사람이 읽고 쓰는 실제 텍스트 토큰(훈련 0). 소프트=어휘 사전에 없는 연속 벡터로, 경사하강법으로 학습되는 유일한 파라미터. '프롬프트 엔지니어링'과 '프롬프트 튜닝'을 혼동하지 말 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비용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정확도 6%p를 위해 7,000배의 파라미터를 쓸 것인가</a:t>
            </a:r>
          </a:p>
        </p:txBody>
      </p:sp>
      <p:pic>
        <p:nvPicPr>
          <p:cNvPr id="6" name="Picture 5" descr="c_cost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472" y="914400"/>
            <a:ext cx="9094750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동일 IMDb 감성분류에서 정확도는 0.936 vs 0.874, A100 훈련 12분 vs 5분, 학습 파라미터는 ~110M vs ~15K(약 7,000분의 1), 저장은 수백 MB vs 61KB. '정확도 6%p'를 이 비용 차이와 견주어 판단한다.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PEFT 지형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학습 파라미터를 모델 바깥에 둘까, 안쪽에 둘까(LoRA)</a:t>
            </a:r>
          </a:p>
        </p:txBody>
      </p:sp>
      <p:pic>
        <p:nvPicPr>
          <p:cNvPr id="6" name="Picture 5" descr="c_peft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66" y="914400"/>
            <a:ext cx="9495362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둘 다 베이스 가중치는 동결. 차이는 '학습 파라미터를 어디에 두느냐' — 프롬프트 튜닝은 모델 바깥(입력), LoRA는 모델 안쪽(어텐션 Q·V 프로젝션 옆 저랭크 행렬). 1교시에서 본 LoRA가 여기에 놓인다.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A2 · 신약개발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네 방법을 신약개발에서 언제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신약개발에서 쓰는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현실적 조건 / 6일차 연결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8138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128016" cy="813815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6596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엔지니어링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96596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논문 요약·표 추출·가설 브레인스토밍 — 지금 당장, 훈련 없이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가장 먼저 시도. 2교시 앞부분 · nb1 시스템 메시지로 재사용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39"/>
            <a:ext cx="11247120" cy="8138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34639"/>
            <a:ext cx="128016" cy="813815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834639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834639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최신 논문·자사 실험노트·비공개 규제문서를 근거로 답하게 — 출처 추적 필수일 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39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모델은 그대로, 벡터 DB만 추가. 6일차 4절 RAG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11247120" cy="8138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128016" cy="813815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70332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프롬프트 튜닝 / LoRA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70332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한 베이스 모델로 ADMET 분류·문헌 트리아지 등 여러 과제를 경량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0332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어댑터·프롬프트 파일만 교체. 라벨 수천 건 규모부터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72000"/>
            <a:ext cx="11247120" cy="8138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128016" cy="813815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572000"/>
            <a:ext cx="2651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미세 튜닝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572000"/>
            <a:ext cx="493776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사내 도메인 코퍼스(합성 경로 노트·독성 리포트)로 정확도를 끝까지 올릴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572000"/>
            <a:ext cx="329184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라벨 수만 건 + GPU + 모델 사본 관리 비용. 마지막 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 · 신약개발 적용 맥락은 6일차 커리큘럼 기준 강사 정리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의사결정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지식이 부족한가, 행동이 부족한가 — 선택 흐름도</a:t>
            </a:r>
          </a:p>
        </p:txBody>
      </p:sp>
      <p:pic>
        <p:nvPicPr>
          <p:cNvPr id="6" name="Picture 5" descr="c_decisi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307" y="914400"/>
            <a:ext cx="9355080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지식이 부족하면 RAG, 행동을 바꾸고 싶으면 튜닝 — 둘은 배타적이 아니다. RAG 품질은 모델보다 검색 품질(청크·겹침·유사도·임베딩)이 좌우한다는 점이 다음 PART B의 출발점.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A2 ·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네 숫자만 기억한다 — 훈련 0 · 93.6% · 61KB · 1000/200</a:t>
            </a:r>
          </a:p>
        </p:txBody>
      </p:sp>
      <p:pic>
        <p:nvPicPr>
          <p:cNvPr id="6" name="Picture 5" descr="c_key_nu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644" y="914400"/>
            <a:ext cx="9798406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프롬프트=훈련 0 / 미세 튜닝=93.6% / 프롬프트 튜닝=61KB / RAG=1000·200(chunk_size·overlap). 네 숫자만 기억해도 회의에서 방법 선택 논의가 가능하다.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RAG &amp; 환각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'그럴듯한 오답'을 근거로 붙잡는다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도입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LLM의 한계 — 환각·프롬프트 주입</a:t>
            </a:r>
          </a:p>
        </p:txBody>
      </p:sp>
      <p:pic>
        <p:nvPicPr>
          <p:cNvPr id="6" name="Picture 5" descr="u_llm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LLM은 학습에 없는 것을 '그럴듯하게' 지어내고(환각), 외부 문서에 숨은 지시에 휘둘릴 수 있다(프롬프트 주입) — 근거 부착(RAG)과 검증이 필요한 이유.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RAG — 검색 증강 생성 구조</a:t>
            </a:r>
          </a:p>
        </p:txBody>
      </p:sp>
      <p:pic>
        <p:nvPicPr>
          <p:cNvPr id="6" name="Picture 5" descr="u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960120"/>
            <a:ext cx="10515600" cy="49135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53328"/>
            <a:ext cx="10607040" cy="384048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62472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외부 데이터→검색(retrieve)→관련 근거를 프롬프트에 확장(augment)→생성(generate). '오픈북 시험'처럼 실제 문서에 근거해 답한다.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교안(202507) · 도식 인용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환각의 네 갈래 — 무엇을 조심하나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사실오류(factual-error)·출처위조(fabricated-citation)·최신성 결여(outdated)·과잉일반화(over-generalization)가 한 모델에서 뻗어나온다</a:t>
            </a:r>
          </a:p>
        </p:txBody>
      </p:sp>
      <p:pic>
        <p:nvPicPr>
          <p:cNvPr id="7" name="Picture 6" descr="halluc_types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환각은 한 종류가 아니다: 기전·수치를 틀리는 사실오류, 없는 논문·가짜 DOI를 만드는 출처위조, 철회·구정보를 최신처럼 내는 최신성 결여, 좁은 근거를 확정처럼 말하는 과잉일반화. 유형별로 방어법이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Survey, ACM Comput Surv)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환각이란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환각(hallucination)이 생기나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LLM = 확률적 '다음 토큰 이어쓰기' — 사실 저장소가 아님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학습에 없거나 애매하면 '가장 그럴듯한' 텍스트를 생성(사실 여부 무관)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결과: 없는 논문·가짜 DOI·틀린 수치를 유창하게 제시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학습 시점 고정 → 최신 정보 결여도 오답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환각 = '아는 척 이어쓰기'. 모델은 '맞는 말'이 아니라 '그럴듯한 말'을 만들도록 학습됐다. 그래서 유창할수록 더 속기 쉽다(Galactica 교훈, 1교시)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Survey); Taylor et al. 2022 (Galactica, 2211.09085)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환각의 원리 — 왜 유창할수록 위험한가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목적함수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'다음 토큰 확률'을 맞추도록 학습(사실이 아님)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분포 채우기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근거 없어도 가장 그럴듯한 토큰을 채워넣음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유창성 편향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문법·톤이 자연스러워 사실처럼 들림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보상·아부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사람 선호 학습→'듣기 좋은 답' 경향(sycophancy)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지식 컷오프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학습 이후 정보 부재 → 낡은 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'유창함 ≠ 정확성'을 이해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왜 출처·검증이 필수인지 설명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완화 지점을 특정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모델 내부만으론 사실성 보장 불가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'자신 있게 틀림'이 가장 위험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프롬프트만으론 근절 불가→RAG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Taylor et al. 2022 (Galactica); Ouyang et al. 2022 (RLHF, sycophancy 맥락)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 유형 — 신약연구 맥락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유형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예시 / 신약 맥락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사실 오류(intrinsic)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기전·수치·관계를 틀리게 서술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출처 위조(fabrication)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존재하지 않는 논문·가짜 DOI/PMID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최신성 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철회·갱신된 정보를 최신처럼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과잉 일반화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제한적 근거를 확정처럼 진술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수치 붕괴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임상 수치·단위·통계를 왜곡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특히 위험: 가짜 DOI/PMID를 '진짜처럼' 붙이는 출처 위조. 전공자도 속기 쉬움 — 인용은 반드시 실재 검증(아래 체크리스트)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본 강의 앞선 리뷰(가짜 arXiv ID 사례)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 완화 — 4개 층으로 방어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층위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기법 /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① 프롬프트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1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'근거 필수·모르면 unknown'·CoT·자기검토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② 근거 주입(RAG)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231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외부 문헌·DB 검색→grounding(가장 강력)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③ 디코딩·앙상블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self-consistency·낮은 temperature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④ 사후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2043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출처 실재 조회·원문 대조·인간 검토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1089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결합 원칙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069079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단일 기법 아님 — 층을 겹칠수록 견고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Wang et al. 2023 (SC); Ji et al. 2023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환각 검출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환각을 '탐지'하기 — 불확실성 신호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모델 쪽 신호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자기 확신 표현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'high/low/unknown'을 출력에 강제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일관성 검사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여러 샘플이 갈리면 불확실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부재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RAG에서 근거 못 찾음=위험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보정(calibration)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확신도와 실제 정답률 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운영 쪽 대응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저확신→보류/사람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불확실 항목만 사람 검토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없으면 unknown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억지 답 대신 명시적 유보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flag &amp; 추적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의심 답을 로그·재검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임계값 운영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위험 도메인은 보수적 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Wang et al. 2023 (일관성); Kadavath et al. 2022 (LMs know what they know, 확인 권장)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파이프라인 — 검색으로 근거를 붙이다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information sources → chunk → vector DB → top-k retrieval → re-ranking → language model → answer(+출처)</a:t>
            </a:r>
          </a:p>
        </p:txBody>
      </p:sp>
      <p:pic>
        <p:nvPicPr>
          <p:cNvPr id="7" name="Picture 6" descr="rag_pipeline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RAG는 6단계 흐름이다: 문서를 조각(chunk)으로 나눠 의미 벡터(embed)로 만들고, 벡터 DB에 저장한 뒤, 질문과 가까운 조각을 top-k로 검색(retrieve)·재순위(rerank)해, 그 근거만 보고 답(generate)한다. '오픈북 시험'과 같다.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(RAG, NeurIPS, 2005.11401); Gao et al. 2023 (RAG survey)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— 검색으로 근거를 붙이다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동기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 파라미터 지식은 낡고 출처가 없음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검색(Retrieve)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질문으로 외부 지식(문헌·DB·특허) 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증강(Augment)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검색 결과를 컨텍스트로 프롬프트에 주입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생성(Generate)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근거에 기반해 답 + 출처 제시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효과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환각 완화·최신성·추적가능성(provenance)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출처 있는 답(grounding)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재학습 없이 최신 지식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신약: 논문·실험노트 근거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검색 품질에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근거 밖 추론은 여전히 오답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(RAG, NeurIPS, arXiv:2005.11401)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RAG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인덱싱은 한 번, 질의는 매번 — 실제 구현 흐름</a:t>
            </a:r>
          </a:p>
        </p:txBody>
      </p:sp>
      <p:pic>
        <p:nvPicPr>
          <p:cNvPr id="6" name="Picture 5" descr="c_ra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71" y="914400"/>
            <a:ext cx="9704551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① 인덱싱은 한 번(PDF 로드→청크→임베딩→벡터 저장소), ② 질의는 매번(질문 임베딩→유사도 검색 similarity_search(query, k=10)→문맥 결합→LLM→답+출처). 핵심 규칙: 문서와 질문을 같은 임베딩으로 인코딩해야 매칭된다.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겹침 200자가 하는 일 — 청크 설계가 검색 상한을 정한다</a:t>
            </a:r>
          </a:p>
        </p:txBody>
      </p:sp>
      <p:pic>
        <p:nvPicPr>
          <p:cNvPr id="6" name="Picture 5" descr="c_chu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817" y="914400"/>
            <a:ext cx="9770059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재귀 전략은 줄바꿈→문장→구두점→공백 순으로 자연스러운 경계에서 자른다. 겹침 200자는 문장이 중간에 잘려 뜻을 잃는 것을 막는 장치. 청크가 너무 크면 검색은 빠르나 프롬프트가 무겁고, 너무 작으면 유사 청크를 못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임베딩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임베딩 공간 — 뜻이 가까우면 좌표도 가깝다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무텍스트 개념도: 의미가 비슷한 문장은 군집(cluster), 가까운 두 점은 유사·먼 점은 무관</a:t>
            </a:r>
          </a:p>
        </p:txBody>
      </p:sp>
      <p:pic>
        <p:nvPicPr>
          <p:cNvPr id="7" name="Picture 6" descr="embedding_space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임베딩은 문장을 '의미 좌표(벡터)'로 바꾼다. 뜻이 비슷하면 좌표가 가깝고(같은 색 군집), 다르면 멀다. 그래서 단어가 안 겹쳐도('PDE5 저해제' vs 'PDE5 inhibitor') 의미로 검색할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Reimers &amp; Gurevych 2019 (Sentence-BERT, EMNLP); Karpukhin et al. 2020 (DPR)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3291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9CD8"/>
                </a:solidFill>
                <a:latin typeface="Malgun Gothic"/>
              </a:rPr>
              <a:t>B ·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55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0B2A4A"/>
                </a:solidFill>
                <a:latin typeface="Malgun Gothic"/>
              </a:rPr>
              <a:t>각도가 작으면 뜻이 가깝다 — 코사인 유사도</a:t>
            </a:r>
          </a:p>
        </p:txBody>
      </p:sp>
      <p:pic>
        <p:nvPicPr>
          <p:cNvPr id="6" name="Picture 5" descr="c_similarity_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258" y="914400"/>
            <a:ext cx="9723178" cy="506577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6035040"/>
            <a:ext cx="10607040" cy="402336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44184"/>
            <a:ext cx="10241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Awesome↔Great는 각도가 작아 '유사', Awesome↔Terrible은 각도가 커서 '유사하지 않음'. 코사인은 여러 유사도 중 하나일 뿐 — 튜닝 시 다른 척도도 시도할 것. 'PDE5 저해제'와 'PDE5 inhibitor'가 단어는 달라도 가까운 이유가 이것.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박혜진 「LLM 커스터마이징」 교안 · 도식 인용 (Moroney, AI and ML for Coders in PyTorch 기반)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의미검색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의미검색 심화 — dense·sparse·ANN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sparse(어휘)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BM25 등 키워드 기반 — 정확 매칭 강함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dense(의미)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임베딩 벡터 유사도(cosine) — 동의어 강함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hybrid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sparse+dense 결합→상호 보완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근접검색(ANN)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수백만 벡터를 근사 최근접으로 고속 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적용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용어 정확성+의미 포괄을 함께 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의미+키워드 상호 보완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대규모에서 실시간 검색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도메인 용어에 강건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dense는 색인 비용·갱신 부담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임베딩 품질에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희귀 용어는 sparse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Karpukhin et al. 2020 (DPR); Robertson &amp; Zaragoza 2009 (BM25); Malkov &amp; Yashunin 2018 (HNSW)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retrieve·rerank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검색 → 재순위 — 2단계로 정확도↑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1차: 빠른 검색(retrieve)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bi-encoder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질문·문서를 각각 벡터화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사전계산 색인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top-k 후보를 빠르게 회수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장점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대규모에서 고속·저비용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정밀 관련도 판단은 약함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2차: 정밀 재순위(rerank)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cross-encoder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질문+문서를 함께 정밀 채점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소수 후보만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top-k만 재평가(비용 절충)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효과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진짜 관련 근거를 상위로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적은 근거로 더 정확한 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Karpukhin et al. 2020 (DPR); Nogueira &amp; Cho 2019 (BERT re-ranking); 확인 권장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품질 평가 — 무엇을 재나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5087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무엇을 측정 / 주의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검색 recall@k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1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정답 근거가 top-k에 포함됐나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context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23160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검색된 조각이 실제로 관련 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971800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답이 근거에서만 나왔나(비약 탐지)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answer relevance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52043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답이 질문에 부합하나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4747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주의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069079"/>
            <a:ext cx="7315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자동지표는 근사 — 사람 검수 병행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Gao et al. 2023 (RAG survey); Es et al. 2023 (RAGAS, 2309.15217); 확인 권장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인용 표준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출처 인용 의무 &amp; 표준 형식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인용 의무화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사실 주장에 출처 1개 이상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주장 문장 ↔ 근거 문장 매핑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근거 없으면 'unknown'/보류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'모르면 모른다'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표준 형식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논문: 저자·연도·venue·DOI/PMID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DB: 이름·버전·접근일·쿼리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가능한 식별자 필수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가짜 ID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과학 저술 인용 표준; ICMJE 권고; 본 강의 원칙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워크플로우 — 6개 게이트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1">
                <a:solidFill>
                  <a:srgbClr val="5A636B"/>
                </a:solidFill>
                <a:latin typeface="Malgun Gothic"/>
              </a:rPr>
              <a:t>개념도(영문 라벨): 인용 존재(citation check) → 식별자 실재(DB lookup) → 원문 대조(source comparison) → 최신·철회(recency) → 재현성(reproducibility) → 편향(bias) → 검증 배지</a:t>
            </a:r>
          </a:p>
        </p:txBody>
      </p:sp>
      <p:pic>
        <p:nvPicPr>
          <p:cNvPr id="7" name="Picture 6" descr="fact_check_workflow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627632"/>
            <a:ext cx="7680960" cy="4189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 답은 '가설'이다. 6개 게이트를 순서대로 통과해야 인용·의사결정에 쓴다: ① 출처 있나 → ② 식별자(DOI/PMID) 실재하나 → ③ 수치가 원문과 같나 → ④ 최신·철회 확인 → ⑤ 재현 가능(seed·버전) → ⑥ 편향 점검. ②가 가장 강력한 필터.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본 강의 QA 원칙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체크리스트 (RAG 교차확인)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19"/>
            <a:ext cx="6035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확인 방법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① 출처가 명시됐나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7830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주장마다 인용 존재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95144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95144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② 출처가 실재하나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95144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DOI/PMID 실제 조회(가짜 ID 차단)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07208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③ 수치·주장이 원문과 일치하나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807208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원문 대조(요약 왜곡 점검)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19272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④ 최신·철회 여부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19272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발행일·정정/철회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3133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⑤ 재현 가능한가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3831336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프롬프트·모델버전·seed 기록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43400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34340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⑥ 이해상충·편향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34340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출처 편중·상업적 편향 점검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RAG 검증 실무; 본 강의 QA 원칙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검증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사실성 검증 — 코드로 거르기(개념)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7373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인용 실재성 자동 점검 (② 게이트)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3969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3113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for claim in answer.claims: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# 답의 각 주장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if not claim.citation: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"NO_SOURCE")</a:t>
            </a:r>
            <a:r>
              <a:rPr sz="1050">
                <a:solidFill>
                  <a:srgbClr val="7EC699"/>
                </a:solidFill>
                <a:latin typeface="Consolas"/>
              </a:rPr>
              <a:t>       # ① 출처 없음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elif not exists_in(claim.pmid, PubMed):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"FAKE_ID")</a:t>
            </a:r>
            <a:r>
              <a:rPr sz="1050">
                <a:solidFill>
                  <a:srgbClr val="7EC699"/>
                </a:solidFill>
                <a:latin typeface="Consolas"/>
              </a:rPr>
              <a:t>        # ② 가짜 DOI/PMID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    elif not match(claim.value, source.text):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flag(claim, "MISMATCH")</a:t>
            </a:r>
            <a:r>
              <a:rPr sz="1050">
                <a:solidFill>
                  <a:srgbClr val="7EC699"/>
                </a:solidFill>
                <a:latin typeface="Consolas"/>
              </a:rPr>
              <a:t>       # ③ 원문 불일치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71830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2744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식별자 실재 조회·원문 수치 대조는 자동화 가능 — 사람은 flag된 항목만 집중 검토(효율↑)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2023; Skarlinski et al. 2024 (PaperQA2 검증 설계); 본 강의 QA 원칙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RAG도 만능은 아니다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검색이 틀리면(누락·부정확) 답도 틀림 — 검색 품질이 상한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근거 밖으로 '추론'하면 여전히 환각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긴 문맥·다중 문서 종합에서 왜곡 가능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→ 인간 검증·교차확인은 여전히 필수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RAG가 붙었다고 맹신 금지 — 검색이 놓치거나 모델이 근거를 넘어 추론하면 그럴듯한 오답이 나온다. 최종 판단·재현은 사람 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2020; Gao et al. 2023 (RAG survey)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RAG 실패모드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실패모드 — 어디서 무너지나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실패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08760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증상 / 대응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검색 누락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1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관련 근거를 못 찾음 → hybrid·rerank·chunk 개선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잡음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423160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무관 조각 주입 → precision·rerank 강화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71800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근거 무시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971800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근거 있어도 파라미터 지식으로 답 → 'only from context' 지시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2043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근거 밖 비약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52043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근거 넘어 추론 → faithfulness 검사·인용 강제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69079"/>
            <a:ext cx="32918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색인 노후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69079"/>
            <a:ext cx="74066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오래된 정보 → 주기적 재색인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디버깅 순서: 먼저 '검색이 근거를 가져왔나'(retrieve)를 보고, 가져왔다면 '답이 근거만 썼나'(faithfulness)를 본다. 이 둘을 분리해야 chunk·rerank·프롬프트 중 무엇을 고칠지 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Gao et al. 2023 (RAG survey); Liu et al. 2023 (Lost in the Middle)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실전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실전 — LLM+RAG 문헌 리뷰 (예시)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2743200" cy="658368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① 질문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78308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'타겟 X 저해제 계열·근거'를 구조화 질의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2743200" cy="658368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② 검색(RAG)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0604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PubMed·특허 색인에서 관련 문헌 top-k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29000"/>
            <a:ext cx="2743200" cy="658368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2900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③ 근거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900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각 주장에 PMID/DOI 매핑·표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51960"/>
            <a:ext cx="2743200" cy="65836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④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6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출처 실재 조회·원문 수치 대조(체크리스트)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074920"/>
            <a:ext cx="2743200" cy="658368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074920"/>
            <a:ext cx="2560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⑤ 산출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772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요약+출처표+불확실 항목 플래그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흐름이 3교시 에이전트의 원형 — 여기선 사람이 각 단계를 지시하지만, 3교시에선 에이전트가 ①~⑤를 스스로 오케스트레이션한다.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(PaperQA2); 본 강의 검증 원칙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실제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실제 문헌-QA 시스템 — 어디까지 왔나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PaperQA2(FutureHouse): 전문 문헌 RAG QA — 일부 과제서 전문가 수준 주장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범용 LLM + PubMed/특허 커넥터 + RAG로 사내 조합 가능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공통 설계: 검색→근거 추출→인용→자기검증 루프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주의: '주장'은 벤치·조건 의존 — 자기 데이터로 재검증 권장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(PaperQA2, arXiv:2409.13740); FutureHouse 2024–2025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 ·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검색이냐 기억이냐 — RAG vs LLM-wiki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근거를 붙이는 방법이 '검색' 하나뿐인가 — 구조화된 지식을 그냥 '읽게' 하는 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두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동작 차이 — 조각을 검색하나, 페이지를 읽나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1600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417319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RAG (벡터 검색)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417319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LLM-wiki (구조화 지식)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동작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783080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청크 분할 → 임베딩 → top-k 검색 → 프롬프트 주입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783080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색인 → 해당 페이지 파일을 통째로 읽기 → 링크 따라가기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0487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강점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404872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폭(breadth) — 사실상 무한한 코퍼스를 커버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404872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깊이·구조 — 하나의 논증이 한 페이지에 온전히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2666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26664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근거 추적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3026664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청크 조각(문서의 일부) — 앞뒤 맥락이 잘림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26664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파일 경로 — 사람이 그 파일을 열어 감사(audit) 가능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48456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48456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갱신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648456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문서가 바뀌면 재청킹·재임베딩·재색인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648456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파일을 고치면 끝 (다음 읽기부터 반영)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70248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270248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인프라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270248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임베딩 모델 + 벡터 DB 운영·버전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70248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파일 + 색인(디렉토리·목차) — 특별한 인프라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92040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892040"/>
            <a:ext cx="1600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C242B"/>
                </a:solidFill>
                <a:latin typeface="Malgun Gothic"/>
              </a:rPr>
              <a:t>약점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892040"/>
            <a:ext cx="4572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청크 경계가 구조를 깨고, 긴 문맥은 중간 소실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92040"/>
            <a:ext cx="4663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커버리지 한계 · 사람이 쓰고 관리하는 큐레이션 비용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6235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" y="5641848"/>
            <a:ext cx="2286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용어 · LLM-wiki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641848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표준 용어가 아니라 패턴 명칭 — 구조화·큐레이션된 지식 파일을 에이전트가 검색 없이 직접 '읽는' 방식. 문헌·제품마다 knowledge base·agentic memory 등으로도 불린다.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Liu et al. 2023 (Lost in the Middle, 청크·긴 문맥 근거); 본 강의 정성 대조 — 성능 벤치마크 아님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62/71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역할 분담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신약개발에서 — 외부는 RAG, 내부는 wiki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RAG = 외부 · 무한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PubMed · 특허 · 공개 DB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우리가 소유하지 않은 세계의 지식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최신 논문 · 임상시험 등록 정보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학습 컷오프 이후를 메운다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규제 가이드라인 · 경쟁사 공개 정보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문서로 '출판'되어 있어야 검색된다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수백만 건 — 사람이 큐레이션 불가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39319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LLM-wiki = 내부 · 유한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타겟 도시에(target dossier)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표적 1개 = 페이지 1개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화합물 카드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시리즈별 SAR · 물성 · 알려진 이슈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어세이 SOP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프로토콜 · 임계값 · 판정 규칙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의사결정 로그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'무엇을 시도했고 왜 실패했나'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수백~수천 페이지 — 큐레이션 가능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79729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79729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통찰: 실패 기록은 논문이 되지 않는다 — 그래서 RAG(공개 코퍼스)로는 원리적으로 잡히지 않는다. '이 스캐폴드는 2019년 hERG 때문에 접었다' 같은 문장은 사내 wiki에만 존재한다. 제약사의 진짜 자산은 두 번째 열이고, 그걸 LLM에게 주는 방법이 wiki 패턴이다.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정리 — 내부 의사결정 로그의 비공개성은 정성적 관찰(벤치마크 아님)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63/71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이미 쓰고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우리 실습 하네스가 이미 wiki다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96596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0905_agent/pde5_harness/ — 실제 디렉토리 구조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68296"/>
            <a:ext cx="10607040" cy="226771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59736"/>
            <a:ext cx="1024128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pde5_harness/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├── CLAUDE.md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            # 규약·워크플로·하드 규칙(무-날조)·검증 기준 표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├── .claude/skills/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plan-research/SKILL.md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 # 계획을 JSON으로 — 계획 없이 실행 금지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target-lookup/SKILL.md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 # UniProt O76074 조회·실재 검증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chembl-actives/SKILL.md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# CHEMBL1827 활성물질 조회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mol-properties/SKILL.md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# RDKit MW/logP/QED/SA · Lipinski 게이트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├── selectivity-check/SKILL.md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# PDE5 vs PDE6 — 정량 예측 없음(정직)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│   └── report-writer/SKILL.md</a:t>
            </a:r>
            <a:r>
              <a:rPr sz="1050">
                <a:solidFill>
                  <a:srgbClr val="7EC699"/>
                </a:solidFill>
                <a:latin typeface="Consolas"/>
              </a:rPr>
              <a:t>      # IMRAD + 검증 로그 + 참고문헌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├── .claude/hooks/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      # provenance·무-날조 자동 점검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└── scripts/</a:t>
            </a:r>
            <a:r>
              <a:rPr sz="1050">
                <a:solidFill>
                  <a:srgbClr val="7EC699"/>
                </a:solidFill>
                <a:latin typeface="Consolas"/>
              </a:rPr>
              <a:t>                       # 실제 계산 — 수치는 오직 여기서만 나온다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9087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0001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에이전트는 임베딩도 벡터 DB도 없이 이 파일들을 '읽어서' 절차 지식을 얻는다 — CLAUDE.md=규약 페이지, 각 SKILL.md=도구 페이지, 디렉토리 구조=색인. 이것이 wiki 패턴.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7900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79729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79729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3·4교시 연결: 3교시 에이전트는 이 wiki를 읽고 스스로 도구를 고르고, 4교시 하네스 설계는 이 구조 자체가 과제다. 사내 지식을 벡터로 흩뿌리는 대신 '사람도 읽을 수 있는 페이지'로 두면, 에이전트와 사람이 같은 문서를 감사한다.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0905_agent/pde5_harness/ — CLAUDE.md · .claude/skills/ 6종 · .claude/hooks/ (본 강의 실습 하네스 실제 구조)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64/71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하이브리드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지도로 좁히고, 검색으로 당긴다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481328"/>
            <a:ext cx="2057400" cy="914400"/>
          </a:xfrm>
          <a:prstGeom prst="round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① 질문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다음 시리즈로 갈까?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51176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52344" y="1481328"/>
            <a:ext cx="2057400" cy="91440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3784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② wiki 색인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지도 — 무엇이 어디에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64608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5" y="1481328"/>
            <a:ext cx="2057400" cy="91440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5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③ 스코프 확정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페이지·표적·기간 한정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8040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9208" y="1481328"/>
            <a:ext cx="2057400" cy="91440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0648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④ RAG 검색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좁힌 범위의 상세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91472" y="1810512"/>
            <a:ext cx="146304" cy="256032"/>
          </a:xfrm>
          <a:prstGeom prst="rightArrow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92640" y="1481328"/>
            <a:ext cx="2057400" cy="914400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1499616"/>
            <a:ext cx="1874519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⑤ 답 + 출처</a:t>
            </a:r>
          </a:p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FFFFFF"/>
                </a:solidFill>
                <a:latin typeface="Malgun Gothic"/>
              </a:rPr>
              <a:t>파일 경로 + DOI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633472"/>
            <a:ext cx="5166360" cy="29260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640080" y="2633472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79191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wiki = 지도(map)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3374135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3009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무엇이 어디 있나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페이지 제목·태그·링크만 보면 됨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" y="3977639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904487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스코프를 좁힌다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전체 코퍼스 → 관련 3~5 페이지</a:t>
            </a:r>
          </a:p>
        </p:txBody>
      </p:sp>
      <p:sp>
        <p:nvSpPr>
          <p:cNvPr id="27" name="Oval 26"/>
          <p:cNvSpPr/>
          <p:nvPr/>
        </p:nvSpPr>
        <p:spPr>
          <a:xfrm>
            <a:off x="896112" y="458114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50799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사람이 감사 가능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파일 경로가 그대로 근거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2633472"/>
            <a:ext cx="5166360" cy="29260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355080" y="2633472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679191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RAG = 검색(search)</a:t>
            </a:r>
          </a:p>
        </p:txBody>
      </p:sp>
      <p:sp>
        <p:nvSpPr>
          <p:cNvPr id="32" name="Oval 31"/>
          <p:cNvSpPr/>
          <p:nvPr/>
        </p:nvSpPr>
        <p:spPr>
          <a:xfrm>
            <a:off x="6611112" y="3374135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33009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좁힌 안에서 상세를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해당 문서군만 top-k로 회수</a:t>
            </a:r>
          </a:p>
        </p:txBody>
      </p:sp>
      <p:sp>
        <p:nvSpPr>
          <p:cNvPr id="34" name="Oval 33"/>
          <p:cNvSpPr/>
          <p:nvPr/>
        </p:nvSpPr>
        <p:spPr>
          <a:xfrm>
            <a:off x="6611112" y="3977639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904487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외부 최신 근거 보강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PubMed·특허를 그때그때</a:t>
            </a:r>
          </a:p>
        </p:txBody>
      </p:sp>
      <p:sp>
        <p:nvSpPr>
          <p:cNvPr id="36" name="Oval 35"/>
          <p:cNvSpPr/>
          <p:nvPr/>
        </p:nvSpPr>
        <p:spPr>
          <a:xfrm>
            <a:off x="6611112" y="458114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450799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정밀도↑ · 비용↓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전체 코퍼스를 뒤지지 않음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42432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5760720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5760720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순서가 핵심: wiki로 '어디를 볼지' 먼저 정하고, 그 안에서 RAG로 '무엇이 쓰여 있는지'를 당긴다. 반대로 전체 코퍼스에 바로 top-k를 던지면 무관한 청크가 섞이고 긴 문맥의 중간 소실이 커진다.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Liu et al. 2023 (Lost in the Middle); 본 강의 하네스 설계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65/71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지식그래프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 층 더 — 관계를 명시하면 검증이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9844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커리큘럼 6일차 시나리오 '환각 방지를 위한 지식 그래프 작성 및 검증' — wiki의 페이지-링크 관계를 기계가 읽는 형태로 명시화한 것이 지식 그래프.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1907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실재하는 신약 지식그래프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19072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규모 ·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1907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무엇에 쓰나 /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84831"/>
            <a:ext cx="11247120" cy="8778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84831"/>
            <a:ext cx="128016" cy="877824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84831"/>
            <a:ext cx="28346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Open Targets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84831"/>
            <a:ext cx="384048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표적-질환 연관을 유전학·오믹스·문헌·화학 근거로 통합, 분기별 릴리스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084831"/>
            <a:ext cx="40233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표적 발굴·우선순위화 / Ochoa et al. 2025, Nucleic Acids Res 53(D1):D1467–D1477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247120" cy="8778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128016" cy="87782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17520"/>
            <a:ext cx="28346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Hetionet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017520"/>
            <a:ext cx="384048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45,158 노드 · 24 관계형 · 2,250,197 엣지, 공개 생의학 DB 29종 통합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017520"/>
            <a:ext cx="40233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약물 재창출 링크 예측 / Himmelstein et al. 2017, eLife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0208"/>
            <a:ext cx="11247120" cy="8778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50208"/>
            <a:ext cx="128016" cy="877824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50208"/>
            <a:ext cx="28346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PrimeKG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950208"/>
            <a:ext cx="384048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10만+ 노드 · 400만+ 엣지 · 29 관계형, 1차 DB 20종+ 통합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50208"/>
            <a:ext cx="40233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정밀의학 — 질환·유전자·약물·표현형 연결 / Chandak et al. 2023, Sci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04748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065775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065775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층위 지정: 프롬프트=말 거는 법 / RAG=문서 조각 / wiki=구조화된 페이지 / 지식그래프=페이지 사이의 '관계'를 (주어, 관계, 목적어) 삼중항으로 명시화. 관계가 명시되면 '약물 A—저해→표적 B—연관→질환 C' 경로를 기계가 따라가 검증할 수 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그래프도 만능이 아니다 — 엣지 자체가 자동 텍스트마이닝 산물이면 그 엣지가 곧 환각의 출처가 된다. 엣지마다 근거(출처 DB·PMID)를 달고, '내가 만든 그래프를 무엇으로 검증했나'를 기록할 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Himmelstein et al. 2017 (Hetionet, eLife); Chandak et al. 2023 (PrimeKG, Sci Data); Ochoa et al. 2025 (Open Targets Platform, NAR) — 노드·엣지 수는 각 배포판 기준, 확인 권장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66/71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판단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실무 판단 — 넷 중 무엇을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상황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5087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0876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이유 · 조건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28016" cy="56692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74519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지금 당장 시도, 훈련·인프라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874519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874519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5분이면 된다 — 언제나 여기서 시작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9631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96312"/>
            <a:ext cx="128016" cy="566928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96312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외부 최신 사실이 필요(논문·특허·임상)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49631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496312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코퍼스가 무한·공개 — 검색 말고는 방법이 없다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1810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118104"/>
            <a:ext cx="128016" cy="566928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118104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내부 절차·결정 이력이 필요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1181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LLM-wiki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118104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유한·큐레이션 가능, 파일 경로가 그대로 근거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39896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39896"/>
            <a:ext cx="128016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39896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엔티티 사이 '관계'를 추론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73989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지식 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739896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경로를 따라 검증 — 없는 엣지는 곧 반증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61688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61688"/>
            <a:ext cx="128016" cy="5669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361688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대부분의 현업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36168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조합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361688"/>
            <a:ext cx="4434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wiki로 좁히고 · RAG로 당기고 · 그래프로 검증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76072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577900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77900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실습 예고 — 6일차 nb1 에이전트(직접 만드는 과학 에이전트)는 지금 UniProt·ChEMBL·PubMed 도구만 갖고 있다. 여기에 사내 페이지를 읽는 wiki 도구(list_pages / read_page)를 하나 붙이면, 같은 에이전트가 외부 사실과 내부 이력을 함께 근거로 쓰게 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6일차 커리큘럼 · notebooks/nb1_scientific_agent.ipynb · 0905_agent/pde5_harness/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67/71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실무 원칙 · 벤치마크 함정 · 3교시로의 연결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68/71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실무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재직자 실무 원칙 — DO &amp; DON'T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 (권장)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출처·근거를 항상 요구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RAG로 사내 문헌·노트에 grounding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구조화 출력→자동 검증 파이프라인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답은 '가설'로 취급·교차확인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DON'T (금지)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없이 결과 인용·의사결정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단독으로 분자 생성 맹신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민감데이터 무단 입력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가짜 DOI/PMID 미확인 방치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줄 요약: '근거를 붙이게 하고, 사람이 검증한다.' 이 두 가지만 지켜도 현업에서 LLM을 안전하게 쓸 수 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QA 원칙; Ji et al. 2023; OWASP LLM Top 10 (4교시)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69/71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벤치마크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LLM·과학 역량 벤치마크 — 무엇을 재나, 왜 점수만으론 못 믿나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벤치마크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417319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내용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LAB-Bench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78308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2,400+ 생물 연구역량(문헌·프로토콜·DB·그림)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31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BixBench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33172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생명정보학 에이전트 평가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036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803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MedQA/PubMedQA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8036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의료·생의학 QA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290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평가의 이동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429000"/>
            <a:ext cx="758952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단순 지식 QA → 문헌 검색·프로토콜 이해·데이터 분석 등 실제 연구 역량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22452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412394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 오염(contamination): 테스트가 학습에 섞이면 점수 부풀림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79145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69087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벤치-현업 격차: 시험 잘 봐도 우리 데이터·질문엔 다를 수 있음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53583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257800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지표 편향: 단일 점수는 실패 유형(환각·비약)을 감춤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'SOTA 점수'는 마케팅이 되기 쉽다. 재직자 판단 기준: 우리 문헌·우리 질문으로 소규모 파일럿을 돌려 환각률·인용 정확도를 직접 측정하라.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(LAB-Bench, arXiv:2407.10362); FutureHouse 2025 (BixBench, 확인 권장)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70/71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8191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범용 LLM = 문헌·데이터·가설·코드의 만능 조수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404872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86584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프롬프트: 역할·지시·few-shot·CoT·분해·self-consistency·구조화 출력·출처 요구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91256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API·함수호출·구조화 출력로 파이프라인화(→에이전트 토대)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014216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1421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995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환각은 원리적(확률적 이어쓰기) — 4층(프롬프트·RAG·앙상블·검증)으로 완화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818888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1888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006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RAG(chunk→embed→retrieve→rerank) + 인용 표준 + 6항목 체크리스트로 검증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62356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6235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05272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 답은 '가설' — 검증·재현은 사람 몫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다음(3교시): 스스로 도구를 쓰게 — ReAct·tool use·계획·메모리 · ChemCrow·Coscientist·AI co-scientist·Robin·Claude for LS · DMTA 자율화 (보안·엔지니어링은 4교시)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71/71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(2교시)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프롬프트·활용: Wei et al. 2022 (CoT, 2201.11903); Wang et al. 2023 (Self-Consistency, ICLR, 2203.11171); Madaan et al. 2023 (Self-Refine); Brown et al. 2020 (GPT-3 in-context, 2005.14165); Liu et al. 2023 (Prompting Survey); Schick et al. 2023 (Toolformer).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RAG·검색: Lewis et al. 2020 (RAG, NeurIPS, 2005.11401); Karpukhin et al. 2020 (DPR); Reimers &amp; Gurevych 2019 (Sentence-BERT); Gao et al. 2023 (RAG survey); Nogueira &amp; Cho 2019 (BERT re-ranking, 확인 권장).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91256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환각: Ji et al. 2023 (Hallucination Survey, ACM Comput Surv); Taylor et al. 2022 (Galactica, 2211.09085); Liu et al. 2023 (Lost in the Middle).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41064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문헌-QA·벤치마크: Skarlinski et al. 2024 (PaperQA2, 2409.13740); Laurent et al. 2024 (LAB-Bench, 2407.10362); FutureHouse 2025 (BixBench, 확인 권장).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90872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화학 LLM 활용: Bran et al. 2024 (ChemCrow); Ye et al. 2024 (DrugAssist).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40679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C242B"/>
                </a:solidFill>
                <a:latin typeface="Malgun Gothic"/>
              </a:rPr>
              <a:t>• * 인용 표준·검증 체크리스트·RAG 평가(RAGAS 등)는 과학 저술 규범 + 본 강의 QA 원칙 기반. 일부 서지·수치는 확인 권장 표기.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