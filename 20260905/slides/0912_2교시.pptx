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llm_agen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234440"/>
            <a:ext cx="4389120" cy="23940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069080"/>
            <a:ext cx="12191695" cy="2148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6일차 · 2교시 — 일반 LLM 활용 &amp; 환각 통제</a:t>
            </a:r>
          </a:p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009CD8"/>
                </a:solidFill>
                <a:latin typeface="Malgun Gothic"/>
              </a:rPr>
              <a:t>프롬프트 엔지니어링 · API·함수호출 · RAG 파이프라인 · 인용 표준 · 사실성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재직자 3과정 · 6일차(9/12) · 대규모 언어모델과 신약개발 · 이론(심화)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 → 2교시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A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1교시 (원리·모델)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LLM 원리·Transformer·정렬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범용 LLM ↔ 과학 LM(단백질·화학)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'무엇이 있나'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 (활용·신뢰)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범용 LLM을 연구에 어떻게 쓰나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프롬프트·API·RAG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환각을 어떻게 통제·검증하나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'어떻게 믿고 쓰나'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1교시가 '무엇이 있나'였다면 2교시는 '실제로 어떻게 쓰고, 어떻게 믿을 수 있게 만드나'. 신약 현업에서 LLM은 강력하지만 '검증 없는 신뢰'는 위험 — 프롬프트·RAG·체크리스트가 핵심.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Zhao et al. 2023 (LLM Survey); Ji et al. 2023 (Hallucination Survey)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2교시에서 볼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82296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937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A. 일반 LLM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프롬프트 엔지니어링(심화)·API·함수호출·구조화 출력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5120640" cy="82296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4937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B. RAG &amp; 환각 통제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80360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환각 원리·유형·완화 · RAG 파이프라인 · 인용·검증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5120640" cy="82296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31920"/>
            <a:ext cx="4937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C.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실무 원칙·벤치마크 함정·3교시 예고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재직자 초점: '그럴듯한 답'을 '검증된 근거'로 바꾸는 실전 기법 — 프롬프트 설계·구조화 출력·RAG·6항목 체크리스트를 손에 익힌다.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2교시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일반 LLM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프롬프트·API·함수호출로 연구를 가속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활용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범용 LLM을 신약연구에 — 어디에 쓰나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작업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0876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LLM 활용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문헌·특허 리뷰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7451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방대한 논문 요약·핵심 추출·비교(RAG 결합)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실험노트·리포트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2316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비정형 기록 구조화·표 추출·요약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가설·아이디어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선행연구 종합→가설·실험 설계 초안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20439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분자·데이터 질의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2043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SMILES 설명·속성 해석·코드 생성(RDKit)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69079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규제·문서 초안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06907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SOP·프로토콜·요약 초안(사람 검수 전제)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8247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247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LLM은 '읽고·요약하고·초안 쓰고·코드 만드는' 만능 조수. 신약연구의 병목인 방대한 문헌·비정형 데이터에 특히 유용 — 단, 결과는 반드시 검증(B파트)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Zhao et al. 2023; Skarlinski et al. 2024 (PaperQA2)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프롬프트 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프롬프트 패턴 — 여섯 갈래가 모델을 조종한다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1">
                <a:solidFill>
                  <a:srgbClr val="5A636B"/>
                </a:solidFill>
                <a:latin typeface="Malgun Gothic"/>
              </a:rPr>
              <a:t>무텍스트 개념도: 역할·few-shot·CoT·decomposition·구조화 출력·자기검토 → 모델 코어로 수렴</a:t>
            </a:r>
          </a:p>
        </p:txBody>
      </p:sp>
      <p:pic>
        <p:nvPicPr>
          <p:cNvPr id="7" name="Picture 6" descr="prompt_patterns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27632"/>
            <a:ext cx="7680960" cy="41896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여섯 가지 프롬프트 기법(역할 부여 · 예시 few-shot · 단계적 사고 CoT · 문제 분해 · JSON 스키마 · 자기검토)이 하나의 모델을 서로 다른 방향으로 '조종'한다. 재학습 없이 행동을 바꾸는 것이 프롬프트 엔지니어링.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Wei et al. 2022 (CoT); Brown et al. 2020 (in-context); Liu et al. 2023 (Prompting Survey)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프롬프트 엔지니어링 — 기본기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역할·맥락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system: '너는 의약화학 전문가' + 배경 제공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명확한 지시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무엇을·형식·제약을 구체적으로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few-shot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예시 1~few개로 패턴 제시(in-context)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Chain-of-Thought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'단계별로 생각' → 추론 정확도↑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구조화 출력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JSON/표 스키마 강제 → 파싱·자동화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검증 유도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'출처·근거를 함께', '모르면 모른다고'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재학습 없이 행동 제어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형식 고정→파이프라인 연결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CoT로 추론 품질↑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프롬프트 민감·불안정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여전히 환각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Wei et al. 2022 (CoT, 2201.11903); Brown et al. 2020; OpenAI/Anthropic 프롬프트 가이드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프롬프트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좋은 프롬프트의 6-요소 해부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무엇을 넣나 (구성)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① 역할/페르소나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system: 전문성·톤 고정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② 맥락/배경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도메인·데이터·목적 제공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③ 지시(task)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동사로 명확히·범위 한정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④ 예시(few-shot)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입력→출력 패턴 시연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어떻게 통제하나 (제약)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⑤ 출력 형식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JSON 스키마·표·길이 제한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⑥ 제약/가드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'근거 필수·모르면 unknown'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우선순위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system &gt; 예시 &gt; user 지시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반복·튜닝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실패 케이스로 프롬프트 개선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감각: 프롬프트는 '지시문'이 아니라 '사양서(spec)'. 6요소를 빠짐없이 채우면 같은 모델도 재현성·정확도가 크게 오른다. 특히 ⑤·⑥이 자동화·환각 억제의 핵심.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Liu et al. 2023 (Prompting Survey); Anthropic/OpenAI 프롬프트 가이드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프롬프트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프롬프트 — 구조화 출력·근거 요구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288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의약화학 질의 프롬프트 (개념)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31136"/>
            <a:ext cx="10607040" cy="1938528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102412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[system] 너는 의약화학 전문가다. 근거 없는 주장 금지.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[user] 다음 표적의 알려진 저해제 계열 3개를 정리.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각 항목: {계열, 대표물질, 근거(PMID/DOI)}</a:t>
            </a:r>
            <a:r>
              <a:rPr sz="1100">
                <a:solidFill>
                  <a:srgbClr val="7EC699"/>
                </a:solidFill>
                <a:latin typeface="Consolas"/>
              </a:rPr>
              <a:t>  # 구조화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출처를 못 찾으면 'unknown'으로.        </a:t>
            </a:r>
            <a:r>
              <a:rPr sz="1100">
                <a:solidFill>
                  <a:srgbClr val="7EC699"/>
                </a:solidFill>
                <a:latin typeface="Consolas"/>
              </a:rPr>
              <a:t>  # 환각 억제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[출력] JSON 배열 (파싱→검증 파이프라인)     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24528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핵심: (1) 역할·제약 명시, (2) 스키마 강제, (3) 출처 요구 + '모르면 모른다' — 환각을 줄이고 자동 검증을 가능하게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96188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96188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좋은 프롬프트 = '누가·무엇을·어떤 형식으로·어떤 근거로'를 못 박기. 특히 '출처를 붙여라'와 '모르면 모른다고 해라'가 환각을 크게 줄인다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Anthropic/OpenAI 프롬프트 가이드; Wei et al. 2022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few-shot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few-shot — 예시로 패턴을 심는다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830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few-shot: 라벨링 규칙을 예시로 시연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85416"/>
            <a:ext cx="10607040" cy="2231136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024128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[system] 문장에서 (약물, 표적, 관계)를 추출해 JSON으로.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[예시1] '실데나필은 PDE5A를 저해한다'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7EC699"/>
                </a:solidFill>
                <a:latin typeface="Consolas"/>
              </a:rPr>
              <a:t>   → {"drug":"sildenafil","target":"PDE5A","rel":"inhibits"}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[예시2] '트라스투주맙은 HER2에 결합한다'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7EC699"/>
                </a:solidFill>
                <a:latin typeface="Consolas"/>
              </a:rPr>
              <a:t>   → {"drug":"trastuzumab","target":"HER2","rel":"binds"}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[입력] '타다라필은 PDE5A를 억제한다'  →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71416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80559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예시 2~5개로 '출력 형식+판단 기준'을 동시에 전달 — 규칙을 장황히 쓰는 것보다 예시가 더 정확하고 안정적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few-shot 실무: (1) 예시는 다양·대표적으로(경계 케이스 포함), (2) 형식을 예시 안에 그대로 보여줌, (3) 예시 순서·개수도 성능에 영향 → 실패 샘플을 예시로 추가하며 튜닝.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Brown et al. 2020 (GPT-3 in-context, 2005.14165); Liu et al. 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CoT·분해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추론 강화 — Chain-of-Thought &amp; 분해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Chain-of-Thought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'단계별로 풀이를 쓰게' 유도 → 다단계 추론↑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분해(decomposition)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복잡 질문을 하위 질문으로 쪼개 순차 해결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근거-먼저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'근거를 먼저 나열 → 그 뒤 결론' 강제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scratchpad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중간 계산·가정을 명시적으로 적게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적용 예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기전 추론·용량 계산·다단계 문헌 종합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단순 프롬프트 대비 추론 정확도↑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중간 과정 노출→검토·디버깅 용이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분해로 오류 국소화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토큰·비용·지연↑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쉬운 과제엔 과함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과정이 그럴듯해도 결론 오답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Wei et al. 2022 (CoT, 2201.11903); Zhou et al. 2023 (Least-to-Most); 확인 권장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SC·자기검토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안정화 — self-consistency &amp; 자기검토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여러 번 샘플링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temperature&gt;0으로 풀이를 N개 생성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다수결(self-consistency)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가장 많이 나온 최종답 채택 → 분산↓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자기검토(critique)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초안→'오류를 찾아 고쳐라' 2-pass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페르소나 재검토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'회의적 리뷰어' 시점으로 재평가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교차검증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서로 다른 프롬프트/모델 답 대조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단발 답보다 신뢰도↑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논리 비약·계산오류 감소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자동 파이프라인에 적합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샘플 수만큼 비용 배수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합의가 '틀린 합의'일 수도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최종 사실검증은 여전히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et al. 2023 (Self-Consistency, ICLR, 2203.11171); Madaan et al. 2023 (Self-Refine)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구조화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구조화 출력 — JSON 스키마로 계약을 건다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3736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출력 스키마 강제 (function/JSON schema 개념)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39696"/>
            <a:ext cx="10607040" cy="252374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31136"/>
            <a:ext cx="1024128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schema = {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"type":"object",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"properties": {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"target":  {"type":"string"},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"inhibitors": {"type":"array",</a:t>
            </a:r>
            <a:r>
              <a:rPr sz="1050">
                <a:solidFill>
                  <a:srgbClr val="7EC699"/>
                </a:solidFill>
                <a:latin typeface="Consolas"/>
              </a:rPr>
              <a:t>  # 리스트 강제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"items": {"required":["name","pmid"]}},</a:t>
            </a:r>
            <a:r>
              <a:rPr sz="1050">
                <a:solidFill>
                  <a:srgbClr val="7EC699"/>
                </a:solidFill>
                <a:latin typeface="Consolas"/>
              </a:rPr>
              <a:t> # 출처 필수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"confidence": {"enum":["high","low","unknown"]}}}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18303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2744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스키마를 '계약'으로 강제 → 필드 누락·자유서술 차단, 출처(pmid) 필수화, 불확실성(confidence)까지 구조로 수집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왜 중요한가: 자유 텍스트는 파싱·검증이 불가능 → 자동화가 막힌다. JSON 스키마(또는 function calling의 파라미터 스키마)로 출력을 '데이터'로 만들면 다음 단계(DB조회·검증)를 코드로 연결할 수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OpenAI structured outputs / function calling; Anthropic tool 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안티패턴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프롬프트 안티패턴 — 이렇게 하면 틀린다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안티패턴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0876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왜 위험 / 대안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'다 알아서 해줘'(모호)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6949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범위·형식 불명→엉뚱한 답 / 지시·형식 명시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04872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04872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출처 요구 안 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04872"/>
            <a:ext cx="6949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환각·위조 방치 / '근거·DOI 필수'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35224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35224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'모르면 모른다'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35224"/>
            <a:ext cx="6949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억지 답 생성 / 불확실성 허용 명시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65575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65575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한 번에 거대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465575"/>
            <a:ext cx="6949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오류 누적 / 분해·단계화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95927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95927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출력 자유서술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995927"/>
            <a:ext cx="6949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파싱·검증 불가 / JSON 스키마 강제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79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526279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결과 맹신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526279"/>
            <a:ext cx="6949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검증 생략→오판 / 체크리스트(B파트)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현업 최다 실수: (1) 출처를 안 시키고 (2) 결과를 그대로 믿는 것. 프롬프트에 '근거 필수·모르면 모른다'를 넣고, 답은 항상 가설로 취급하라.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Anthropic/OpenAI 프롬프트 가이드; Ji et al. 2023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함수호출 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함수호출(tool calling) — 모델이 도구를 부른다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1">
                <a:solidFill>
                  <a:srgbClr val="5A636B"/>
                </a:solidFill>
                <a:latin typeface="Malgun Gothic"/>
              </a:rPr>
              <a:t>무텍스트 개념도: 모델 → 구조화 JSON 호출 → 외부 도구(계산·DB·검색·화학) → 결과 회신 루프</a:t>
            </a:r>
          </a:p>
        </p:txBody>
      </p:sp>
      <p:pic>
        <p:nvPicPr>
          <p:cNvPr id="7" name="Picture 6" descr="function_calling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27632"/>
            <a:ext cx="7680960" cy="41896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모델이 스스로 '어떤 도구를, 어떤 인자로' 호출할지 구조화(JSON)해 내보내면, 시스템이 실제 도구(계산기·DB·검색·RDKit)를 실행하고 결과를 다시 모델에 돌려준다. 이 요청-응답 루프가 3교시 '에이전트'의 토대.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OpenAI function calling; Anthropic tool use; Schick et al. 2023 (Toolformer)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API·구조화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API·함수호출 — 연구 파이프라인에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API 활용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프로그램에서 LLM 호출(배치·자동화)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temperature·top_p로 다양성 제어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system/tools/messages 구성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비용=토큰(3교시 실습)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구조화·함수호출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JSON 스키마 강제 출력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function/tool calling → 외부 도구 호출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에이전트의 토대(3교시)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RDKit·DB·검색 연결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8247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챗창을 넘어 '코드로' LLM을 부르면 대량 자동화가 된다. 출력을 JSON으로 고정하고, 함수호출로 외부 도구(계산·검색)를 붙이면 → 에이전트(3교시)로 진화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OpenAI function calling; Anthropic tool use; Schick et al. 2023 (Toolformer)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함수호출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함수호출 — 도구 스키마 정의(개념)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916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tool 정의 + 모델의 호출 → 실행 → 회신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93976"/>
            <a:ext cx="10607040" cy="281635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85416"/>
            <a:ext cx="10241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tools = [{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"name":"pubmed_search",</a:t>
            </a:r>
            <a:r>
              <a:rPr sz="1050">
                <a:solidFill>
                  <a:srgbClr val="7EC699"/>
                </a:solidFill>
                <a:latin typeface="Consolas"/>
              </a:rPr>
              <a:t>        # 도구 이름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"description":"질의어로 PubMed를 검색",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"parameters":{"query":"string","top_k":"int"}}]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7EC699"/>
                </a:solidFill>
                <a:latin typeface="Consolas"/>
              </a:rPr>
              <a:t># 모델 출력(구조화):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call = {"tool":"pubmed_search",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 "args":{"query":"PDE5 inhibitor resistance","top_k":5}}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7EC699"/>
                </a:solidFill>
                <a:latin typeface="Consolas"/>
              </a:rPr>
              <a:t># 시스템이 실제 검색 실행 → 결과를 모델에 회신 → 최종답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6519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7433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모델은 '무엇을 검색할지'만 정하고, 실제 실행은 우리 코드가 담당 → 근거 있는 답 + 재현 가능한 행동 로그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도구 스키마를 잘 쓰면 LLM이 계산·검색·시뮬레이션을 '적절한 때' 호출한다. 단, 어떤 도구를 언제 부를지는 모델 판단이라 오호출 가능 → 인자 검증·권한 제한 필수(4교시 보안).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Schick et al. 2023 (Toolformer); OpenAI/Anthropic tool use 가이드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디코딩 파라미터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출력 제어 — temperature·top_p·seed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다양성 파라미터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temperature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0=결정적, ↑=창의·발산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top_p (nucleus)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확률 상위 집합만 샘플링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사실질의·추출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temperature 낮게(0~0.3)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아이디어 발산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temperature 높게(0.7~1.0)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재현·안정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seed 고정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같은 입력→같은 출력(가능 모델)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max_tokens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길이·비용 상한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stop 시퀀스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형식 이탈 방지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로그 보관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프롬프트·파라미터·버전 기록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temperature = '모험 다이얼'. 사실을 뽑을 땐 낮춰 안정적으로, 브레인스토밍엔 높여 다양하게. self-consistency는 일부러 높여 여러 답을 뽑아 다수결하는 것.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모델 제공사 API 파라미터 스펙; Wang et al. 2023 (self-consistency)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모델 선택·비용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실무 — 모델 선택과 비용·보안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모델 선택 기준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과제 난도↔모델 급(비용) 매칭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긴 문서→긴 컨텍스트 모델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정형·대량→저가·고속 모델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불필요한 고급모델 낭비 주의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비용·보안 실무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비용=토큰(입력+출력)·캐싱 활용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민감데이터→온프렘/계약·마스킹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모델버전 고정·로그 보관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재현·감사(4교시)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팁: 쉬운 작업엔 싸고 빠른 모델, 어려운 추론엔 고급 모델로 '급을 나눠' 쓰면 비용을 크게 아낀다. 2026 현행 프론티어=GPT-5 계열·Claude Opus 5/Sonnet 5·Gemini 3·오픈 Llama 4(세부 버전 2026.9 확인 권장). 민감정보(미공개 타겟·환자데이터)는 반드시 처리 정책 확인(4교시 보안).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모델 제공사 가격·컨텍스트 스펙; 0905_agent/2026_landscape.md (확인 권장); 본 강의 6일차 실습 비용 설계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토큰·비용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비용 구조 — 토큰·캐싱·컨텍스트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 / 실무 절감법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입력 토큰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19"/>
            <a:ext cx="7406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프롬프트·문서 길이 → 프롬프트 다이어트·요약 선행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41448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출력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41448"/>
            <a:ext cx="7406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생성 길이 → max_tokens·간결 형식 지정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08376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프롬프트 캐싱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08376"/>
            <a:ext cx="7406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반복 system·문서 재사용 → 캐시로 입력비↓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75303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컨텍스트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575303"/>
            <a:ext cx="7406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길수록 비용·'중간 소실'↑ → 필요분만 RAG로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42231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배치·모델급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142231"/>
            <a:ext cx="7406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저난도는 소형·배치 → 단가↓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'긴 컨텍스트에 다 넣기'는 비싸고 위험 — 중간 정보 소실(lost-in-the-middle)·비용 급증. 필요한 근거만 RAG로 골라 넣는 것이 싸고 정확하다.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Liu et al. 2023 (Lost in the Middle); 모델 제공사 가격 스펙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데이터·보안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민감데이터 — 넣기 전에 확인할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위험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미공개 타겟·후보구조 유출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환자·임상 개인정보(규제 대상)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계약·NDA 위반 가능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프롬프트 인젝션(4교시)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외부 문서에 숨은 지시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실무 가드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전송 전 마스킹·비식별화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온프렘/기업계약·데이터 미학습 옵션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접근권한·로그·감사 추적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사내 정책·IRB 확인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의심되면 넣지 않기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원칙: '이 데이터가 외부로 나가도 되는가'를 넣기 전에 판단. 미공개 IP·환자정보는 기본적으로 외부 API 금지 또는 계약·비식별화 후. 상세 위협·방어는 4교시(보안).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LLM Top 10 (2025, 4교시); 기관 데이터 거버넌스 정책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후보물질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후보물질 생성·평가에 LLM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SMILES/서열을 프롬프트로 — 설명·유사물질·변형 제안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화학 LM(1교시)·생성모델과 결합해 아이디어 발산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물성·ADMET 도구 호출로 후보 스크리닝 자동화(3교시 에이전트)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단, LLM 단독 분자 '생성'은 validity·합성가능성 취약 → 전용 생성모델 병용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LLM에게 직접 'SMILES 만들어줘' 하면 문법 오류·비현실 분자가 흔하다. 후보 생성은 전용 생성모델(REINVENT 등, 4일차)에 맡기고 LLM은 오케스트레이션·해석에 쓰는 게 안전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Bran et al. 2024 (ChemCrow); Ye et al. 2024 (DrugAssist)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멀티모달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멀티모달 LLM — 텍스트+분자+구조</a:t>
            </a:r>
          </a:p>
        </p:txBody>
      </p:sp>
      <p:pic>
        <p:nvPicPr>
          <p:cNvPr id="6" name="Picture 5" descr="u_mult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LLM은 텍스트를 넘어 분자(SMILES)·단백질 구조·이미지를 한 모델에서 함께 다룬다. 화학 멀티모달(예: ChemMLLM 2026, 확인 권장)이 대표 — 1교시 과학 LM과 연결.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RAG &amp; 환각 통제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'그럴듯한 오답'을 근거로 붙잡는다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 · 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LLM의 한계 — 환각·프롬프트 주입</a:t>
            </a:r>
          </a:p>
        </p:txBody>
      </p:sp>
      <p:pic>
        <p:nvPicPr>
          <p:cNvPr id="6" name="Picture 5" descr="u_llm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LLM은 학습에 없는 것을 '그럴듯하게' 지어내고(환각), 외부 문서에 숨은 지시에 휘둘릴 수 있다(프롬프트 주입) — 근거 부착(RAG)과 검증이 필요한 이유.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RAG — 검색 증강 생성 구조</a:t>
            </a:r>
          </a:p>
        </p:txBody>
      </p:sp>
      <p:pic>
        <p:nvPicPr>
          <p:cNvPr id="6" name="Picture 5" descr="u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외부 데이터→검색(retrieve)→관련 근거를 프롬프트에 확장(augment)→생성(generate). '오픈북 시험'처럼 실제 문서에 근거해 답한다.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 · RAG vs 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RAG vs Fine-tuning — 언제 무엇을</a:t>
            </a:r>
          </a:p>
        </p:txBody>
      </p:sp>
      <p:pic>
        <p:nvPicPr>
          <p:cNvPr id="6" name="Picture 5" descr="u_rag_vs_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최신·가변 지식과 출처 추적이 필요하면 RAG, 고정된 문체·형식·도메인 행동 내재화가 필요하면 파인튜닝 — 둘은 배타적이 아니라 상보적.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환각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환각의 네 갈래 — 무엇을 조심하나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1">
                <a:solidFill>
                  <a:srgbClr val="5A636B"/>
                </a:solidFill>
                <a:latin typeface="Malgun Gothic"/>
              </a:rPr>
              <a:t>개념도(영문 라벨): 사실오류(factual-error)·출처위조(fabricated-citation)·최신성 결여(outdated)·과잉일반화(over-generalization)가 한 모델에서 뻗어나온다</a:t>
            </a:r>
          </a:p>
        </p:txBody>
      </p:sp>
      <p:pic>
        <p:nvPicPr>
          <p:cNvPr id="7" name="Picture 6" descr="halluc_types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27632"/>
            <a:ext cx="7680960" cy="41896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88736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5888736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환각은 한 종류가 아니다: 기전·수치를 틀리는 사실오류, 없는 논문·가짜 DOI를 만드는 출처위조, 철회·구정보를 최신처럼 내는 최신성 결여, 좁은 근거를 확정처럼 말하는 과잉일반화. 유형별로 방어법이 다르다.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 (Hallucination Survey, ACM Comput Surv)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환각이란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환각(hallucination)이 생기나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LLM = 확률적 '다음 토큰 이어쓰기' — 사실 저장소가 아님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학습에 없거나 애매하면 '가장 그럴듯한' 텍스트를 생성(사실 여부 무관)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결과: 없는 논문·가짜 DOI·틀린 수치를 유창하게 제시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학습 시점 고정 → 최신 정보 결여도 오답 원인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환각 = '아는 척 이어쓰기'. 모델은 '맞는 말'이 아니라 '그럴듯한 말'을 만들도록 학습됐다. 그래서 유창할수록 더 속기 쉽다(Galactica 교훈, 1교시)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 (Hallucination Survey); Taylor et al. 2022 (Galactica, 2211.09085)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환각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환각의 원리 — 왜 유창할수록 위험한가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목적함수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'다음 토큰 확률'을 맞추도록 학습(사실이 아님)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분포 채우기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근거 없어도 가장 그럴듯한 토큰을 채워넣음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유창성 편향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문법·톤이 자연스러워 사실처럼 들림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보상·아부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사람 선호 학습→'듣기 좋은 답' 경향(sycophancy)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지식 컷오프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학습 이후 정보 부재 → 낡은 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'유창함 ≠ 정확성'을 이해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왜 출처·검증이 필수인지 설명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완화 지점을 특정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모델 내부만으론 사실성 보장 불가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'자신 있게 틀림'이 가장 위험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프롬프트만으론 근절 불가→RAG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2023; Taylor et al. 2022 (Galactica); Ouyang et al. 2022 (RLHF, sycophancy 맥락)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환각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환각 유형 — 신약연구 맥락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예시 / 신약 맥락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사실 오류(intrinsic)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기전·수치·관계를 틀리게 서술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출처 위조(fabrication)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존재하지 않는 논문·가짜 DOI/PMID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최신성 결여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철회·갱신된 정보를 최신처럼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20439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과잉 일반화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2043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제한적 근거를 확정처럼 진술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69079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수치 붕괴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6907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임상 수치·단위·통계를 왜곡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특히 위험: 가짜 DOI/PMID를 '진짜처럼' 붙이는 출처 위조. 전공자도 속기 쉬움 — 인용은 반드시 실재 검증(아래 체크리스트)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2023; 본 강의 앞선 리뷰(가짜 arXiv ID 사례)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환각 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환각 완화 — 4개 층으로 방어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층위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0876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기법 / 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① 프롬프트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7451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'근거 필수·모르면 unknown'·CoT·자기검토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② 근거 주입(RAG)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2316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외부 문헌·DB 검색→grounding(가장 강력)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③ 디코딩·앙상블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self-consistency·낮은 temperature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20439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④ 사후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2043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출처 실재 조회·원문 대조·인간 검토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69079"/>
            <a:ext cx="3108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결합 원칙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06907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단일 기법 아님 — 층을 겹칠수록 견고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환각은 '없앤다'가 아니라 '층층이 줄인다'. 프롬프트로 억제→RAG로 근거 부착→앙상블로 안정화→사후 검증으로 최종 확인. 이 4층이 재직자 실무의 표준 방어선.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 (RAG); Wang et al. 2023 (SC); Ji et al. 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환각 검출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환각을 '탐지'하기 — 불확실성 신호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모델 쪽 신호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자기 확신 표현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'high/low/unknown'을 출력에 강제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일관성 검사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여러 샘플이 갈리면 불확실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근거 부재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RAG에서 근거 못 찾음=위험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보정(calibration)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확신도와 실제 정답률 대조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운영 쪽 대응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저확신→보류/사람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불확실 항목만 사람 검토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근거 없으면 unknown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억지 답 대신 명시적 유보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flag &amp; 추적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의심 답을 로그·재검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임계값 운영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위험 도메인은 보수적 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환각을 0으로 만들 수 없다면 '어디가 위험한지'를 신호로 잡아 사람에게 넘긴다. 여러 샘플의 불일치·근거 부재·낮은 자기확신은 유용한 위험 신호 — 전수 검토 대신 '의심 항목 집중 검토'로 효율화. (자기확신-정답률 보정은 확인 권장)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2023; Wang et al. 2023 (일관성); Kadavath et al. 2022 (LMs know what they know, 확인 권장)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RAG 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 파이프라인 — 검색으로 근거를 붙이다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1">
                <a:solidFill>
                  <a:srgbClr val="5A636B"/>
                </a:solidFill>
                <a:latin typeface="Malgun Gothic"/>
              </a:rPr>
              <a:t>개념도(영문 라벨): information sources → chunk → vector DB → top-k retrieval → re-ranking → language model → answer(+출처)</a:t>
            </a:r>
          </a:p>
        </p:txBody>
      </p:sp>
      <p:pic>
        <p:nvPicPr>
          <p:cNvPr id="7" name="Picture 6" descr="rag_pipeline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27632"/>
            <a:ext cx="7680960" cy="41896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RAG는 6단계 흐름이다: 문서를 조각(chunk)으로 나눠 의미 벡터(embed)로 만들고, 벡터 DB에 저장한 뒤, 질문과 가까운 조각을 top-k로 검색(retrieve)·재순위(rerank)해, 그 근거만 보고 답(generate)한다. '오픈북 시험'과 같다.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 (RAG, NeurIPS, 2005.11401); Gao et al. 2023 (RAG survey)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 — 검색으로 근거를 붙이다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동기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LLM 파라미터 지식은 낡고 출처가 없음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검색(Retrieve)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질문으로 외부 지식(문헌·DB·특허) 검색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증강(Augment)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검색 결과를 컨텍스트로 프롬프트에 주입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생성(Generate)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근거에 기반해 답 + 출처 제시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효과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환각 완화·최신성·추적가능성(provenance)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출처 있는 답(grounding)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재학습 없이 최신 지식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신약: 논문·실험노트 근거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검색 품질에 의존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근거 밖 추론은 여전히 오답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 (RAG, NeurIPS, arXiv:2005.11401)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RAG 쉽게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쉽게 — '찾아보고 답하기'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사람도 모르면 '검색·문헌 확인' 후 답한다 — RAG가 그것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질문→관련 문서 검색→그 근거만 보고 답(+출처)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모델이 지어내는 대신 '실제 문서'에 근거하게 강제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PaperQA2(FutureHouse): 문헌 QA에서 전문가 수준 주장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RAG = '오픈북 시험'. 닫힌 기억(환각)이 아니라 펼친 문서(근거)로 답하게 → 출처가 붙고 사실성이 올라간다. 신약 문헌·특허 검토의 핵심 도구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2020; Skarlinski et al. 2024 (PaperQA2, arXiv:2409.13740)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RAG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 파이프라인 — 안을 들여다보면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색인(chunk)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문헌·특허를 조각으로 분할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임베딩(embed)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조각을 의미 벡터로 변환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저장(vector DB)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벡터 색인에 저장(검색용)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검색(retrieve)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질문 벡터와 가까운 조각 top-k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재순위(rerank)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관련도로 재정렬·선별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생성(generate)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선별 근거 + 질문 → 답 + 출처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의미 기반 검색(키워드↑)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출처 추적·근거 주입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사내 문헌·노트에 적용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chunk·검색 품질이 상한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오래된 색인 갱신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 (RAG); Karpukhin et al. 2020 (DPR); Gao et al. 2023 (RAG survey)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chunking — 조각내기가 검색 품질을 가른다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어떻게 나누나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크기·중첩(overlap)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너무 크면 잡음, 작으면 맥락 손실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의미 단위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문단·섹션·표 경계 존중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메타데이터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출처·페이지·날짜 태깅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표·그림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별도 처리(캡션+본문 연결)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왜 중요한가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검색 상한 결정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나쁜 chunk→나쁜 검색→오답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근거 추적성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조각 단위로 출처 인용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중복·잡음 관리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dedup·정제 선행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도메인 튜닝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논문/특허/노트별 전략 상이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감각: RAG 성능은 모델보다 'chunk+검색' 설계에서 갈리는 경우가 많다. 조각 크기·중첩·메타데이터를 도메인(논문 vs 실험노트)에 맞춰 실험하는 것이 첫 튜닝 포인트.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Gao et al. 2023 (RAG survey); 실무 RAG 설계 가이드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임베딩 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임베딩 공간 — 뜻이 가까우면 좌표도 가깝다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1">
                <a:solidFill>
                  <a:srgbClr val="5A636B"/>
                </a:solidFill>
                <a:latin typeface="Malgun Gothic"/>
              </a:rPr>
              <a:t>무텍스트 개념도: 의미가 비슷한 문장은 군집(cluster), 가까운 두 점은 유사·먼 점은 무관</a:t>
            </a:r>
          </a:p>
        </p:txBody>
      </p:sp>
      <p:pic>
        <p:nvPicPr>
          <p:cNvPr id="7" name="Picture 6" descr="embedding_space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27632"/>
            <a:ext cx="7680960" cy="41896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88736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5888736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임베딩은 문장을 '의미 좌표(벡터)'로 바꾼다. 뜻이 비슷하면 좌표가 가깝고(같은 색 군집), 다르면 멀다. 그래서 단어가 안 겹쳐도('PDE5 저해제' vs 'PDE5 inhibitor') 의미로 검색할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Reimers &amp; Gurevych 2019 (Sentence-BERT, EMNLP); Karpukhin et al. 2020 (DPR)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임베딩 쉽게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쉽게 — 임베딩과 벡터검색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임베딩 = 문장을 '의미 좌표(숫자 벡터)'로 바꾸는 것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비슷한 뜻이면 좌표도 가깝다 → '의미로' 검색 가능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키워드가 안 겹쳐도 뜻이 통하면 찾아냄(동의어·패러프레이즈)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벡터 DB = 이 좌표들을 빠르게 최근접 검색하는 저장소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임베딩 = 뜻을 지도 위의 점으로. 'PDE5 저해제'와 'PDE5 inhibitor'는 단어가 달라도 지도에서 가까운 점 → 검색이 '단어'가 아니라 '의미'로 이뤄진다.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Reimers &amp; Gurevych 2019 (Sentence-BERT); Karpukhin et al. 2020 (DPR)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의미검색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의미검색 심화 — dense·sparse·ANN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sparse(어휘)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BM25 등 키워드 기반 — 정확 매칭 강함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dense(의미)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임베딩 벡터 유사도(cosine) — 동의어 강함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hybrid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sparse+dense 결합→상호 보완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근접검색(ANN)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수백만 벡터를 근사 최근접으로 고속 검색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적용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용어 정확성+의미 포괄을 함께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의미+키워드 상호 보완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대규모에서 실시간 검색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도메인 용어에 강건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dense는 색인 비용·갱신 부담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임베딩 품질에 의존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희귀 용어는 sparse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Karpukhin et al. 2020 (DPR); Robertson &amp; Zaragoza 2009 (BM25); Malkov &amp; Yashunin 2018 (HNSW)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retrieve·rerank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검색 → 재순위 — 2단계로 정확도↑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1차: 빠른 검색(retrieve)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bi-encoder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질문·문서를 각각 벡터화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사전계산 색인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top-k 후보를 빠르게 회수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장점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대규모에서 고속·저비용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정밀 관련도 판단은 약함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2차: 정밀 재순위(rerank)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cross-encoder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질문+문서를 함께 정밀 채점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소수 후보만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top-k만 재평가(비용 절충)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효과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진짜 관련 근거를 상위로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결과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적은 근거로 더 정확한 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조합: 값싼 bi-encoder로 넓게 후보를 모으고, 비싼 cross-encoder로 소수만 정밀 재순위. '많이 회수→정밀 선별'이 정확도와 비용을 동시에 잡는 표준 패턴.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Karpukhin et al. 2020 (DPR); Nogueira &amp; Cho 2019 (BERT re-ranking); 확인 권장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RAG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 품질 평가 — 무엇을 재나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087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무엇을 측정 / 주의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검색 recall@k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874519"/>
            <a:ext cx="7315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정답 근거가 top-k에 포함됐나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context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23160"/>
            <a:ext cx="7315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검색된 조각이 실제로 관련 있나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faithfulness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71800"/>
            <a:ext cx="7315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답이 근거에서만 나왔나(비약 탐지)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20439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answer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20439"/>
            <a:ext cx="7315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답이 질문에 부합하나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69079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069079"/>
            <a:ext cx="7315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자동지표는 근사 — 사람 검수 병행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평가 없이는 개선도 없다: 검색이 약한지(recall↓) 생성이 비약하는지(faithfulness↓)를 분리 측정해야 어디를 고칠지 안다. 자동 평가 프레임워크(RAGAS 등)는 참고용, 최종은 사람 검수. (세부 지표 정의는 확인 권장)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Gao et al. 2023 (RAG survey); Es et al. 2023 (RAGAS, 2309.15217); 확인 권장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인용 표준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출처 인용 의무 &amp; 표준 형식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인용 의무화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모든 사실 주장에 출처 1개 이상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주장 문장 ↔ 근거 문장 매핑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근거 없으면 'unknown'/보류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'모르면 모른다'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표준 형식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논문: 저자·연도·venue·DOI/PMID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DB: 이름·버전·접근일·쿼리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 가능한 식별자 필수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가짜 ID 차단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규범: (1) 문장마다 근거를 붙이고, (2) 그 식별자(DOI/PMID)가 실재하는지 확인. 본 과정에서도 '레퍼런스는 기본' — 인용 표준을 습관화해야 환각을 걸러낸다.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과학 저술 인용 표준; ICMJE 권고; 본 강의 원칙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검증 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사실성 검증 워크플로우 — 6개 게이트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1">
                <a:solidFill>
                  <a:srgbClr val="5A636B"/>
                </a:solidFill>
                <a:latin typeface="Malgun Gothic"/>
              </a:rPr>
              <a:t>개념도(영문 라벨): 인용 존재(citation check) → 식별자 실재(DB lookup) → 원문 대조(source comparison) → 최신·철회(recency) → 재현성(reproducibility) → 편향(bias) → 검증 배지</a:t>
            </a:r>
          </a:p>
        </p:txBody>
      </p:sp>
      <p:pic>
        <p:nvPicPr>
          <p:cNvPr id="7" name="Picture 6" descr="fact_check_workflow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27632"/>
            <a:ext cx="7680960" cy="41896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AI 답은 '가설'이다. 6개 게이트를 순서대로 통과해야 인용·의사결정에 쓴다: ① 출처 있나 → ② 식별자(DOI/PMID) 실재하나 → ③ 수치가 원문과 같나 → ④ 최신·철회 확인 → ⑤ 재현 가능(seed·버전) → ⑥ 편향 점검. ②가 가장 강력한 필터.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2023; 본 강의 QA 원칙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검증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사실성 검증 체크리스트 (RAG 교차확인)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19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점검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417319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확인 방법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① 출처가 명시됐나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주장마다 인용 존재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5144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95144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② 출처가 실재하나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95144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DOI/PMID 실제 조회(가짜 ID 차단)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7208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07208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③ 수치·주장이 원문과 일치하나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807208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원문 대조(요약 왜곡 점검)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19272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19272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④ 최신·철회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319272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발행일·정정/철회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31336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31336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⑤ 재현 가능한가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831336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프롬프트·모델버전·seed 기록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343400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⑥ 이해상충·편향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34340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출처 편중·상업적 편향 점검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규칙: LLM 답은 '가설'로 취급 → 이 6항목을 통과해야 인용·의사결정에 사용. ②(출처 실재 조회)가 가장 강력한 환각 필터.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2023; RAG 검증 실무; 본 강의 QA 원칙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검증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사실성 검증 — 코드로 거르기(개념)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3736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인용 실재성 자동 점검 (② 게이트)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39696"/>
            <a:ext cx="10607040" cy="252374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31136"/>
            <a:ext cx="1024128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for claim in answer.claims:</a:t>
            </a:r>
            <a:r>
              <a:rPr sz="1050">
                <a:solidFill>
                  <a:srgbClr val="7EC699"/>
                </a:solidFill>
                <a:latin typeface="Consolas"/>
              </a:rPr>
              <a:t>           # 답의 각 주장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    if not claim.citation: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 flag(claim, "NO_SOURCE")</a:t>
            </a:r>
            <a:r>
              <a:rPr sz="1050">
                <a:solidFill>
                  <a:srgbClr val="7EC699"/>
                </a:solidFill>
                <a:latin typeface="Consolas"/>
              </a:rPr>
              <a:t>       # ① 출처 없음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    elif not exists_in(claim.pmid, PubMed):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 flag(claim, "FAKE_ID")</a:t>
            </a:r>
            <a:r>
              <a:rPr sz="1050">
                <a:solidFill>
                  <a:srgbClr val="7EC699"/>
                </a:solidFill>
                <a:latin typeface="Consolas"/>
              </a:rPr>
              <a:t>        # ② 가짜 DOI/PMID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    elif not match(claim.value, source.text):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    flag(claim, "MISMATCH")</a:t>
            </a:r>
            <a:r>
              <a:rPr sz="1050">
                <a:solidFill>
                  <a:srgbClr val="7EC699"/>
                </a:solidFill>
                <a:latin typeface="Consolas"/>
              </a:rPr>
              <a:t>       # ③ 원문 불일치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18303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2744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식별자 실재 조회·원문 수치 대조는 자동화 가능 — 사람은 flag된 항목만 집중 검토(효율↑)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체크리스트 6항목 중 ①②③은 코드로 상당 부분 자동화된다(존재 조회·문자열/수치 대조). ④~⑥과 최종 판단은 사람 몫. '자동 필터 + 사람 심판'이 재직자 실무의 효율적 검증 구조.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2023; Skarlinski et al. 2024 (PaperQA2 검증 설계); 본 강의 QA 원칙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RAG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RAG도 만능은 아니다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검색이 틀리면(누락·부정확) 답도 틀림 — 검색 품질이 상한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근거 밖으로 '추론'하면 여전히 환각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긴 문맥·다중 문서 종합에서 왜곡 가능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→ 인간 검증·교차확인은 여전히 필수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RAG가 붙었다고 맹신 금지 — 검색이 놓치거나 모델이 근거를 넘어 추론하면 그럴듯한 오답이 나온다. 최종 판단·재현은 사람 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2020; Gao et al. 2023 (RAG survey)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RAG 실패모드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 실패모드 — 어디서 무너지나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실패 지점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증상 / 대응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검색 누락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19"/>
            <a:ext cx="7406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관련 근거를 못 찾음 → hybrid·rerank·chunk 개선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잡음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23160"/>
            <a:ext cx="7406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무관 조각 주입 → precision·rerank 강화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근거 무시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71800"/>
            <a:ext cx="7406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근거 있어도 파라미터 지식으로 답 → 'only from context' 지시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2043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근거 밖 비약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520439"/>
            <a:ext cx="7406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근거 넘어 추론 → faithfulness 검사·인용 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6907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색인 노후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069079"/>
            <a:ext cx="7406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오래된 정보 → 주기적 재색인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디버깅 순서: 먼저 '검색이 근거를 가져왔나'(retrieve)를 보고, 가져왔다면 '답이 근거만 썼나'(faithfulness)를 본다. 이 둘을 분리해야 chunk·rerank·프롬프트 중 무엇을 고칠지 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Gao et al. 2023 (RAG survey); Liu et al. 2023 (Lost in the Middle)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실전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실전 — LLM+RAG 문헌 리뷰 (예시)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2743200" cy="65836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① 질문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7772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'타겟 X 저해제 계열·근거'를 구조화 질의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06040"/>
            <a:ext cx="2743200" cy="658368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② 검색(RAG)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06040"/>
            <a:ext cx="7772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PubMed·특허 색인에서 관련 문헌 top-k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29000"/>
            <a:ext cx="2743200" cy="65836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29000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③ 근거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29000"/>
            <a:ext cx="7772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각 주장에 PMID/DOI 매핑·표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2743200" cy="658368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④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251960"/>
            <a:ext cx="7772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출처 실재 조회·원문 수치 대조(체크리스트)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74920"/>
            <a:ext cx="2743200" cy="658368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74920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⑤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74920"/>
            <a:ext cx="7772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요약+출처표+불확실 항목 플래그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흐름이 3교시 에이전트의 원형 — 여기선 사람이 각 단계를 지시하지만, 3교시에선 에이전트가 ①~⑤를 스스로 오케스트레이션한다.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Skarlinski et al. 2024 (PaperQA2); 본 강의 검증 원칙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51/59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실제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실제 문헌-QA 시스템 — 어디까지 왔나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PaperQA2(FutureHouse): 전문 문헌 RAG QA — 일부 과제서 전문가 수준 주장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범용 LLM + PubMed/특허 커넥터 + RAG로 사내 조합 가능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공통 설계: 검색→근거 추출→인용→자기검증 루프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주의: '주장'은 벤치·조건 의존 — 자기 데이터로 재검증 권장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교훈: 문헌 리뷰 자동화는 이미 실용 단계에 진입. 다만 성능 주장은 특정 벤치·설정에서의 결과이므로, 도입 시 우리 문헌·질문으로 다시 평가하고 인용을 검증하는 절차가 필수(확인 권장).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Skarlinski et al. 2024 (PaperQA2, arXiv:2409.13740); FutureHouse 2024–2025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52/59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실무 원칙 · 벤치마크 함정 · 3교시 예고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53/59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실무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재직자 실무 원칙 — DO &amp; DON'T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DO (권장)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출처·근거를 항상 요구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RAG로 사내 문헌·노트에 grounding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구조화 출력→자동 검증 파이프라인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답은 '가설'로 취급·교차확인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DON'T (금지)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 없이 결과 인용·의사결정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LLM 단독으로 분자 생성 맹신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민감데이터 무단 입력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가짜 DOI/PMID 미확인 방치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한 줄 요약: '근거를 붙이게 하고, 사람이 검증한다.' 이 두 가지만 지켜도 현업에서 LLM을 안전하게 쓸 수 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강의 QA 원칙; Ji et al. 2023; OWASP LLM Top 10 (4교시)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54/59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통합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한 장 요약 — 활용→검증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 행동 / 산출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①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역할·지시·few-shot·구조화 출력·근거 요구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② 추론 강화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CoT·분해·self-consistency로 안정화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③ 근거 부착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RAG(chunk→embed→retrieve→rerank)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20439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④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2043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6항목 체크리스트·출처 실재 조회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69079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⑤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6907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프롬프트·모델버전·seed·출처 로그(재현)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5단계가 2교시의 결론 — 프롬프트로 '잘 묻고', RAG로 '근거를 붙이고', 체크리스트로 '검증하고', 로그로 '재현'한다. 3교시는 이 흐름을 에이전트가 자동 수행한다.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2교시 종합; Wei 2022; Lewis 2020; Ji 2023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55/59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벤치마크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LLM·과학 역량 벤치마크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벤치마크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내용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LAB-Bench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2,400+ 생물 연구역량(문헌·프로토콜·DB·그림)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BixBench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생명정보학 에이전트 평가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MedQA/PubMedQA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의료·생의학 QA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20439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주의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20439"/>
            <a:ext cx="7589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벤치 오염·실제 태스크와 격차 → 맹신 금지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8247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8247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평가도 진화 중 — 단순 지식 QA에서 '문헌 검색·프로토콜 이해·데이터 분석' 같은 실제 연구 역량(LAB-Bench)으로. 단 점수는 참고일 뿐, 현업 검증이 우선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Laurent et al. 2024 (LAB-Bench, arXiv:2407.10362); FutureHouse 2025 (BixBench, 확인 권장)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56/59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벤치마크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벤치마크 점수를 믿기 전에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데이터 오염(contamination): 테스트가 학습에 섞이면 점수 부풀림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벤치-현업 격차: 시험 잘 봐도 우리 데이터·질문엔 다를 수 있음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지표 편향: 단일 점수는 실패 유형(환각·비약)을 감춤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→ 도입 결정은 '자기 태스크'로 재평가 후 (LAB-Bench는 방향 참고)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'SOTA 점수'는 마케팅이 되기 쉽다. 재직자 판단 기준: 우리 문헌·우리 질문으로 소규모 파일럿을 돌려 환각률·인용 정확도를 직접 측정하라.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Laurent et al. 2024 (LAB-Bench); 종합; 확인 권장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57/59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2교시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8191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범용 LLM = 문헌·데이터·가설·코드의 만능 조수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04872"/>
            <a:ext cx="457200" cy="45720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8658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프롬프트: 역할·지시·few-shot·CoT·분해·self-consistency·구조화 출력·출처 요구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09544"/>
            <a:ext cx="457200" cy="45720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954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91256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API·함수호출·구조화 출력로 파이프라인화(→에이전트 토대)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14216"/>
            <a:ext cx="457200" cy="45720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14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95928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환각은 원리적(확률적 이어쓰기) — 4층(프롬프트·RAG·앙상블·검증)으로 완화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18888"/>
            <a:ext cx="457200" cy="45720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188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006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RAG(chunk→embed→retrieve→rerank) + 인용 표준 + 6항목 체크리스트로 검증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623560"/>
            <a:ext cx="457200" cy="45720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60527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AI 답은 '가설' — 검증·재현은 사람 몫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다음: 에이전트·보안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58/59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3교시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</a:rPr>
              <a:t>스스로 도구를 쓰게 — LLM 에이전트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9EDF1"/>
                </a:solidFill>
                <a:latin typeface="Malgun Gothic"/>
              </a:rPr>
              <a:t>ReAct·tool use·계획·메모리 · ChemCrow·Coscientist·AI co-scientist·Robin·Claude for LS · DMTA 자율화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프롬프트·RAG를 넘어, 도구를 '스스로 쓰는' 에이전트로. (보안·엔지니어링은 4교시)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59/59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(2교시)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프롬프트·활용: Wei et al. 2022 (CoT, 2201.11903); Wang et al. 2023 (Self-Consistency, ICLR, 2203.11171); Madaan et al. 2023 (Self-Refine); Brown et al. 2020 (GPT-3 in-context, 2005.14165); Liu et al. 2023 (Prompting Survey); Schick et al. 2023 (Toolformer).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RAG·검색: Lewis et al. 2020 (RAG, NeurIPS, 2005.11401); Karpukhin et al. 2020 (DPR); Reimers &amp; Gurevych 2019 (Sentence-BERT); Gao et al. 2023 (RAG survey); Nogueira &amp; Cho 2019 (BERT re-ranking, 확인 권장).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91256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환각: Ji et al. 2023 (Hallucination Survey, ACM Comput Surv); Taylor et al. 2022 (Galactica, 2211.09085); Liu et al. 2023 (Lost in the Middle).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41064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문헌-QA·벤치마크: Skarlinski et al. 2024 (PaperQA2, 2409.13740); Laurent et al. 2024 (LAB-Bench, 2407.10362); FutureHouse 2025 (BixBench, 확인 권장).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90872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화학 LLM 활용: Bran et al. 2024 (ChemCrow); Ye et al. 2024 (DrugAssist).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79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* 인용 표준·검증 체크리스트·RAG 평가(RAGAS 등)는 과학 저술 규범 + 본 강의 QA 원칙 기반. 일부 서지·수치는 확인 권장 표기.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