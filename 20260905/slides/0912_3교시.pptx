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rch_llm_agent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280160"/>
            <a:ext cx="4389120" cy="239406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114800"/>
            <a:ext cx="12191695" cy="210312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 i="0">
                <a:solidFill>
                  <a:srgbClr val="FFFFFF"/>
                </a:solidFill>
                <a:latin typeface="Malgun Gothic"/>
              </a:rPr>
              <a:t>6일차 · 3교시 — 스스로 도구를 쓰게: LLM 에이전트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원리(ReAct·tool·계획·메모리·multi-agent) · 사례(ChemCrow·Coscientist·AI co-scientist·Robin·Claude for 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E9EDF1"/>
                </a:solidFill>
                <a:latin typeface="Malgun Gothic"/>
              </a:rPr>
              <a:t>재직자 3과정 · 6일차(9/12) · 대규모 언어모델과 신약개발 · 이론 · 스토리 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스토리 ②→③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활용을 넘어, 스스로 일하게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A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2교시까지 (활용·신뢰)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LLM에 '프롬프트'로 시켜 답을 받음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RAG로 근거를 붙이고 검증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하지만 사람이 매번 지시·도구 실행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3교시 (에이전트)</a:t>
            </a:r>
          </a:p>
        </p:txBody>
      </p:sp>
      <p:sp>
        <p:nvSpPr>
          <p:cNvPr id="18" name="Oval 17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LLM이 '스스로' 도구를 골라 실행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생각→행동→관찰을 반복(ReAct)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문헌·검색·계산·실험을 자율 오케스트레이션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DMTA 자동화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 전환: '내가 시키는 LLM'(2교시) → 'LLM이 도구를 스스로 쓰는 에이전트'(3교시). 단일 LLM의 한계(계산·최신성·외부세계)를 '도구+계획+검증'으로 넘어선다.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Yao et al. 2023 (ReAct); Bran et al. 2024 (ChemCrow)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3교시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3교시에서 볼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394960" cy="822960"/>
          </a:xfrm>
          <a:prstGeom prst="round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5212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A. 에이전트 원리 (심화)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5120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C242B"/>
                </a:solidFill>
                <a:latin typeface="Malgun Gothic"/>
              </a:rPr>
              <a:t>단일 LLM 한계·think-act-observe·RAG·ReAct·Toolformer·계획·메모리·reflection·multi-agent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5394960" cy="822960"/>
          </a:xfrm>
          <a:prstGeom prst="round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5212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B. 신약개발 에이전트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5120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C242B"/>
                </a:solidFill>
                <a:latin typeface="Malgun Gothic"/>
              </a:rPr>
              <a:t>초기(ChemCrow·Coscientist) → 2025-26 다중에이전트(AI co-scientist·TxAgent·PharmAgents·DiscoVerse)·Claude for 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31920"/>
            <a:ext cx="5394960" cy="822960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31920"/>
            <a:ext cx="5212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C. 자율 워크플로우·평가·한계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931920"/>
            <a:ext cx="5120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C242B"/>
                </a:solidFill>
                <a:latin typeface="Malgun Gothic"/>
              </a:rPr>
              <a:t>DMTA 폐루프·자율실험실·벤치마크·오류전파·검증·보안 예고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오늘은 '에이전트가 무엇이며 어떻게 작동하는가'(A)를 단단히 잡고, 신약개발에서 '실제로 무엇을 해냈는가'(B)를 사례로 확인한 뒤, '자율 워크플로와 그 한계'(C)로 마무리합니다.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3교시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에이전트 원리 (심화)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LLM(추론) + 도구 + 계획 + 메모리 + 검증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왜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단일 LLM이 아니라 에이전트인가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단일 LLM 한계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최신성 결여 — 학습 시점에 지식이 고정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정밀 계산·구조식·수식 처리 취약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환각(그럴듯한 오답)·출처 없음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외부세계(DB·실험·로봇) 접근 불가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에이전트 = LLM +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도구: 검색·계산·시뮬레이션·로봇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계획: 과제를 하위목표로 분해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메모리: 중간결과 저장·회상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검증: RAG 근거·재현·로그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에이전트는 LLM을 '두뇌'로 두되, 부족한 능력을 외부 도구로 위임하고, 다단계 과제를 계획으로 쪼개며, 행동의 결과를 관찰·검증하는 시스템. '아는 것'을 넘어 '행동하는' AI.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Yao et al. 2023 (ReAct); Bran et al. 2024 (ChemCrow); Wang et al. 2024 (agent survey)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6/57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Galactica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왜 '검증하는 에이전트'가 필요한가 — Galactica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Galactica(Meta 2022): 과학 전용 LLM 데모 → 공개 3일 만에 철회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이유: 유창하지만 틀린 출력(할루시네이션)·가짜 논문·잘못된 인용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교훈: '유창함(fluency) ≠ 정확성(accuracy)' — 말을 잘해도 틀린다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해법 방향: 도메인 특화 + RAG(근거) + 도구(계산) + 인간·자동 검증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5A636B"/>
                </a:solidFill>
                <a:latin typeface="Malgun Gothic"/>
              </a:rPr>
              <a:t>→ 에이전트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Galactica 사건은 이 세션의 출발점 — LLM 단독은 위험하다. 근거 제시(RAG)·도구·검증을 붙인 '에이전트'라야 신약개발 같은 고위험 도메인에 투입할 수 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Taylor et al. 2022 (Galactica, arXiv:2211.09085); Heaven 2022 (MIT Tech Review)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7/57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LLM 에이전트 — think·act·observe</a:t>
            </a:r>
          </a:p>
        </p:txBody>
      </p:sp>
      <p:pic>
        <p:nvPicPr>
          <p:cNvPr id="6" name="Picture 5" descr="arch_llm_agent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640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3543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3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LLM 두뇌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4952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도구 호출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결과 관찰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7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7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계획·메모리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반복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LLM(추론)이 중심에서 도구(검색·DB·계산·시뮬레이션·로봇)를 호출하고 결과를 관찰해 다음 행동을 계획하는 순환. 메모리로 중간 결과를 기억 → 단일 LLM을 '행동하는 시스템'으로.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Yao et al. 2023 (ReAct); Schick et al. 2023 (Toolformer)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8/57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에이전트의 4대 구성요소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구성요소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5448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신약개발 예시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20240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Brain (LLM)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20240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추론·의사결정·언어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20240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GPT-5·Claude 5·Gemini 3가 절차를 설계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23744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523744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523744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외부 능력 위임(계산·검색·실행)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23744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RDKit·docking·PubMed·로봇 합성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27248"/>
            <a:ext cx="11247120" cy="54864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127248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127248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과제 분해·순서 결정·재계획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127248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표적→후보→검증 단계로 분할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30752"/>
            <a:ext cx="11247120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730752"/>
            <a:ext cx="2286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3730752"/>
            <a:ext cx="4206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맥락·중간결과 저장·회상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730752"/>
            <a:ext cx="4297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이전 실험 결과를 다음 사이클에 반영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에이전트 = Brain(LLM) + Tools + Planning + Memory. 이 4요소가 'think(계획)·act(도구)·observe(관찰)'의 루프로 맞물려 돈다. 뒤에서 각 요소를 하나씩 심화한다.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Wang et al. 2024 (agent survey); Yao et al. 2023 (ReAct)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9/57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RAG — 검색으로 근거를 붙이다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동기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LLM 파라미터 지식은 낡고 출처가 없음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검색(Retrieval)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질문으로 외부 지식(문헌·DB·특허) 검색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증강(Augment)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검색 결과를 컨텍스트로 프롬프트에 주입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생성(Generate)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근거에 기반해 답 + 출처 제시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효과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환각 완화·최신성·추적가능성(provenance)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출처 있는 답(grounding)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재학습 없이 최신 지식 반영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신약: 논문·실험노트 근거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검색 품질에 의존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여전히 오답 가능 → 검증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Lewis et al. 2020 (RAG, NeurIPS, arXiv:2005.11401)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10/57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RAG↔tool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RAG와 도구의 결합 — 에이전트의 감각·손발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2교시 RAG(검색 증강) = 에이전트의 '검색 도구' 하나로 편입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에이전트: 검색(RAG)·계산(RDKit)·예측(ADMET)·시뮬(docking)을 상황따라 호출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근거(RAG) + 행동(tool) + 계획 = 자율 워크플로우(C파트)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모든 도구 호출은 로그로 남겨 재현·검증(4교시 provenance)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2교시의 RAG는 이제 '검색 도구' 하나로 흡수된다. 에이전트는 검색·계산·예측·시뮬을 필요할 때 골라 쓰는 '연구자' — 그 조율이 곧 자율 워크플로우.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Lewis et al. 2020 (RAG); Yao et al. 2023 (ReAct)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11/57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ReAct — 생각과 행동을 번갈아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핵심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추론(Reasoning) ↔ 행동(Action)을 번갈아 생성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루프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Thought → Action → Observation → 다시 Thought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Thought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다음에 무엇을·왜 할지 자연어로 추론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Action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도구 호출(검색·계산·코드·시뮬)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Observation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도구 결과를 관찰해 다음 추론에 반영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계획하며 외부와 상호작용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추론 과정이 드러나 해석·디버깅 용이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에이전트 루프의 원형(prompting 기법)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도구 오류가 추론에 전파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다단계일수록 실패 누적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Yao et al. 2023 (ReAct, ICLR, arXiv:2210.03629)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12/57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ReAct 루프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ReAct — Thought · Action · Observation 순환</a:t>
            </a:r>
          </a:p>
        </p:txBody>
      </p:sp>
      <p:pic>
        <p:nvPicPr>
          <p:cNvPr id="6" name="Picture 5" descr="react_loop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725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871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Thought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Observation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반복→종료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LLM이 '생각(무엇을 왜)'을 말로 남기고 → '행동(도구 호출)'하고 → '관찰(결과)'한 뒤 다시 생각으로 돌아가는 폐루프. 목표 달성 또는 종료조건까지 반복. 추론이 겉으로 드러나 감사·디버깅이 쉬움.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Yao et al. 2023 (ReAct, ICLR)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13/57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ReAct vs CoT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ReAct는 Chain-of-Thought와 무엇이 다른가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5A63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Chain-of-Thought (CoT)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머릿속 추론만 단계적으로 서술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외부 도구·데이터 접근 없음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추론이 틀리면 정정 불가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5A6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수학·논리 문제에 강함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닫힌 문제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ReAct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추론 + 실제 행동(도구)을 교차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외부 관찰로 추론을 교정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최신·사실 정보로 grounding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탐색·조사형 과제에 강함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열린 문제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CoT는 '생각만' 하지만 ReAct는 '생각하고 확인'한다. 도구의 관찰로 추론 오류를 바로잡을 수 있어, 환각에 취약한 사실 기반 과제(문헌·데이터)에서 특히 유리하다.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Wei et al. 2022 (Chain-of-Thought); Yao et al. 2023 (ReAct)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14/57</a:t>
            </a:r>
          </a:p>
        </p:txBody>
      </p:sp>
      <p:sp>
        <p:nvSpPr>
          <p:cNvPr id="3" name="Round Same Side Corner Rectangle 2"/>
          <p:cNvSpPr/>
          <p:nvPr/>
        </p:nvSpPr>
        <p:spPr>
          <a:xfrm>
            <a:off x="777240" y="1600200"/>
            <a:ext cx="10607040" cy="402336"/>
          </a:xfrm>
          <a:prstGeom prst="round2Same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18488"/>
            <a:ext cx="10241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algun Gothic"/>
              </a:rPr>
              <a:t>A · ReAct 실행 예시 (신약 시나리오, 개념 도식)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02536"/>
            <a:ext cx="10607040" cy="2523744"/>
          </a:xfrm>
          <a:prstGeom prst="rect">
            <a:avLst/>
          </a:prstGeom>
          <a:solidFill>
            <a:srgbClr val="1B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93976"/>
            <a:ext cx="10241280" cy="2432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Thought</a:t>
            </a:r>
            <a:r>
              <a:rPr sz="1150">
                <a:solidFill>
                  <a:srgbClr val="E6EDF3"/>
                </a:solidFill>
                <a:latin typeface="Consolas"/>
              </a:rPr>
              <a:t>: 후보 X의 hERG 심장독성 위험을 확인해야 한다.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Action</a:t>
            </a:r>
            <a:r>
              <a:rPr sz="1150">
                <a:solidFill>
                  <a:srgbClr val="E6EDF3"/>
                </a:solidFill>
                <a:latin typeface="Consolas"/>
              </a:rPr>
              <a:t>: </a:t>
            </a:r>
            <a:r>
              <a:rPr sz="1150">
                <a:solidFill>
                  <a:srgbClr val="7EC699"/>
                </a:solidFill>
                <a:latin typeface="Consolas"/>
              </a:rPr>
              <a:t>search_admet</a:t>
            </a:r>
            <a:r>
              <a:rPr sz="1150">
                <a:solidFill>
                  <a:srgbClr val="E6EDF3"/>
                </a:solidFill>
                <a:latin typeface="Consolas"/>
              </a:rPr>
              <a:t>(smiles="X", endpoint="hERG")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Observation</a:t>
            </a:r>
            <a:r>
              <a:rPr sz="1150">
                <a:solidFill>
                  <a:srgbClr val="E6EDF3"/>
                </a:solidFill>
                <a:latin typeface="Consolas"/>
              </a:rPr>
              <a:t>: hERG IC50 ≈ 2.1 µM (위험 구간)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Thought</a:t>
            </a:r>
            <a:r>
              <a:rPr sz="1150">
                <a:solidFill>
                  <a:srgbClr val="E6EDF3"/>
                </a:solidFill>
                <a:latin typeface="Consolas"/>
              </a:rPr>
              <a:t>: 위험하다. 유사체 중 저위험 후보를 검색하자.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Action</a:t>
            </a:r>
            <a:r>
              <a:rPr sz="1150">
                <a:solidFill>
                  <a:srgbClr val="E6EDF3"/>
                </a:solidFill>
                <a:latin typeface="Consolas"/>
              </a:rPr>
              <a:t>: </a:t>
            </a:r>
            <a:r>
              <a:rPr sz="1150">
                <a:solidFill>
                  <a:srgbClr val="7EC699"/>
                </a:solidFill>
                <a:latin typeface="Consolas"/>
              </a:rPr>
              <a:t>similarity_search</a:t>
            </a:r>
            <a:r>
              <a:rPr sz="1150">
                <a:solidFill>
                  <a:srgbClr val="E6EDF3"/>
                </a:solidFill>
                <a:latin typeface="Consolas"/>
              </a:rPr>
              <a:t>(smiles="X", cutoff=0.7)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Observation</a:t>
            </a:r>
            <a:r>
              <a:rPr sz="1150">
                <a:solidFill>
                  <a:srgbClr val="E6EDF3"/>
                </a:solidFill>
                <a:latin typeface="Consolas"/>
              </a:rPr>
              <a:t>: 유사체 12개 반환 → ADMET 재예측 필요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59C2D6"/>
                </a:solidFill>
                <a:latin typeface="Consolas"/>
              </a:rPr>
              <a:t>Thought</a:t>
            </a:r>
            <a:r>
              <a:rPr sz="1150">
                <a:solidFill>
                  <a:srgbClr val="E6EDF3"/>
                </a:solidFill>
                <a:latin typeface="Consolas"/>
              </a:rPr>
              <a:t>: 상위 3개를 docking으로 결합력 비교 후 보고.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81144"/>
            <a:ext cx="10607040" cy="365760"/>
          </a:xfrm>
          <a:prstGeom prst="roundRect">
            <a:avLst/>
          </a:prstGeom>
          <a:solidFill>
            <a:srgbClr val="EEF2F6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590288"/>
            <a:ext cx="10241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▶ 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LLM이 '생각→도구호출→관찰'을 반복하며 스스로 조사·판단. 각 Action은 검증 가능한 도구 호출 — 수치는 개념 예시.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Yao et al. 2023 (ReAct) — 실행 흐름 도식화(값은 예시)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15/57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Tool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Tool use (function calling) — 도구를 손처럼</a:t>
            </a:r>
          </a:p>
        </p:txBody>
      </p:sp>
      <p:pic>
        <p:nvPicPr>
          <p:cNvPr id="6" name="Picture 5" descr="function_calling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640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871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도구 선택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호출·실행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결과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LLM이 상황에 맞는 도구를 고르고 인자를 채워(function calling) 호출 → 계산기·DB·검색·시뮬레이션 결과를 받아 답에 반영. 부정확한 능력(계산·최신성)을 정확한 도구에 위임하는 것이 핵심.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Schick et al. 2023 (Toolformer); Yao et al. 2023 (ReAct)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16/57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Toolformer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Toolformer — 도구 사용을 스스로 학습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문제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언제·어떤 도구를 부를지 사람이 일일이 지정?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아이디어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LLM이 스스로 도구 호출을 학습(self-supervised)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방법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텍스트에 API 호출을 삽입해보고, 손실을 줄이는 호출만 남김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도구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계산기·QA·검색·번역·달력 등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결과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적은 예시로 도구 사용 능력 획득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도구 사용의 '학습'화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수작업 프롬프트 의존 감소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범용 도구 통합의 토대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학습 비용·도구 사전정의 필요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실행 안전성은 별도 문제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Schick et al. 2023 (Toolformer, NeurIPS, arXiv:2302.04761)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17/57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도구 카탈로그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신약개발 에이전트가 쓰는 도구들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범주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087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도구·API 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08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역할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문헌·지식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74519"/>
            <a:ext cx="4754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PubMed·PaperQA2·특허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74519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근거 검색(RAG)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23160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23160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화학 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23160"/>
            <a:ext cx="4754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RDKit·물성·유사도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423160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구조·성질 계산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71800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예측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71800"/>
            <a:ext cx="4754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ADMET·독성·활성 예측기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971800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in-silico 스크리닝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20439"/>
            <a:ext cx="11247120" cy="493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20439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시뮬레이션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520439"/>
            <a:ext cx="4754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docking·MD·retrosynthesis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520439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결합·합성경로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69079"/>
            <a:ext cx="11247120" cy="493776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069079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069079"/>
            <a:ext cx="475488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로봇 합성·assay·코드 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069079"/>
            <a:ext cx="3657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습식 실험·분석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에이전트의 힘은 '어떤 도구를 붙였는가'에 크게 좌우된다. ChemCrow(18개+ 화학 도구)처럼 도메인 도구를 많이·정확히 붙일수록 유능해진다. 도구 품질 = 에이전트 품질.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Bran et al. 2024 (ChemCrow); 종합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18/57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계획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Planning — 과제를 하위목표로 분해</a:t>
            </a:r>
          </a:p>
        </p:txBody>
      </p:sp>
      <p:pic>
        <p:nvPicPr>
          <p:cNvPr id="6" name="Picture 5" descr="planning_decomp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725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871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목표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하위목표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세부 행동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재계획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복잡한 연구 과제를 한 번에 풀 수 없으므로, 큰 목표를 하위목표·세부 행동으로 분해해 순서대로 실행한다. 중간 결과가 예상과 다르면 계획을 수정(re-planning). 다단계 신약 워크플로에 필수.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Wang et al. 2024 (agent survey); Yao et al. 2023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19/57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메모리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Memory — 단기·장기 기억</a:t>
            </a:r>
          </a:p>
        </p:txBody>
      </p:sp>
      <p:pic>
        <p:nvPicPr>
          <p:cNvPr id="6" name="Picture 5" descr="agent_memory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725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871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단기(맥락)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장기(벡터DB)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저장·회상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최신성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단기 메모리는 현재 대화·작업 맥락(컨텍스트 창), 장기 메모리는 과거 결과를 벡터DB에 저장했다 필요할 때 검색·회상. 이전 실험·문헌을 기억해 다음 사이클에 반영 → 누적 학습형 연구.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Wang et al. 2024 (agent survey)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20/57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반성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Reflection — 자기비평으로 개선</a:t>
            </a:r>
          </a:p>
        </p:txBody>
      </p:sp>
      <p:pic>
        <p:nvPicPr>
          <p:cNvPr id="6" name="Picture 5" descr="reflection_loop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725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871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초안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자기비평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피드백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수정·개선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에이전트가 자신의 출력을 스스로(또는 별도 비평 에이전트가) 검토·비평하고 그 피드백으로 다시 고치는 루프. 오류·누락을 잡아 품질을 끌어올림. multi-agent의 '검증' 역할, 4교시 하네스의 핵심.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Shinn et al. 2023 (Reflexion); Google 2025 (AI co-scientist)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21/57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멀티에이전트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Multi-agent — 역할을 나눠 협업·경쟁</a:t>
            </a:r>
          </a:p>
        </p:txBody>
      </p:sp>
      <p:pic>
        <p:nvPicPr>
          <p:cNvPr id="6" name="Picture 5" descr="multi_agent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640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871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비평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순위·통합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토너먼트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여러 에이전트가 생성·반성·순위·진화·메타리뷰 등 역할을 나눠 협업하고, 후보를 토너먼트식으로 비교·정교화한다. 사람 연구팀을 흉내낸 구조로, AI co-scientist의 가설 생성이 대표 사례.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Google 2025 (AI co-scientist); Wang et al. 2024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22/57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구성요소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single-agent 구성 vs multi-agent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단일 에이전트 구성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planning: 과제를 하위목표로 분해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memory: 중간결과 저장·회상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reflection: 자기비평·수정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4교시 하네스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tool use: 도구 자율 선택·호출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multi-agent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역할 분담(생성·검증·순위·통합)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토너먼트식 자기개선(AI co-scientist)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협업·토론으로 복잡 과제 해결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검증 에이전트로 오류 억제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복잡한 연구는 한 번에 안 됨 → 계획(분해)·메모리(기억)·반성(수정), 그리고 여러 에이전트의 분업·토론. 사람 연구팀을 흉내낸 구조. 그 '엔지니어링'은 4교시.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Google 2025 (AI co-scientist); Wang et al. 2024 (agent survey)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23/57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설계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에이전트 설계 패턴 — 한 장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5087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작동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08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적합 과제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4572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생각↔행동 교차, 관찰로 교정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74519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탐색·조사·도구 필요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Plan-and-Execute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41448"/>
            <a:ext cx="4572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먼저 계획 수립 후 순차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441448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다단계·긴 워크플로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Reflexion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08376"/>
            <a:ext cx="4572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실패를 언어 피드백으로 재시도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008376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반복 개선·자기교정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6517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Multi-agent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575303"/>
            <a:ext cx="45720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역할 분담·토너먼트·토론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575303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가설 생성·복잡 협업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현실 시스템은 이들을 조합한다 — 예: 계획(Plan)으로 뼈대를 잡고, 각 단계는 ReAct로 도구를 쓰며, reflection으로 검증하고, 어려운 판단은 multi-agent로. 4교시 하네스가 이 조립을 다룬다.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Yao 2023; Shinn 2023 (Reflexion); Wang 2024 (survey)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24/57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A · 자율성 스펙트럼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고정 워크플로 → 완전 자율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수준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0876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087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고정 파이프라인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4206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사람이 순서·도구 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74519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기존 ML 스크립트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Tool-calling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41448"/>
            <a:ext cx="4206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LLM이 도구만 골라 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441448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function calling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ReAct 에이전트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08376"/>
            <a:ext cx="4206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생각↔행동으로 스스로 조사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008376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ChemCrow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자율 워크플로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75303"/>
            <a:ext cx="42062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계획·실행·분석 폐루프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575303"/>
            <a:ext cx="3657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Coscientist·DMTA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자율성이 높을수록 유연하지만 통제·검증이 어려워진다. 실무에선 '필요한 만큼만 자율' — 위험·규제가 큰 단계는 고정·게이트로, 탐색·조사는 에이전트로. 수준 선택이 곧 설계 결정.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종합; Yao 2023 (ReAct); Boiko 2023 (Coscientist)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25/57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신약개발 에이전트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초기(2023) → 2025-26 다중에이전트 co-scientist로: 추적성·검증·안전이 과제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26/57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자율 과학 발견 파이프라인</a:t>
            </a:r>
          </a:p>
        </p:txBody>
      </p:sp>
      <p:pic>
        <p:nvPicPr>
          <p:cNvPr id="6" name="Picture 5" descr="arch_sci_agent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640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3543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3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문헌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4952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가설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5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5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설계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7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7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실험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09176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9176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분석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문헌 검색→가설 생성→분자·단백질 설계→(로봇) 실험→데이터 분석→다시 가설로 이어지는 폐루프를 여러 에이전트가 오케스트레이션. 신약개발 전 과정을 자동화하려는 시도.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Boiko et al. 2023 (Coscientist); Google 2025 (AI co-scientist)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27/57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초기사례 ①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ChemCrow — 도구 사용형 화학 에이전트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두뇌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GPT-4를 추론 엔진으로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도구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18개+ 전문 화학 도구(합성계획·반응예측·안전성·물성)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동작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chain-of-thought로 도구 자동 선택·호출(ReAct 계열)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실행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로봇 합성 플랫폼과 연동(실제 합성)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성과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곤충기피제·유기촉매 자율 합성, 신규 발색단 발견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6.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안전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위험물질 방지 안전 도구 내장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LLM+전문 도구 결합의 대표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설계를 넘어 실제 합성까지 실행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안전장치를 명시적으로 포함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도구 품질·안전성에 의존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dual-use(오남용) 위험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M. Bran et al. 2024 (ChemCrow, Nat. Mach. Intell. 6:525–535, 10.1038/s42256-024-00832-8)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28/57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ChemCrow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ChemCrow — 원리·도구·성과·한계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원리·도구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LLM(GPT-4)=추론, 화학 도구=실행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합성계획(retrosynthesis)·반응예측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분자 물성·안전성 조회 도구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 결과를 근거로 다음 단계 결정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도구 없인 GPT-4가 화학에 취약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성과·한계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곤충기피제·유기촉매 자율 합성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신규 발색단(chromophore) 발견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전문가 평가로 유용성 검증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한계: 도구 정확도·dual-use·감독 필요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ChemCrow의 교훈: '똑똑한 LLM'보다 '정확한 도구를 잘 쓰는 LLM'이 화학에서 강하다. GPT-4 단독은 SMILES·합성에 자주 틀리지만, 전문 도구를 붙이면 실제 합성까지 해낸다.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M. Bran et al. 2024 (ChemCrow, Nat. Mach. Intell., 10.1038/s42256-024-00832-8)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29/57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초기사례 ②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Coscientist — 자율 화학 실험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6355080" cy="45902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481328"/>
            <a:ext cx="6355080" cy="420624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60350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</a:rPr>
              <a:t>핵심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1.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두뇌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GPT-4 구동 자율 연구 시스템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2.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도구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인터넷·문서 검색 + 코드 실행 + 로봇 실험 API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3.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과제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팔라듐 촉매 교차커플링(Suzuki·Sonogashira) 자율 최적화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4.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동작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단일 프롬프트→절차 설계→로봇 실행→GC-MS 확인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1F5C99"/>
                </a:solidFill>
                <a:latin typeface="Malgun Gothic"/>
              </a:rPr>
              <a:t>5. </a:t>
            </a:r>
            <a:r>
              <a:rPr sz="1050" b="1" i="0">
                <a:solidFill>
                  <a:srgbClr val="1C242B"/>
                </a:solidFill>
                <a:latin typeface="Malgun Gothic"/>
              </a:rPr>
              <a:t>의의</a:t>
            </a:r>
            <a:r>
              <a:rPr sz="1000" b="0" i="0">
                <a:solidFill>
                  <a:srgbClr val="5A636B"/>
                </a:solidFill>
                <a:latin typeface="Malgun Gothic"/>
              </a:rPr>
              <a:t> — LLM이 '실험을 스스로 수행'한 대표 사례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434840" cy="2615184"/>
          </a:xfrm>
          <a:prstGeom prst="roundRect">
            <a:avLst/>
          </a:prstGeom>
          <a:solidFill>
            <a:srgbClr val="EAF6F2"/>
          </a:solidFill>
          <a:ln w="1905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96912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A68C"/>
                </a:solidFill>
                <a:latin typeface="Malgun Gothic"/>
              </a:rPr>
              <a:t>차별점 (vs 이전)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6912" y="193852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설계·실행·해석 전자동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클라우드 로봇 실험실 통합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▸ </a:t>
            </a:r>
            <a:r>
              <a:rPr sz="980" b="0" i="0">
                <a:solidFill>
                  <a:srgbClr val="1C242B"/>
                </a:solidFill>
                <a:latin typeface="Malgun Gothic"/>
              </a:rPr>
              <a:t>6개 과제로 능력 시연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4224528"/>
            <a:ext cx="4434840" cy="1847088"/>
          </a:xfrm>
          <a:prstGeom prst="roundRect">
            <a:avLst/>
          </a:prstGeom>
          <a:solidFill>
            <a:srgbClr val="FCF0DD"/>
          </a:solidFill>
          <a:ln w="1905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42976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E88A1A"/>
                </a:solidFill>
                <a:latin typeface="Malgun Gothic"/>
              </a:rPr>
              <a:t>한계 ·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4681728"/>
            <a:ext cx="4114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좁은 반응계에 한정</a:t>
            </a:r>
          </a:p>
          <a:p>
            <a:pPr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• </a:t>
            </a:r>
            <a:r>
              <a:rPr sz="980" b="0" i="0">
                <a:solidFill>
                  <a:srgbClr val="5A636B"/>
                </a:solidFill>
                <a:latin typeface="Malgun Gothic"/>
              </a:rPr>
              <a:t>안전·인간 감독 필요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Boiko et al. 2023 (Coscientist, Nature 624:570–578, 10.1038/s41586-023-06792-0)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30/57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Coscientist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Coscientist — 무엇을 스스로 했나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웹·문서를 검색해 반응 절차를 스스로 조사·설계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Python 코드를 작성·실행하고 로봇 액체취급 장비 API를 제어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Suzuki·Sonogashira 교차커플링을 자율 계획→실행→GC-MS로 결과 확인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총 6개 과제로 검색·계획·실행·분석 능력을 통합 시연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Coscientist는 '가설'을 넘어 '물리적 실험'을 자율 수행한 이정표. 다만 잘 정의된 화학 반응계에 한정되고, 안전·감독이 전제 — '완전 자율 신약개발'과는 거리가 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Boiko et al. 2023 (Coscientist, Nature, 10.1038/s41586-023-06792-0)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31/57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AI co-scientist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Google AI co-scientist — 가설 생성 멀티에이전트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Gemini 2.0 기반 multi-agent(생성·반성·순위·진화·메타리뷰 역할 분담)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토너먼트식 자기비평·정교화 + test-time compute 확장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새로운 연구가설·제안서 생성 — 항생제 내성·간섬유증 등 검증 사례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2025.2 공개(블로그), 이후 논문화 진행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여러 에이전트가 가설을 만들고 서로 비평·순위 매겨 발전시키는 '연구팀' 구조. 사람 대체가 아니라 '가설 생성 파트너' — 실험 검증은 사람 몫.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Google Research 2025 (AI co-scientist, 2025.2.19; arXiv:2502.18864; Nature 게재 시점 확인 권장)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32/57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co-scientist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AI co-scientist — 멀티에이전트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역할별 에이전트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Generation: 가설 후보 생성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Reflection: 비평·약점 지적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Ranking: 토너먼트식 순위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Evolution·Meta-review: 정교화·종합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핵심 메커니즘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자기대국(self-play)식 가설 경쟁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test-time compute로 사고 확장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사람 피드백 반영(연구자 협업)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검증 사례로 유효성 시사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실험은 별도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'많이 생성하고, 서로 비평하고, 이긴 가설을 발전'시키는 진화적 구조. 계산을 더 쓸수록(test-time compute) 가설 품질이 오른다는 점이 특징 — 단, 최종 검증은 습식 실험.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Google Research 2025 (AI co-scientist, arXiv:2502.18864)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33/57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TxGemma/TxAgent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Google 치료 파운데이션 + 자율 에이전트 (2025)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TxGemma (2025.4)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Gemma-2 기반 2B/9B/27B 치료 특화 LM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TDC 66개 치료 태스크(약물·표적·임상)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Predict(예측)·Chat(대화) 두 계열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구 Tx-LLM 대체 세대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확인 권장(2026.9)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TxAgent / Agentic-Tx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Gemini 2.0 기반 generalist 치료 에이전트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추론 + 도구 + 외부지식 호출로 자율 실행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치료 태스크를 스스로 계획·수행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파운데이션 모델 → 에이전트로 확장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Google은 치료 특화 '파운데이션 모델(TxGemma)' 위에 '자율 에이전트(TxAgent/Agentic-Tx)'를 얹는 방향 — 예측 모델을 넘어 '스스로 도구를 쓰는 치료 에이전트'. 성능 수치는 원 논문 확인 권장.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TxGemma: arXiv:2504.06196 (Google, 2025.4); TxAgent/Agentic-Tx (Google, Gemini 2.0) — 확인 권장(2026.9)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34/57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2025-26 다중에이전트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2025-26 다중 에이전트 신약 라인업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0876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15087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근거(연도)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PharmAgents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다중 에이전트: 표적 발굴→화합물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1874519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2025.3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MADD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41448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multi-agent drug discovery 프레임워크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441448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EMNLP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DiscoVerse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08376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추적성(traceable) 갖춘 pharma co-scientist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008376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arXiv:2511.18259 (2025.11)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RAG-collab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75303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RAG 결합 협업형 LLM 에이전트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575303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arXiv:2502.17506 (2025.2)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42231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142231"/>
            <a:ext cx="2834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AI co-scientist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142231"/>
            <a:ext cx="51206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가설 생성 multi-agent(생성·반성·순위)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142231"/>
            <a:ext cx="2743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arXiv:2502.18864 (2025.2)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2025-26 = 단일 LLM에서 '역할 분담 다중 에이전트 co-scientist'로 급속 이동. 공통 지향점은 표적→후보→검증을 잇는 협업과 '추적성(traceability)' — 어떤 근거로 결론에 이르렀는지 남기기.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PharmAgents 2025.3; MADD EMNLP 2025; DiscoVerse arXiv:2511.18259; RAG-collab arXiv:2502.17506; AI co-scientist arXiv:2502.18864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35/57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FutureHouse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FutureHouse — 과학 에이전트 스위트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08760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역할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PaperQA2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74519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과학 문헌 RAG QA(문헌 QA superhuman 주장)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41448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Robin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41448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멀티에이전트: 문헌→가설→실험데이터 분석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0837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ether0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008376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24B 오픈웨이트 화학 추론 모델(RL 학습)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75303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Aviary·LAB-Bench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575303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에이전트 학습 프레임워크·평가 벤치마크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비영리 FutureHouse: 문헌(PaperQA2)·가설·실험분석(Robin)을 잇는 과학 에이전트. 오픈 모델(ether0)·벤치마크(LAB-Bench)까지 — 과학 에이전트 생태계의 대표 주자.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Skarlinski et al. 2024 (PaperQA2, arXiv:2409.13740); FutureHouse 2025 (Robin·ether0·Aviary)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36/57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Robin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Robin — 실제 신약 재창출(repurposing) 사례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멀티에이전트: Crow(문헌검색)·Falcon(심층리뷰)·Finch(데이터분석) 분업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건성 황반변성(dAMD) 후보로 녹내장약 ripasudil(ROCK 저해제) 제안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RPE 세포 탐식능 DMSO 대비 약 7.5배↑, ABCA1 상향조절 기전 규명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개념→논문 약 2.5개월 — 에이전트가 가설·분석을 주도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에이전트가 '기존 약물의 새 적응증'(drug repurposing)을 가설하고 실험 데이터까지 분석한 구체 사례. 다만 세포 수준 검증이며 임상은 별도 — 가설·분석 가속의 실증.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FutureHouse 2025 (Robin, arXiv:2505.13400; 정식 서지 확인 권장)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37/57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Claude for 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Claude for Life Sciences — 상용 과학 에이전트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Anthropic 생명과학 특화 — 2025.10.20 발표(모델 Claude Sonnet 4.5)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발견 전 과정 지원: 문헌리뷰→가설→데이터분석→규제문서 초안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MCP(Model Context Protocol) 커넥터로 외부 랩 도구·DB를 자연어 연결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Agent Skills 제공(예: single-cell RNA-seq QC — scverse 모범관행)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Claude for Life Sciences = '연구용 에이전트 플랫폼' — 논문을 읽고, 가설을 세우고, 데이터를 분석하고, 규제문서 초안까지. MCP로 실험실 도구를 연결해 실제 워크플로에 투입.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(Claude for Life Sciences, 2025.10.20)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38/57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MCP 커넥터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Claude for LS — 커넥터 &amp; 파트너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커넥터(도구 연결)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Benchling(전자연구노트·프로토콜)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10x Genomics(단일세포·공간분석)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PubMed·Synapse·BioRender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Databricks·Snowflake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데이터 웨어하우스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파트너·고객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Sanofi·Novo Nordisk·Genmab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Broad Institute·Stanford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Schrödinger·EvolutionaryScale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FutureHouse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생태계 연계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핵심은 '연결성' — MCP로 실험노트(Benchling)·유전체(10x)·문헌(PubMed)을 자연어로 오가며 작업. 6일차 실습(Claude Code 과학 에이전트)이 바로 이 계열이며, 그 '보안·엔지니어링'은 4교시.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(Claude for Life Sciences); CNBC 2025.10.20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39/57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성능·기능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Claude for LS — Agent Skills &amp; 성능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Agent Skills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도메인 절차를 스킬로 패키징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예: scRNA-seq QC(scverse 모범관행)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반복 연구작업 자동화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사내 프로토콜을 스킬화 가능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성능(공개 기준)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Protocol QA 0.83 (인간 0.79)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Sonnet 4(0.74) 대비 향상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BixBench 등 개선 보고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단, 벤치마크≠실제 연구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검증 필요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Protocol QA에서 인간 기준선(0.79)을 상회(0.83) — 프로토콜 이해·작성에서 실무 수준 접근. 그러나 벤치마크 점수일 뿐, 실제 연구 투입 시엔 검증·재현이 필수(C파트).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Anthropic 2025 (Claude for Life Sciences 성능 발표)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40/57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산업배치·평가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산업 현장 배치 &amp; 평가·서베이 (2025-26)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산업 현장 배치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ChatInvent @ AstraZeneca — 신약 아이디어·설계 지원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사내 워크플로에 LLM 에이전트 투입 보고(2026.1)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Claude for LS·Gemini for Science 등 상용 플랫폼 확산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실배치 세부는 확인 권장(2026.9)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평가·서베이(신뢰의 척도)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'Agentic Science' 서베이 — 자율과학 지형 정리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'Beyond SMILES' — 신약 에이전트 시스템 평가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단순 QA → 다단계 에이전트 과제로 평가 이동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벤치 점수 ≠ 실제 연구 성능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격차 인식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연구 데모를 넘어 '산업 배치'(ChatInvent@AstraZeneca)와 '체계적 평가'(Agentic Science·Beyond SMILES)가 동시에 성숙 중. 도입 확산과 함께 검증·추적성 요구도 커진다 — 성능 주장은 원문 확인 권장.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ChatInvent@AstraZeneca(2026.1 보고, 확인 권장); Agentic Science 서베이 arXiv:2508.14111; Beyond SMILES arXiv:2602.10163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41/57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경쟁 지형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과학 AI 에이전트 경쟁 지형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기업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508760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과학 제품·특징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74519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Claude for Life Sciences(연구 전과정·MCP·Agent Skills), Claude 5 계열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41448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Google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41448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Gemini for Science·AI co-scientist·TxGemma·TxAgent(Agentic-Tx)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08376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OpenAI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008376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GPT-5 계열(초기 ChemCrow·Coscientist는 GPT-4 백본)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75303"/>
            <a:ext cx="2377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1" i="0">
                <a:solidFill>
                  <a:srgbClr val="1C242B"/>
                </a:solidFill>
                <a:latin typeface="Malgun Gothic"/>
              </a:rPr>
              <a:t>전문·학계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575303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30" b="0" i="0">
                <a:solidFill>
                  <a:srgbClr val="5A636B"/>
                </a:solidFill>
                <a:latin typeface="Malgun Gothic"/>
              </a:rPr>
              <a:t>FutureHouse·PharmAgents·MADD·DiscoVerse·Isomorphic·Recursion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빅테크(Anthropic·Google·OpenAI)와 전문·학계 팀이 '과학 에이전트' 시장에서 경쟁. 범용 LLM(GPT-5·Claude 5·Gemini 3) 위에 도메인 도구·커넥터·다중에이전트·검증을 얹는 방향으로 수렴 — 접근성 급상승.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각 사 공식 발표 2024–2025; 종합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42/57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B · 사례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신약개발 에이전트 — 한 장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44752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에이전트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4475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주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44475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실행 수준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444752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두뇌·연도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10512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1" i="0">
                <a:solidFill>
                  <a:srgbClr val="1C242B"/>
                </a:solidFill>
                <a:latin typeface="Malgun Gothic"/>
              </a:rPr>
              <a:t>ChemCrow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810512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합성계획·화학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10512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로봇 합성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810512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GPT-4 (2023)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22576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322576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1" i="0">
                <a:solidFill>
                  <a:srgbClr val="1C242B"/>
                </a:solidFill>
                <a:latin typeface="Malgun Gothic"/>
              </a:rPr>
              <a:t>Coscientist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322576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실험 설계·수행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322576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로봇 실험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322576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GPT-4 (2023)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34640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83464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1" i="0">
                <a:solidFill>
                  <a:srgbClr val="1C242B"/>
                </a:solidFill>
                <a:latin typeface="Malgun Gothic"/>
              </a:rPr>
              <a:t>AI co-scientist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834640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가설 생성(multi-agent)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83464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in-silico 가설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834640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Gemini 2.0 (2025)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346704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46704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1" i="0">
                <a:solidFill>
                  <a:srgbClr val="1C242B"/>
                </a:solidFill>
                <a:latin typeface="Malgun Gothic"/>
              </a:rPr>
              <a:t>TxAgent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3346704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치료 태스크 자율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346704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도구·외부지식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346704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Gemini 2.0 (2025)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858768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858768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1" i="0">
                <a:solidFill>
                  <a:srgbClr val="1C242B"/>
                </a:solidFill>
                <a:latin typeface="Malgun Gothic"/>
              </a:rPr>
              <a:t>PharmAgents·DiscoVerse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858768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표적→후보→검증(다중)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858768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in-silico 협업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858768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multi-agent (2025)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370832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370832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1" i="0">
                <a:solidFill>
                  <a:srgbClr val="1C242B"/>
                </a:solidFill>
                <a:latin typeface="Malgun Gothic"/>
              </a:rPr>
              <a:t>Robin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4370832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문헌→가설→분석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370832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세포실험 분석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370832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multi-agent (2025)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4882896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4882896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1" i="0">
                <a:solidFill>
                  <a:srgbClr val="1C242B"/>
                </a:solidFill>
                <a:latin typeface="Malgun Gothic"/>
              </a:rPr>
              <a:t>Claude for 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882896"/>
            <a:ext cx="3383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연구 전과정 지원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4882896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도구 연결(MCP)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882896"/>
            <a:ext cx="2194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60" b="0" i="0">
                <a:solidFill>
                  <a:srgbClr val="5A636B"/>
                </a:solidFill>
                <a:latin typeface="Malgun Gothic"/>
              </a:rPr>
              <a:t>Sonnet 4.5 (2025)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스펙트럼: 가설(AI co-scientist)→치료 태스크(TxAgent)→다중 협업(PharmAgents·DiscoVerse)→설계·실험(ChemCrow·Coscientist)→분석(Robin)→통합 플랫폼(Claude for LS). 이를 견고·안전하게 만드는 게 4교시.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Bran 2024; Boiko 2023; Google 2025(co-scientist·TxAgent); PharmAgents 2025; DiscoVerse 2025; FutureHouse 2025; Anthropic 2025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43/57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 i="0">
                <a:solidFill>
                  <a:srgbClr val="009CD8"/>
                </a:solidFill>
                <a:latin typeface="Malgun Gothic"/>
              </a:rPr>
              <a:t>PART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2608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300" b="1" i="0">
                <a:solidFill>
                  <a:srgbClr val="FFFFFF"/>
                </a:solidFill>
                <a:latin typeface="Malgun Gothic"/>
              </a:rPr>
              <a:t>자율 워크플로우 · 평가 ·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77639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E9EDF1"/>
                </a:solidFill>
                <a:latin typeface="Malgun Gothic"/>
              </a:rPr>
              <a:t>2025-26: 단일 LLM → 다중 에이전트 co-scientist · 추적성·검증·안전이 핵심 과제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44/57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DMTA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Agentic 자율 워크플로우 — DMTA 폐루프</a:t>
            </a:r>
          </a:p>
        </p:txBody>
      </p:sp>
      <p:pic>
        <p:nvPicPr>
          <p:cNvPr id="6" name="Picture 5" descr="dmta_loop_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87" y="1371600"/>
            <a:ext cx="6675120" cy="3725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871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Make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3999" y="5054246"/>
            <a:ext cx="1828800" cy="420624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3999" y="5063390"/>
            <a:ext cx="182880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</a:rPr>
              <a:t>Analyze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566310"/>
            <a:ext cx="10607040" cy="45720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75454"/>
            <a:ext cx="10241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▷ </a:t>
            </a:r>
            <a:r>
              <a:rPr sz="950" b="0" i="0">
                <a:solidFill>
                  <a:srgbClr val="5A636B"/>
                </a:solidFill>
                <a:latin typeface="Malgun Gothic"/>
              </a:rPr>
              <a:t>에이전트가 설계(Design)-합성(Make)-시험(Test)-분석(Analyze) 사이클을 도구 호출로 자율 수행하고, 분석 결과를 다음 설계에 피드백하는 폐루프. 각 단계에 검증·안전 게이트가 필요(4교시).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Boiko et al. 2023; Bran et al. 2024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45/57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DMTA 단계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DMTA 각 단계의 에이전트·도구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0876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에이전트가 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087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도구·모델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74519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후보 분자·표적 설계·우선순위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74519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생성모델·MolT5·LLM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59736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59736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Make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59736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합성 경로 계획·로봇 합성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459736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retrosynthesis·로봇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44952"/>
            <a:ext cx="11247120" cy="530352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44952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044952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결합·독성·활성 시험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44952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docking·ADMET·assay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30168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630168"/>
            <a:ext cx="2194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630168"/>
            <a:ext cx="47548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결과 해석→다음 사이클 계획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630168"/>
            <a:ext cx="384048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통계·EDA·메모리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에이전트가 DMTA 네 단계를 도구로 잇고, Analyze의 결과를 메모리에 남겨 다음 Design에 반영 → 사이클마다 후보가 개선되는 '자율 최적화'. 물리 실험은 자율실험실(다음 슬라이드).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Boiko et al. 2023; Bran et al. 2024; 자율 신약 워크플로 리뷰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46/57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자율실험실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자율실험실(self-driving lab) — 그리고 함정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에이전트(계획)+로봇(실행)+분석이 결합된 '자율 실험실'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Coscientist·A-Lab 등 — 사람 개입 없이 실험 사이클을 반복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A-Lab(무기재료 자율합성): 17일간 다수 신물질 합성 보고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단, A-Lab은 이후 '신규성·동정' 관련 정정 — 자동 판정의 함정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자율실험실은 강력하지만 '자동 해석'이 틀릴 수 있다(A-Lab 정정 사례). 물리 실행을 자동화해도 '결과 판정·검증'에는 사람·독립 재현이 필요 — 자율≠무검증.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Boiko et al. 2023 (Coscientist); Szymanski et al. 2023 + 정정 (A-Lab, Nature, 10.1038/s41586-023-06734-w)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47/57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워크플로 매핑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신약개발 LLM 에이전트 활용 워크플로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19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17319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도구·에이전트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83080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문헌 마이닝·리뷰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PaperQA2·Claude+PubMed·RAG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95144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95144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가설·표적 발굴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95144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AI co-scientist·Robin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07208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07208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분자 설계·최적화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07208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MolT5·DrugAssist·ChemCrow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19272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319272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합성·실험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319272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Coscientist·자율실험실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31336"/>
            <a:ext cx="11247120" cy="457200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831336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데이터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31336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scRNA-seq QC·bioinformatics 에이전트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43400"/>
            <a:ext cx="1124712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343400"/>
            <a:ext cx="2926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C242B"/>
                </a:solidFill>
                <a:latin typeface="Malgun Gothic"/>
              </a:rPr>
              <a:t>프로토콜·규제문서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43400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Claude for LS(SOP·study protocol 초안)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LLM 에이전트는 신약개발 전 단계에 스며드는 중 — 문헌·가설·설계·합성·분석·문서. 생성모델(선행 교시)이 '분자를 만든다'면, LLM 에이전트는 '연구 과정을 운영한다'.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종합; Anthropic 2025; FutureHouse 2025; Boiko 2023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48/57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에이전트를 어떻게 평가하나 — 벤치마크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640080" y="1737360"/>
            <a:ext cx="5166360" cy="530352"/>
          </a:xfrm>
          <a:prstGeom prst="round2Same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대표 벤치마크</a:t>
            </a:r>
          </a:p>
        </p:txBody>
      </p:sp>
      <p:sp>
        <p:nvSpPr>
          <p:cNvPr id="9" name="Oval 8"/>
          <p:cNvSpPr/>
          <p:nvPr/>
        </p:nvSpPr>
        <p:spPr>
          <a:xfrm>
            <a:off x="896112" y="2478024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LAB-Bench: 2,400+ 생물 연구역량 문항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081528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BixBench: 생명정보학 에이전트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" y="3685032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BLURB·MedQA·PubMedQA: 생의학 QA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288536"/>
            <a:ext cx="109728" cy="109728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Protocol QA: 프로토콜 이해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737360"/>
            <a:ext cx="5166360" cy="3977639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355080" y="1737360"/>
            <a:ext cx="5166360" cy="530352"/>
          </a:xfrm>
          <a:prstGeom prst="round2SameRect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892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Malgun Gothic"/>
              </a:rPr>
              <a:t>평가 관점</a:t>
            </a:r>
          </a:p>
        </p:txBody>
      </p:sp>
      <p:sp>
        <p:nvSpPr>
          <p:cNvPr id="20" name="Oval 19"/>
          <p:cNvSpPr/>
          <p:nvPr/>
        </p:nvSpPr>
        <p:spPr>
          <a:xfrm>
            <a:off x="6611112" y="2478024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404872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단순 QA → '에이전트형' 과제로 이동</a:t>
            </a:r>
          </a:p>
        </p:txBody>
      </p:sp>
      <p:sp>
        <p:nvSpPr>
          <p:cNvPr id="22" name="Oval 21"/>
          <p:cNvSpPr/>
          <p:nvPr/>
        </p:nvSpPr>
        <p:spPr>
          <a:xfrm>
            <a:off x="6611112" y="3081528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008376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문헌·프로토콜·데이터·그림 해석</a:t>
            </a:r>
          </a:p>
        </p:txBody>
      </p:sp>
      <p:sp>
        <p:nvSpPr>
          <p:cNvPr id="24" name="Oval 23"/>
          <p:cNvSpPr/>
          <p:nvPr/>
        </p:nvSpPr>
        <p:spPr>
          <a:xfrm>
            <a:off x="6611112" y="3685032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611880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도구 사용·다단계 성공률</a:t>
            </a:r>
          </a:p>
        </p:txBody>
      </p:sp>
      <p:sp>
        <p:nvSpPr>
          <p:cNvPr id="26" name="Oval 25"/>
          <p:cNvSpPr/>
          <p:nvPr/>
        </p:nvSpPr>
        <p:spPr>
          <a:xfrm>
            <a:off x="6611112" y="4288536"/>
            <a:ext cx="109728" cy="109728"/>
          </a:xfrm>
          <a:prstGeom prst="ellipse">
            <a:avLst/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4215384"/>
            <a:ext cx="455371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C242B"/>
                </a:solidFill>
                <a:latin typeface="Malgun Gothic"/>
              </a:rPr>
              <a:t>벤치 점수 ≠ 실제 연구 성능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격차 인식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852160"/>
            <a:ext cx="10607040" cy="548640"/>
          </a:xfrm>
          <a:prstGeom prst="roundRect">
            <a:avLst/>
          </a:prstGeom>
          <a:solidFill>
            <a:srgbClr val="EAF6F2"/>
          </a:solidFill>
          <a:ln w="12700">
            <a:solidFill>
              <a:srgbClr val="1AA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5870448"/>
            <a:ext cx="1371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AA68C"/>
                </a:solidFill>
                <a:latin typeface="Malgun Gothic"/>
              </a:rPr>
              <a:t>쉽게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870448"/>
            <a:ext cx="90525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에이전트 평가도 진화 중 — 단순 지식 QA에서 '문헌 검색·프로토콜 이해·데이터 분석' 같은 실제 연구 역량(LAB-Bench)으로. 단 벤치와 현실의 격차는 상존한다.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Laurent et al. 2024 (LAB-Bench, arXiv:2407.10362); FutureHouse 2025 (BixBench)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49/57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한계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오류 전파 — 다단계 자율의 함정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환각·오류가 다단계로 전파·누적(도구 오호출·잘못된 계획)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단계별 성공률 0.9라도 10단계면 0.9^10 ≈ 0.35로 급락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도구 결과를 무비판 수용하면 오류가 '사실'로 굳어짐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대응: 단계별 검증 게이트·reflection·human-in-the-loop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자율 다단계일수록 실패가 곱해진다. 각 단계에 검증·롤백·인간 게이트가 없으면 '자율'이 곧 '자동 오류 증폭'이 된다 — 4교시 하네스의 존재 이유.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Yao 2023 (ReAct); Ji et al. 2023 (hallucination survey)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50/57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한계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검증·재현성 — AI 산출은 '가설'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리스크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54480"/>
            <a:ext cx="7589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내용·대응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3108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할루시네이션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920240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그럴듯한 오답 → RAG·도구·인간검증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8716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3108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과학적 검증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487168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AI 산출=가설 → 습식실험·독립 재현 확증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5409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54096"/>
            <a:ext cx="3108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재현성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54096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프롬프트·seed·모델버전·provenance 고정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21024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621024"/>
            <a:ext cx="3108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벤치마크 격차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621024"/>
            <a:ext cx="758952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벤치 점수 ≠ 실제 연구 성능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98932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99846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599846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Galactica(그럴듯한 오류)·A-Lab(신규성 정정) 사례 → AI 산출은 '가설'이지 '결론'이 아니다. 전공·임상 활용 시 RAG·도구·인간 검증·재현이 필수.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Taylor et al. 2022 (Galactica); Szymanski et al. 2023 + 정정 (A-Lab)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51/57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한계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보안·거버넌스 — 4교시 예고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9280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6424" y="179222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도구 권한·API 키·기밀 데이터 노출 위험(에이전트가 외부와 상호작용)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1576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6424" y="261518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프롬프트 인젝션·도구 오남용·dual-use(위험물질 설계 등)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38727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3814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규제·임상 문서는 사람이 최종 책임 — 자동 제출 금지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361688"/>
            <a:ext cx="137160" cy="13716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" y="4261104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해법: 권한 최소화·감사로그·게이트·샌드박스(4교시 하네스)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806440"/>
            <a:ext cx="10607040" cy="548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1F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5824727"/>
            <a:ext cx="8229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1F5C99"/>
                </a:solidFill>
                <a:latin typeface="Malgun Gothic"/>
              </a:rPr>
              <a:t>+심화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824727"/>
            <a:ext cx="941831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5A636B"/>
                </a:solidFill>
                <a:latin typeface="Malgun Gothic"/>
              </a:rPr>
              <a:t>에이전트가 강력해질수록 '무엇을·어디까지 하게 둘 것인가'가 핵심. 권한·격리·감사·인간 승인 같은 통제(거버넌스)가 없으면 신약개발 현업엔 못 쓴다 — 그 엔지니어링이 4교시.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본 강의 2교시 검증 원칙; 4교시 Agentic 보안 예고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52/57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실패 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에이전트 실패 모드 — 무엇을 감시하나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실패 모드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0876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087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5A636B"/>
                </a:solidFill>
                <a:latin typeface="Malgun Gothic"/>
              </a:rPr>
              <a:t>완화책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잘못된 도구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19"/>
            <a:ext cx="4023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엉뚱한 API·인자 호출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874519"/>
            <a:ext cx="3840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도구 설명·검증 게이트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41448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441448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도구 결과 환각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41448"/>
            <a:ext cx="4023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없는 결과를 지어냄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441448"/>
            <a:ext cx="3840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실제 반환값 강제·로그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247120" cy="512064"/>
          </a:xfrm>
          <a:prstGeom prst="round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008376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무한 루프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008376"/>
            <a:ext cx="4023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같은 행동 반복·미종료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008376"/>
            <a:ext cx="3840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step 상한·종료조건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575303"/>
            <a:ext cx="11247120" cy="51206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75303"/>
            <a:ext cx="29260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C242B"/>
                </a:solidFill>
                <a:latin typeface="Malgun Gothic"/>
              </a:rPr>
              <a:t>목표 이탈(drift)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75303"/>
            <a:ext cx="402336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원 과제에서 벗어남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575303"/>
            <a:ext cx="384048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계획 재확인·감독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943600"/>
            <a:ext cx="10607040" cy="512064"/>
          </a:xfrm>
          <a:prstGeom prst="roundRect">
            <a:avLst/>
          </a:prstGeom>
          <a:solidFill>
            <a:srgbClr val="FCF0DD"/>
          </a:solidFill>
          <a:ln w="12700">
            <a:solidFill>
              <a:srgbClr val="E88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952744"/>
            <a:ext cx="14630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E88A1A"/>
                </a:solidFill>
                <a:latin typeface="Malgun Gothic"/>
              </a:rPr>
              <a:t>⚠ 함정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5952744"/>
            <a:ext cx="91440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5A636B"/>
                </a:solidFill>
                <a:latin typeface="Malgun Gothic"/>
              </a:rPr>
              <a:t>에이전트는 '조용히' 실패한다 — 그럴듯한 로그를 남기며 틀린다. 그래서 도구 반환값 검증·step 상한·감사로그·인간 게이트가 필수(4교시 하네스가 이 감시를 체계화).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Yao 2023 (ReAct); Ji et al. 2023; 종합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53/57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C · 실무 교훈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현직자를 위한 실무 교훈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190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LLM 에이전트는 '가설·초안 생성기' — 결론이 아니라 출발점으로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334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반드시 RAG·도구로 근거를 붙이고 출처를 확인(할루시네이션 방지)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478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생성물·분석은 습식실험·독립 재현으로 검증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622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프롬프트·모델버전·seed·도구 로그를 기록(재현성·규제 대비)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766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도메인 도구·플랫폼(Claude for LS·MCP)으로 현업 워크플로에 통합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종합; Bran 2024; Anthropic 2025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54/57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3교시 정리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190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에이전트 = LLM(추론) + 도구 + 계획 + 메모리 + 검증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51760"/>
            <a:ext cx="502920" cy="502920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334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ReAct(생각→행동→관찰)·tool use·Toolformer·reflection·multi-agent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478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초기(ChemCrow·Coscientist, 2023) → 2025-26 다중에이전트(AI co-scientist·TxAgent·PharmAgents·DiscoVerse)·Claude for LS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80560"/>
            <a:ext cx="502920" cy="502920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622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핵심 전환: 단일 LLM → 다중 에이전트 co-scientist. 추적성·검증·안전이 과제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949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376672"/>
            <a:ext cx="10058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C242B"/>
                </a:solidFill>
                <a:latin typeface="Malgun Gothic"/>
              </a:rPr>
              <a:t>다음: 에이전트를 '견고·안전하게' 만드는 하네스 엔지니어링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A636B"/>
                </a:solidFill>
                <a:latin typeface="Malgun Gothic"/>
              </a:rPr>
              <a:t>4교시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55/57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A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009CD8"/>
                </a:solidFill>
                <a:latin typeface="Malgun Gothic"/>
              </a:rPr>
              <a:t>4교시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102412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에이전트를 견고·안전하게 — 하네스 엔지니어링</a:t>
            </a:r>
          </a:p>
          <a:p>
            <a:pPr algn="l">
              <a:spcAft>
                <a:spcPts val="300"/>
              </a:spcAft>
            </a:pPr>
            <a:r>
              <a:rPr sz="800" b="0" i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E9EDF1"/>
                </a:solidFill>
                <a:latin typeface="Malgun Gothic"/>
              </a:rPr>
              <a:t>컨텍스트 엔지니어링 · 서브에이전트 · 메모리/LLM wiki · MCP · 평가 · Agentic 보안 통제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009CD8"/>
                </a:solidFill>
                <a:latin typeface="Malgun Gothic"/>
              </a:rPr>
              <a:t>에이전트를 '만들 수 있다'에서 '믿고 운영할 수 있다'로.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56/57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(3교시) — 1/2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에이전트 원리: Yao et al. 2023 (ReAct, ICLR, arXiv:2210.03629); Schick et al. 2023 (Toolformer, NeurIPS, arXiv:2302.04761).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원리(계속): Lewis et al. 2020 (RAG, NeurIPS, arXiv:2005.11401); Wei et al. 2022 (Chain-of-Thought); Shinn et al. 2023 (Reflexion); Wang et al. 2024 (agent survey).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사례 — 화학: M. Bran et al. 2024 (ChemCrow, Nat Mach Intell 6:525–535, 10.1038/s42256-024-00832-8).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사례 — 실험: Boiko et al. 2023 (Coscientist, Nature 624:570–578, 10.1038/s41586-023-06792-0).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배경: Taylor et al. 2022 (Galactica, arXiv:2211.09085); Heaven 2022 (MIT Tech Review).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3교시 참고문헌 1/2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55664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36B"/>
                </a:solidFill>
                <a:latin typeface="Malgun Gothic"/>
              </a:rPr>
              <a:t>57/57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009CD8"/>
                </a:solidFill>
                <a:latin typeface="Malgun Gothic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B2A4A"/>
                </a:solidFill>
                <a:latin typeface="Malgun Gothic"/>
              </a:rPr>
              <a:t>주요 출처 (3교시) — 2/2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가설·문헌 에이전트: Google 2025 (AI co-scientist, arXiv:2502.18864); Skarlinski et al. 2024 (PaperQA2, arXiv:2409.13740).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치료 파운데이션·에이전트: TxGemma (arXiv:2504.06196, 2025.4); TxAgent/Agentic-Tx (Google, Gemini 2.0).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다중에이전트 신약(2025-26): PharmAgents (2025.3); MADD (EMNLP 2025); DiscoVerse (arXiv:2511.18259); RAG-collab agents (arXiv:2502.17506).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산업배치·평가/서베이: ChatInvent@AstraZeneca (2026.1 보고); Agentic Science 서베이 (arXiv:2508.14111); Beyond SMILES (arXiv:2602.10163).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FutureHouse·상용·실험실: Robin (arXiv:2505.13400); LAB-Bench (arXiv:2407.10362); Claude for LS (2025.10.20); A-Lab (Nature) + 정정.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C242B"/>
                </a:solidFill>
                <a:latin typeface="Malgun Gothic"/>
              </a:rPr>
              <a:t>• * 확인 권장(2026.9): TxAgent 서지·수치, ChatInvent 실배치 세부, AI co-scientist Nature 게재, Robin 정식 서지·일부 수치(프리프린트 기준).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06070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1" i="0">
                <a:solidFill>
                  <a:srgbClr val="009CD8"/>
                </a:solidFill>
                <a:latin typeface="Malgun Gothic"/>
              </a:rPr>
              <a:t>Ref. </a:t>
            </a:r>
            <a:r>
              <a:rPr sz="850" b="0" i="0">
                <a:solidFill>
                  <a:srgbClr val="5A636B"/>
                </a:solidFill>
                <a:latin typeface="Malgun Gothic"/>
              </a:rPr>
              <a:t>3교시 참고문헌 2/2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