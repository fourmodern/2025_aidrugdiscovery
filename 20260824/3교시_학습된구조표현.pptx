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tein_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868680"/>
            <a:ext cx="3886200" cy="211974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3840480"/>
            <a:ext cx="12191695" cy="2377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800" b="1" i="0">
                <a:solidFill>
                  <a:srgbClr val="FFFFFF"/>
                </a:solidFill>
                <a:latin typeface="Malgun Gothic"/>
              </a:rPr>
              <a:t>3교시 · 학습된 표현 &amp; 구조 기반 표현</a:t>
            </a:r>
          </a:p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009CD8"/>
                </a:solidFill>
                <a:latin typeface="Malgun Gothic"/>
              </a:rPr>
              <a:t>기계가 표현을 '학습'한다(PLM) + 구조를 표현으로 → 비교하고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7/24 강의 3·4교시 통합·정리 · 마지막 교시 · 재직자·전공자 · 한국어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3교시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이 교시가 끝나면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단백질 언어모델(PLM)이 표현을 '학습'하는 원리(MLM)를 설명한다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ESM-2·ProtT5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700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56946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서열 임베딩을 얻어 downstream에 활용하는 법을 안다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실습: ESM-2 임베딩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930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3924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구조 기반 표현(contact·graph·surface)을 구분한다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159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153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AlphaFold/ESMFold를 '표현 소스'로 쓰는 법과 한계를 안다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1389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50383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데이터·과제·해석성·비용으로 표현을 선택하고 실측으로 비교한다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본 교시 학습목표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연결 · 2교시 → 3교시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사람이 '설계'하던 feature → 기계가 '학습'하는 표현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2교시 — 수작업 표현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사람이 feature를 직접 설계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one-hot·조성(AAC)·물성(ProtParam)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진화정보 PSSM/MSA·예측 툴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투명·해석적, 그러나 정보 상한 존재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3교시 — 학습된·구조 표현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대규모 사전학습이 표현을 대신 학습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PLM 임베딩(ESM-2·ProtT5)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구조를 표현으로(contact·graph·surface)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AlphaFold를 표현 소스로 → 비교·실습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 전환: 2교시는 '무엇을 feature로 쓸지'를 사람이 정했다. 3교시는 수억 서열의 사전학습이 그 feature 설계를 대신한다 — 표현을 설계에서 학습으로 옮기는 것이 오늘의 이야기.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과정 커리큘럼 · 2교시(수작업 표현) → 3교시(학습·구조 표현)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3교시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이 교시에서 볼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19072"/>
            <a:ext cx="4937760" cy="749808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4754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A. 단백질 언어모델(PLM)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719072"/>
            <a:ext cx="56692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MLM·ESM-2·ProtT5·임베딩·전이학습(+실습)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15184"/>
            <a:ext cx="4937760" cy="749808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15184"/>
            <a:ext cx="4754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B. 구조 기반 표현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615184"/>
            <a:ext cx="56692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contact·graph·surface·voxel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11296"/>
            <a:ext cx="4937760" cy="749808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11296"/>
            <a:ext cx="4754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C. 구조 예측을 소스로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511296"/>
            <a:ext cx="56692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AlphaFold2·ESMFold·pLDDT·한계·SBDD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07408"/>
            <a:ext cx="4937760" cy="749808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407408"/>
            <a:ext cx="4754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D. 비교·선택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4407408"/>
            <a:ext cx="56692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선택 매트릭스·벤치마크·한계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03520"/>
            <a:ext cx="4937760" cy="74980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303520"/>
            <a:ext cx="47548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E. 오늘의 실습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5303520"/>
            <a:ext cx="56692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20개·4 family로 표현 실측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본 교시 구성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단백질 언어모델 (PLM)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표현을 '설계'하지 않고 '학습'한다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6/56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단백질 언어모델 — 무엇이 다른가</a:t>
            </a:r>
          </a:p>
        </p:txBody>
      </p:sp>
      <p:pic>
        <p:nvPicPr>
          <p:cNvPr id="6" name="Picture 5" descr="protein_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572000" cy="249381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서열을 '언어'로 보고 대규모 자기지도 학습(라벨 없음)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487168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수억~수십억 서열로 사전학습 → 문맥 반영 잔기 임베딩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741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273552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수작업 feature(2교시)를 학습된 표현이 대체·보완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605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059936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한 번 학습하면 다양한 downstream에 전이(transfer)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PLM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protein language model — 대규모 서열로 사전학습해 문맥적 표현을 만드는 모델(ESM·ProtT5 등)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Rives et al. 2021 (ESM-1b, PNAS); Elnaggar et al. 2022 (ProtTrans, IEEE TPAMI)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7/56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대비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수작업 feature vs 학습된 표현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수작업 (2교시)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사람이 feature 설계(조성·물성·MSA)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투명·해석·소규모에 강함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도메인 지식 필요·정보 상한 존재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MSA는 검색 느림·고아 취약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학습된 표현 (PLM)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데이터에서 표현을 자동 학습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문맥·전이·대규모에 강함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블랙박스·계산비용·데이터 의존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추론 시 MSA 불필요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둘은 경쟁이자 보완 — 소규모·해석엔 수작업, 복잡·대규모엔 학습표현. 실무에선 PLM 임베딩 + 물성 몇 개를 함께 쓰는 하이브리드가 흔하다(뒤 PART D·E에서 비교).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Rao et al. 2019 (TAPE, NeurIPS); 2~3 계보 대비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8/56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계보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단백질 표현의 3단계 진화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4114800" cy="896112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393192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① 수작업 특성공학 (2000s~)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1737360"/>
            <a:ext cx="644652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one-hot·조성·물성(AAindex/ProtParam) — 사람이 feature 설계 + SVM/RF (2교시)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79776"/>
            <a:ext cx="4114800" cy="896112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79776"/>
            <a:ext cx="393192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② 진화정보 (~2019)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779776"/>
            <a:ext cx="644652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PSSM·MSA·공진화 — 동족체 많으면 강력, 그러나 MSA 검색 느림·고아 취약 (2교시)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22191"/>
            <a:ext cx="4114800" cy="896112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822191"/>
            <a:ext cx="393192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③ 학습된 표현 PLM (2021~)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822191"/>
            <a:ext cx="644652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ESM·ProtT5 임베딩이 '새 표준 feature' — 대규모 사전학습, MSA 없이 단일서열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864608"/>
            <a:ext cx="4114800" cy="896112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64608"/>
            <a:ext cx="393192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③+ 구조+PLM 융합 (2023~)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4864608"/>
            <a:ext cx="644652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구조 인식 PLM·GNN·AlphaFold 소스 — 서열 임베딩에 3D 정보 결합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6053328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6071616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6071616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'특성공학이 사라진' 게 아니다 — PLM 임베딩이 새 표준 feature로 편입됐을 뿐, 물성·구조 보정은 해석·후처리로 여전히 생존. 3교시는 ③·③+ 를 다룬다.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Rives 2021; Lin 2023; 표현 리뷰 종합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9/56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사전학습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MLM — 빈칸 채우기로 표현을 배운다</a:t>
            </a:r>
          </a:p>
        </p:txBody>
      </p:sp>
      <p:pic>
        <p:nvPicPr>
          <p:cNvPr id="6" name="Picture 5" descr="plm_mlm_pretrain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783080"/>
            <a:ext cx="4754880" cy="2653887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서열의 ~15%를 가리고 원래 잔기를 예측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243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52374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맞히려면 '구조·기능 제약'을 내부에 학습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47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34670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공진화(함께 변하는 잔기쌍)가 표현에 흡수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702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169663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라벨 없이 수억 서열로 자기지도 학습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MLM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masked language modeling — 가린 토큰 복원 목적함수 L=−Σ log p(xᵢ|나머지). BERT 계승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Devlin et al. 2019 (BERT); Rives et al. 2021 (ESM-1b, PNAS)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10/56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사전학습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MLM(masked language modeling) — PLM이 배우는 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토큰화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각 아미노산=1토큰(+BOS/EOS 특수토큰)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마스킹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무작위 15% 잔기 선택 → 80%[MASK]·10%랜덤·10%원본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양방향 인코딩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Transformer self-attention이 좌우 전체 문맥 반영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복원 예측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마스크 위치 원래 아미노산을 20-way softmax로 맞힘(cross-entropy)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대규모 반복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UniRef 수억 서열 사전학습 → 문맥적 잔기 임베딩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6.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신호 창발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공변이·contact·2차구조가 라벨 없이 임베딩에 나타남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라벨 없이 대규모 학습(PSSM은 계열별 정렬 필요)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양방향 문맥(자기회귀 LM은 한쪽만)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추론 시 MSA 불필요 — 단일 서열로 임베딩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대량 데이터·계산 필요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표현 내용 불투명(블랙박스)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서열에 없는 신호는 못 배움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Devlin et al. 2019 (BERT); Rives et al. 2021 (ESM-1b, PNAS); Lin et al., Science 2023 (ESM-2)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11/56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지형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주요 단백질 언어모델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0876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규모·계열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50876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메모(출처)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5603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ESM-1b / ESM-2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74519"/>
            <a:ext cx="43891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650M → 15B · Transformer(MLM)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874519"/>
            <a:ext cx="374903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구조 창발·ESMFold(2023)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4144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41448"/>
            <a:ext cx="25603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ESM-C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441448"/>
            <a:ext cx="43891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표현학습 전용 계열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441448"/>
            <a:ext cx="374903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임베딩 특화(2024, 기술공개)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0837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08376"/>
            <a:ext cx="25603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ProtBERT / ProtT5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008376"/>
            <a:ext cx="43891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420M / 3B · BERT · T5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008376"/>
            <a:ext cx="374903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ProtTrans(2022)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75303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75303"/>
            <a:ext cx="25603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Ankh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575303"/>
            <a:ext cx="43891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효율형 T5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575303"/>
            <a:ext cx="374903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적은 파라미터로 경쟁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42231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142231"/>
            <a:ext cx="25603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ProGen2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142231"/>
            <a:ext cx="43891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6.4B · 자기회귀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142231"/>
            <a:ext cx="374903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생성·fitness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임베딩 차원 예: ESM-2-650M·ESM-1b=1280, ProtBERT/ProtT5=1024, ESM-2-8M=320. per-residue(L×d) 또는 mean-pool로 per-protein(d)로 사용.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Rives 2021 (ESM-1b); Lin 2023 (ESM-2); Elnaggar 2022 (ProtTrans); Hayes et al. 2025 (ESM-3)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12/56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ESM-2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ESM-2 — 스케일이 구조를 부른다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아키텍처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Transformer 인코더 + rotary position embedding, 8M~15B 파라미터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학습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UniRef50/90 클러스터에서 MLM(마스크 복원)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contact 추출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attention map 대칭화 → 로지스틱 회귀로 잔기 contact(비지도)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스케일 법칙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파라미터↑ → perplexity↓ → 예측 구조 정확도↑ (구조 창발)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ESMFold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ESM-2 임베딩 위에 folding trunk → 단일서열 구조 예측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6.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활용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임베딩(예: 1280차원)이 downstream 표준 feature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MSA 불필요 — 단일서열로 임베딩·구조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attention→contact가 스케일로 급향상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고아·설계 단백질(동족체 無)에 강함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15B는 GPU 메모리 큼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MSA 풍부 타깃엔 AF2가 더 정확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단일 구조(앙상블 아님)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Lin et al., Science 2023 (ESM-2 / ESMFold); Rao et al. 2021 (attention→contact)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13/56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ProtT5 / ProtBERT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ProtTrans — BERT vs T5, 목적함수의 차이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ProtBERT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BERT 인코더 + MLM(15% 마스크 복원), UniRef/BFD 학습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ProtT5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T5 인코더-디코더 + span corruption(연속 구간 마스크→복원)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임베딩 사용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ProtT5는 '인코더' 표현만 downstream에 사용(1024차원)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학습 규모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대규모 아미노산 코퍼스 · TPU; ProtT5-XL 3B 파라미터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단일서열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둘 다 추론 시 MSA 불필요 → 2차구조·국재화에 강함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6.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Ankh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T5형 + 효율 설계로 적은 파라미터로 경쟁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BERT(MLM) vs T5(span corruption) 차이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ProtT5 인코더 표현이 SS·localization서 강함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MSA 없이 단일서열 임베딩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대형 모델 메모리·비용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pooling·layer 선택에 민감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Elnaggar et al. 2022 (ProtTrans, IEEE TPAMI); Elnaggar et al. 2023 (Ankh)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14/56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구조인식 PLM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SaProt / ProstT5 — 구조를 서열처럼 (A→B 다리)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동기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서열 PLM은 구조를 암묵적으로만 학습 → 명시 주입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3Di 토큰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Foldseek 구조 알파벳(20종)으로 각 잔기 국소구조 이산화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SaProt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(아미노산×3Di)=400 결합 vocabulary로 MLM 사전학습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ProstT5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서열↔3Di 양방향 '번역'(T5 인코더-디코더)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구조 공급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3Di는 AlphaFold/ESMFold 예측 구조에서 계산(PART C)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6.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효과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fold-level 원거리 상동성까지 서열모델에 반영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구조 정보를 입력 토큰 수준에서 명시 주입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SaProt=결합 vocab · ProstT5=번역, 두 접근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원거리 상동성·구조 태스크 성능↑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3Di 얻으려면 사전 구조(예측/실험) 필요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이산화로 정보 손실 가능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Su et al. 2024 (SaProt, ICLR); Heinzinger et al. 2024 (ProstT5, NAR Genom Bioinform)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15/56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임베딩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임베딩이 담는 것 · 형태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창발하는 신호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2차구조·잔기 contact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보존·기능 부위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변이 효과(fitness) 경향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원격 상동성(기능 유사)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표현 형태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per-residue: L×d 행렬(잔기 태스크)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per-protein: mean-pool / CLS(전역)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layer 선택도 성능에 영향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검색·클러스터링에 벡터 그대로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pooling·layer 선택이 성능을 바꾼다 — 마지막 layer가 최선이 아닐 때 많고, mean-pool은 위치 정보를 잃는다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Rao et al. 2019 (TAPE); PLM 실무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16/56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임베딩 공간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임베딩 = 단백질의 '좌표'</a:t>
            </a:r>
          </a:p>
        </p:txBody>
      </p:sp>
      <p:pic>
        <p:nvPicPr>
          <p:cNvPr id="6" name="Picture 5" descr="protein_embedding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83080"/>
            <a:ext cx="4389120" cy="239406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각 단백질 → 고정 차원 벡터(공간의 한 점)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487168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가까운 벡터 = 유사 구조·기능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741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273552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검색·클러스터링·유사체 탐색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605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059936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원격 상동성(서열은 다르나 기능 유사) 포착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임베딩 공간에서의 거리 = 진화·기능 유사도의 근사 — BLAST가 놓치는 원격 관계를 임베딩이 찾기도(항상은 아님). PART E 실습에서 이 성질을 실제 20개 단백질로 확인한다.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Rives et al. 2021; Elnaggar et al. 2022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17/56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임베딩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ESM-2 임베딩 추출 (fair-esm)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78308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서열 → ESM-2 임베딩(1280차원)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85416"/>
            <a:ext cx="10607040" cy="2523744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76856"/>
            <a:ext cx="10241280" cy="243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00">
                <a:solidFill>
                  <a:srgbClr val="59C2D6"/>
                </a:solidFill>
                <a:latin typeface="Consolas"/>
              </a:rPr>
              <a:t>import</a:t>
            </a:r>
            <a:r>
              <a:rPr sz="1100">
                <a:solidFill>
                  <a:srgbClr val="E6EDF3"/>
                </a:solidFill>
                <a:latin typeface="Consolas"/>
              </a:rPr>
              <a:t> torch, esm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model, alphabet = esm.pretrained.esm2_t33_650M_UR50D()   </a:t>
            </a:r>
            <a:r>
              <a:rPr sz="1100">
                <a:solidFill>
                  <a:srgbClr val="7EC699"/>
                </a:solidFill>
                <a:latin typeface="Consolas"/>
              </a:rPr>
              <a:t># dim 1280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bc = alphabet.get_batch_converter(); model.eval()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_,_,toks = bc([(</a:t>
            </a:r>
            <a:r>
              <a:rPr sz="1100">
                <a:solidFill>
                  <a:srgbClr val="7EC699"/>
                </a:solidFill>
                <a:latin typeface="Consolas"/>
              </a:rPr>
              <a:t>'p1'</a:t>
            </a:r>
            <a:r>
              <a:rPr sz="1100">
                <a:solidFill>
                  <a:srgbClr val="E6EDF3"/>
                </a:solidFill>
                <a:latin typeface="Consolas"/>
              </a:rPr>
              <a:t>, </a:t>
            </a:r>
            <a:r>
              <a:rPr sz="1100">
                <a:solidFill>
                  <a:srgbClr val="7EC699"/>
                </a:solidFill>
                <a:latin typeface="Consolas"/>
              </a:rPr>
              <a:t>'MKTAYIAKQR'</a:t>
            </a:r>
            <a:r>
              <a:rPr sz="1100">
                <a:solidFill>
                  <a:srgbClr val="E6EDF3"/>
                </a:solidFill>
                <a:latin typeface="Consolas"/>
              </a:rPr>
              <a:t>)])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59C2D6"/>
                </a:solidFill>
                <a:latin typeface="Consolas"/>
              </a:rPr>
              <a:t>with</a:t>
            </a:r>
            <a:r>
              <a:rPr sz="1100">
                <a:solidFill>
                  <a:srgbClr val="E6EDF3"/>
                </a:solidFill>
                <a:latin typeface="Consolas"/>
              </a:rPr>
              <a:t> torch.no_grad(): out = model(toks, repr_layers=[</a:t>
            </a:r>
            <a:r>
              <a:rPr sz="1100">
                <a:solidFill>
                  <a:srgbClr val="7EC699"/>
                </a:solidFill>
                <a:latin typeface="Consolas"/>
              </a:rPr>
              <a:t>33</a:t>
            </a:r>
            <a:r>
              <a:rPr sz="1100">
                <a:solidFill>
                  <a:srgbClr val="E6EDF3"/>
                </a:solidFill>
                <a:latin typeface="Consolas"/>
              </a:rPr>
              <a:t>])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emb = out[</a:t>
            </a:r>
            <a:r>
              <a:rPr sz="1100">
                <a:solidFill>
                  <a:srgbClr val="7EC699"/>
                </a:solidFill>
                <a:latin typeface="Consolas"/>
              </a:rPr>
              <a:t>'representations'</a:t>
            </a:r>
            <a:r>
              <a:rPr sz="1100">
                <a:solidFill>
                  <a:srgbClr val="E6EDF3"/>
                </a:solidFill>
                <a:latin typeface="Consolas"/>
              </a:rPr>
              <a:t>][</a:t>
            </a:r>
            <a:r>
              <a:rPr sz="1100">
                <a:solidFill>
                  <a:srgbClr val="7EC699"/>
                </a:solidFill>
                <a:latin typeface="Consolas"/>
              </a:rPr>
              <a:t>33</a:t>
            </a:r>
            <a:r>
              <a:rPr sz="1100">
                <a:solidFill>
                  <a:srgbClr val="E6EDF3"/>
                </a:solidFill>
                <a:latin typeface="Consolas"/>
              </a:rPr>
              <a:t>][</a:t>
            </a:r>
            <a:r>
              <a:rPr sz="1100">
                <a:solidFill>
                  <a:srgbClr val="7EC699"/>
                </a:solidFill>
                <a:latin typeface="Consolas"/>
              </a:rPr>
              <a:t>0</a:t>
            </a:r>
            <a:r>
              <a:rPr sz="1100">
                <a:solidFill>
                  <a:srgbClr val="E6EDF3"/>
                </a:solidFill>
                <a:latin typeface="Consolas"/>
              </a:rPr>
              <a:t>,</a:t>
            </a:r>
            <a:r>
              <a:rPr sz="1100">
                <a:solidFill>
                  <a:srgbClr val="7EC699"/>
                </a:solidFill>
                <a:latin typeface="Consolas"/>
              </a:rPr>
              <a:t>1</a:t>
            </a:r>
            <a:r>
              <a:rPr sz="1100">
                <a:solidFill>
                  <a:srgbClr val="E6EDF3"/>
                </a:solidFill>
                <a:latin typeface="Consolas"/>
              </a:rPr>
              <a:t>:-</a:t>
            </a:r>
            <a:r>
              <a:rPr sz="1100">
                <a:solidFill>
                  <a:srgbClr val="7EC699"/>
                </a:solidFill>
                <a:latin typeface="Consolas"/>
              </a:rPr>
              <a:t>1</a:t>
            </a:r>
            <a:r>
              <a:rPr sz="1100">
                <a:solidFill>
                  <a:srgbClr val="E6EDF3"/>
                </a:solidFill>
                <a:latin typeface="Consolas"/>
              </a:rPr>
              <a:t>]  </a:t>
            </a:r>
            <a:r>
              <a:rPr sz="1100">
                <a:solidFill>
                  <a:srgbClr val="7EC699"/>
                </a:solidFill>
                <a:latin typeface="Consolas"/>
              </a:rPr>
              <a:t># [L,1280]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per_protein = emb.mean(</a:t>
            </a:r>
            <a:r>
              <a:rPr sz="1100">
                <a:solidFill>
                  <a:srgbClr val="7EC699"/>
                </a:solidFill>
                <a:latin typeface="Consolas"/>
              </a:rPr>
              <a:t>0</a:t>
            </a:r>
            <a:r>
              <a:rPr sz="1100">
                <a:solidFill>
                  <a:srgbClr val="E6EDF3"/>
                </a:solidFill>
                <a:latin typeface="Consolas"/>
              </a:rPr>
              <a:t>)                    </a:t>
            </a:r>
            <a:r>
              <a:rPr sz="1100">
                <a:solidFill>
                  <a:srgbClr val="7EC699"/>
                </a:solidFill>
                <a:latin typeface="Consolas"/>
              </a:rPr>
              <a:t># [1280] 벡터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764024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773168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이 벡터가 downstream(분류·회귀)의 입력 — 수작업 feature 대신 학습된 표현. (transformers API는 PART E 실습에서)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BOS/EOS 토큰 제거 필수([1:-1]). 큰 모델·긴 서열은 GPU 메모리 부담 → 배치·truncation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Lin et al., Science 2023; github.com/facebookresearch/esm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18/56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전이학습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임베딩 활용 — pooling &amp; 전이학습 전략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pooling(태스크에 맞춤)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잔기 태스크 → per-residue(L×d)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전역 분류·국재화 → pooled(d)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서열 검색 → per-protein 벡터 거리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전이학습 전략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frozen probing: 임베딩 고정 + 얕은 분류기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fine-tuning: 본체까지 미세조정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LoRA/adapter: 저비용 부분 조정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태스크 granularity에 pooling을 맞추고, 데이터가 적으면 frozen probing부터. 최근엔 본체 고정 + adapter/LoRA로 저비용 fine-tuning이 실무 표준이 되고 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Elnaggar 2022 (ProtT5); Rao 2019 (TAPE)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19/56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구조 기반 표현 (structure-based)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3D를 담는다 — contact · graph · surface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20/56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왜 구조를 표현에 담나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기능은 3D에서 나온다 — 활성부위·결합계면은 3D 배치로 결정(구조=기능, 1교시)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서열이 멀어도 3D에서 가까운 잔기가 함께 작동(서열 표현이 놓치는 관계)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8444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83863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결합부위·표면·단백질-단백질 상호작용(PPI)은 구조 표현이 유리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531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5254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AlphaFold DB로 구조가 대규모로 생겨 '구조 표현'을 실제로 쓸 수 있게 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단, 구조 표현의 품질은 '입력 구조의 품질'에 종속된다 — 예측 구조를 쓸 때는 신뢰도(pLDDT)를 반드시 함께 본다(PART C).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구조–기능 관계(1교시); Varadi et al. 2024 (AlphaFold DB, NAR)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21/56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contact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contact / distance map</a:t>
            </a:r>
          </a:p>
        </p:txBody>
      </p:sp>
      <p:pic>
        <p:nvPicPr>
          <p:cNvPr id="6" name="Picture 5" descr="contac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83080"/>
            <a:ext cx="4389120" cy="239406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잔기 쌍이 3D에서 가까운지(Cβ&lt;8Å) → L×L 행렬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487168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distance map: 실수 거리 행렬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741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273552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2D 이미지처럼 CNN 처리 가능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605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059936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구조를 잃지 않는 compact 표현·회전 불변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contact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잔기 쌍의 근접 여부를 담은 L×L 행렬 — 구조 정보를 2D로 압축한 표현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구조 표현 표준; Rao et al. 2019 (TAPE contact)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22/56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contact 예측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공진화 → contact — DCA · trRosetta · PLM attention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신호원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공진화: 함께 변하는 잔기쌍 = 3D 접촉 가능성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DCA/Potts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MSA에서 직접 커플링 추정 → 간접 상관 제거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지도 딥러닝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DCA+feature를 ResNet으로 → 거리·방향 분포(trRosetta)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PLM attention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ESM attention head 대칭화 → contact(비지도·MSA無)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출력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L×L contact/distance map → 구조예측·표현 입력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6.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AF2 흡수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Evoformer pair 표현이 contact를 내부 학습·활용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상관→직접커플링(DCA)로 간접신호 제거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딥러닝(trRosetta)으로 정확도 급상승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PLM은 MSA 없이 attention으로 contact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MSA 얕으면 공진화 신호 약함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예측 map은 근사(구조≠확정)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Morcos et al. 2011 (DCA); Yang et al. 2020 (trRosetta, PNAS); Rao et al. 2021 (ESM contact)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23/56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residue graph → GNN</a:t>
            </a:r>
          </a:p>
        </p:txBody>
      </p:sp>
      <p:pic>
        <p:nvPicPr>
          <p:cNvPr id="6" name="Picture 5" descr="residu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83080"/>
            <a:ext cx="4389120" cy="239406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노드=잔기, 엣지=공간/서열 근접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487168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메시지 전달로 3D 관계 학습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741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273552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결합부위·기능 예측에 강력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605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059936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GVP/GearNet: 회전 등변·자기지도 사전학습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residue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잔기를 노드로, 근접 관계를 엣지로 만든 그래프 — GNN 입력(Graphein 등)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Jing et al. 2021 (GVP, ICLR); Zhang et al. 2023 (GearNet, ICLR)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24/56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MaSIF / dMaSIF — 분자 표면 학습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표면 생성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분자 solvent-excluded surface를 삼각 메시로 계산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패치 분해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각 점 주변 geodesic 반경의 중첩 패치로 분할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기하 feature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shape index·거리의존 곡률(패치 형태)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화학 feature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소수성·전하(Poisson-Boltzmann)·H-bond donor/acceptor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geodesic conv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극좌표 패치에 학습 conv → 표면 패치 '지문'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6.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dMaSIF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메시 없이 원자 point cloud에서 즉석·미분가능 계산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서열/골격이 아닌 '표면 기하+화학'으로 표현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상호작용(계면·리간드 부위)에 특화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dMaSIF는 전처리 없이 end-to-end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표면(=구조) 품질에 의존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대형 표면 계산 비용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Gainza et al. 2020 (MaSIF, Nat Methods); Sverrisson et al. 2021 (dMaSIF, CVPR)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25/56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기타 기하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backbone angle · voxel · point cloud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국소·격자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골격 이면각(φ/ψ/ω)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voxel/3D-CNN: 원자 밀도 격자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잔기·부위 주변 3D 환경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점군·등변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원자 좌표 point cloud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회전 불변/등변 처리 필요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GVP-GNN: 3D 방향까지 담는 그래프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등변성(equivariance)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입력 좌표를 회전하면 벡터 출력도 같이 회전 — 좌표계에 무관한 물리적으로 타당한 표현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구조 표현 리뷰; Jing et al. 2021 (GVP, ICLR)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26/56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구조 표현 — 한눈에 · 언제 유리한가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표현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0876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형태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50876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강점 · 언제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30352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743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contact/distance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74519"/>
            <a:ext cx="3840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L×L 행렬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874519"/>
            <a:ext cx="4297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2D-CNN·compact, 구조예측 연계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59736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59736"/>
            <a:ext cx="2743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voxel / point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459736"/>
            <a:ext cx="3840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3D 격자·점군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459736"/>
            <a:ext cx="4297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부위·원자 수준(도킹·포켓)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44952"/>
            <a:ext cx="11247120" cy="530352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44952"/>
            <a:ext cx="2743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residue graph(GNN)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044952"/>
            <a:ext cx="3840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노드·엣지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044952"/>
            <a:ext cx="4297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관계·결합부위·기능 예측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30168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30168"/>
            <a:ext cx="2743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surface(MaSIF)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630168"/>
            <a:ext cx="3840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표면 패치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630168"/>
            <a:ext cx="4297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PPI·리간드 결합부위 특화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공통 조건: 좋은 구조가 있어야 좋은 구조 표현 — 그래서 구조 예측(다음 PART C)이 표현의 '재료 공급'으로 결정적이다.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구조 표현 리뷰; TAPE contact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27/56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구조 예측을 표현 소스로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AlphaFold·ESMFold가 구조를 공급한다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28/56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AlphaFold2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AlphaFold2 — MSA·pair → 3D 구조</a:t>
            </a:r>
          </a:p>
        </p:txBody>
      </p:sp>
      <p:pic>
        <p:nvPicPr>
          <p:cNvPr id="6" name="Picture 5" descr="struct_alphafold2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783080"/>
            <a:ext cx="4663440" cy="260285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입력: 서열 + MSA(공진화) + 템플릿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487168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Evoformer: MSA·잔기쌍 표현 상호 정제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741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273552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구조 모듈(IPA): 잔기 3D 프레임 직접 생성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605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059936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CASP14서 실험 정확도급(GDT≈92)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Evoformer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MSA×pair 표현을 삼각 갱신으로 정제하는 AF2 핵심 트렁크 — 공진화를 구조로 변환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Jumper et al. 2021 (AlphaFold2, Nature, 10.1038/s41586-021-03819-2)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29/56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AlphaFold2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AlphaFold2 — 구조 표현의 '재료 공급'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입력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표적 서열 + MSA(동족체) + 템플릿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Evoformer(48블록)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MSA 표현 &amp; 잔기쌍(pair) 표현을 상호 갱신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triangle update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pair에 삼각부등식형 갱신 → 거리 일관성 강제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구조 모듈(IPA)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각 잔기 3D 프레임(회전+평행이동) 직접 생성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Recycling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출력을 재투입 정제 + pLDDT/PAE 자체 추정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6.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표현으로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예측 3D → contact·graph·surface 표현의 소스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end-to-end 학습으로 실험 정확도급 구조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MSA 공변이를 pair 표현이 직접 활용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구조 표현을 대규모로 가능하게 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단일 구조(앙상블·apo 경향)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MSA 얕으면 저하·점변이 약함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정밀 결합엔 실험구조 우위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Jumper et al. 2021 (AlphaFold2, Nature); Abramson et al. 2024 (AlphaFold3, Nature)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30/56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확장·오픈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AF3 · Boltz · Chai — 복합체·오픈 생태계 (2024-25)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AlphaFold3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Evoformer→Pairformer + diffusion으로 단백질·핵산·리간드 복합체 예측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RoseTTAFold-AA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3-track을 all-atom·임의 분자로 일반화(오픈, 2024)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Boltz-1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오픈소스로 AlphaFold3급 정확도 재현(2024.11)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Boltz-2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구조 + 결합친화도(affinity)까지 통합 예측(2025)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Chai-1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실험 restraint 주입 시 정확도↑·MSA-free 모드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6.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의미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복합체 구조도 '표현 소스' → 계면·PPI 표현으로 확장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AF2(단백질)→AF3(범용 생체분자)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오픈 재현(Boltz)·친화도(Boltz-2)까지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복합체 구조가 구조 표현의 재료로 편입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자체 벤치마크 주장(제3자 검증 권장)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친화도 예측은 본질적으로 난제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Abramson 2024 (AF3, Nature 630:493); Krishna 2024 (RFAA, Science); Wohlwend 2024 (Boltz-1); Passaro 2025 (Boltz-2); Chai Discovery 2024 (Chai-1)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31/56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규모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구조가 대규모로 생겼다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AlphaFold DB: 2억(214M)+ 예측 구조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ESM Metagenomic Atlas: 6억+ 구조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301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2958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→ 실험구조 없는 단백질도 구조 표현 가능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988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9826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구조 기반 표현(graph·surface)의 적용 범위가 폭발적으로 확장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AlphaFold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824727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AlphaFold 예측 구조 공개 DB(2억+) — 구조 기반 표현의 대규모 재료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Varadi et al. 2024 (AlphaFold DB, NAR); Lin et al. 2023 (ESM Atlas)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32/56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ESMFold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ESMFold — MSA 없이 단일서열 폴딩</a:t>
            </a:r>
          </a:p>
        </p:txBody>
      </p:sp>
      <p:pic>
        <p:nvPicPr>
          <p:cNvPr id="6" name="Picture 5" descr="struct_esmfold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783080"/>
            <a:ext cx="4663440" cy="260285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PLM(ESM-2) 임베딩 → folding trunk → 3D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487168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MSA 검색 불필요 → AF2 대비 ~수십배 빠름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741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273552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고아·메타지놈 서열에 강점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605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059936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Metagenomic Atlas 6억+ 구조 생성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ESMFold = '임베딩에 구조가 담겨 있다'의 가장 강력한 증명 — 언어모델 표현만으로 구조를 직접 접는다(PART A와 연결). 단, 깊은 MSA 타깃엔 AF2가 여전히 우세.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Lin et al. 2023 (ESM-2/ESMFold, Science, 10.1126/science.ade2574)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33/56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실무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구조를 어떻게 얻나 — 실무 경로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5087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50876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용도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AlphaFold DB 조회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874519"/>
            <a:ext cx="4754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이미 계산됨·즉시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74519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알려진 단백질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4144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41448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ColabFold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441448"/>
            <a:ext cx="4754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MMseqs2 MSA·빠름·무료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41448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신규 서열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0837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08376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ESMFold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008376"/>
            <a:ext cx="4754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단일서열·초고속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008376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대량·고아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75303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75303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Boltz / AF3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575303"/>
            <a:ext cx="4754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복합체·리간드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575303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도킹·SBDD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실무: 표현에 쓸 구조는 대개 AlphaFold DB 조회 또는 ColabFold/ESMFold로 생성 → 그 좌표로 graph/surface 표현을 만든다.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Mirdita et al. 2022 (ColabFold, Nat Methods); Lin 2023 (ESMFold)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34/56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신뢰도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pLDDT·PAE — 예측을 얼마나 믿나</a:t>
            </a:r>
          </a:p>
        </p:txBody>
      </p:sp>
      <p:pic>
        <p:nvPicPr>
          <p:cNvPr id="6" name="Picture 5" descr="struct_confidence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783080"/>
            <a:ext cx="4663440" cy="254369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pLDDT: 잔기별 신뢰도(0-100)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487168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PAE: 잔기쌍 상대위치 오차(L×L)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741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273552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pTM/ipTM: 전역·계면 요약(복합체)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605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059936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낮은 pLDDT = 무질서(disorder) 가능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pLDDT→PAE→pTM→ipTM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잔기 → 잔기쌍 → 전역 → 계면으로 이어지는 신뢰도 지표의 위계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Jumper 2021 (pLDDT/PAE); Evans et al. 2022 (ipTM, AF-Multimer)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35/56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신뢰도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예측을 얼마나 믿나 — pLDDT · PAE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0876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의미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50876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해석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pLDDT &gt;90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74519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잔기 신뢰(매우 높음)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74519"/>
            <a:ext cx="3383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좌표 신뢰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4144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41448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pLDDT 70–90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441448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신뢰(백본)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441448"/>
            <a:ext cx="3383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대체로 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0837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0837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pLDDT &lt;50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008376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낮음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008376"/>
            <a:ext cx="3383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무질서 가능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75303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75303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PAE / ipTM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575303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도메인 상대배치·계면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575303"/>
            <a:ext cx="3383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복합체 신뢰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pLDDT는 '좌표 신뢰도'이자 무질서 proxy — 구조 표현에 쓸 때 낮은 pLDDT 영역은 가중·제외 등 취급이 필요하다.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Jumper et al. 2021; EBI AlphaFold 가이드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36/56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예측 구조의 한계 — 정직하게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하나의 구조(앙상블 아님)·주로 apo 경향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점 돌연변이·유연성·리간드 유발 변화 약함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301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2958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도킹·가상스크리닝엔 실험구조보다 약함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Karelina 2023 · Wong 2022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988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9826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→ 표현 소스로 유용하나 '맹신 금지'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AlphaFold 구조를 도킹·정밀 결합 분석에 그대로 쓰면 실패 가능 — fold·pocket은 좋아도 holo·정밀 배치는 별개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Karelina et al. 2023 (eLife); Wong et al. 2022 (Mol Syst Biol)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37/56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SBDD 접점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구조 표현 → 구조 기반 약물설계(SBDD)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구조가 여는 것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예측 구조로 결합 포켓·활성부위 파악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표면·graph 표현이 리간드·PPI 부위 강조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복합체(co-folding)로 계면 예측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설계·스크리닝 연결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포켓 → 도킹·가상 스크리닝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구조 기반 생성 설계(바인더·항체)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표현이 예측을 넘어 '설계'로 확장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구조 예측·구조 표현은 SBDD의 입구 — 예측 구조의 pocket으로 도킹/설계를 시작한다. 단, 정밀 결합·랭킹은 실험 검증 필요(앞 슬라이드 한계와 함께 읽을 것).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Watson et al. 2023 (RFdiffusion, Nature); Dauparas et al. 2022 (ProteinMPNN, Science)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38/56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비교 ·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무엇을 언제 쓰나 — 정직한 평가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39/56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선택 매트릭스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표현법 선택 — 4가지 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상황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6304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권장 표현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46304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이유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1247120" cy="47548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32918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데이터 매우 적음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828800"/>
            <a:ext cx="3931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물성·조성(저차원)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383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과적합 방지·해석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59152"/>
            <a:ext cx="11247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59152"/>
            <a:ext cx="32918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중간·해석 필요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359152"/>
            <a:ext cx="3931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조성/PSSM + 물성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59152"/>
            <a:ext cx="3383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투명·근거 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889504"/>
            <a:ext cx="11247120" cy="47548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889504"/>
            <a:ext cx="32918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데이터 많음·복잡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889504"/>
            <a:ext cx="3931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PLM 임베딩(ESM/ProtT5)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889504"/>
            <a:ext cx="3383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문맥·전이·성능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419856"/>
            <a:ext cx="11247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419856"/>
            <a:ext cx="32918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결합·계면·PPI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419856"/>
            <a:ext cx="3931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구조 표현(graph/surface)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419856"/>
            <a:ext cx="3383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3D 배치가 본질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50208"/>
            <a:ext cx="11247120" cy="47548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950208"/>
            <a:ext cx="32918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계산자원 제약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950208"/>
            <a:ext cx="3931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조성·물성 or 소형 PLM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950208"/>
            <a:ext cx="3383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임베딩 비용↓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판단 4축: ① 데이터량 ② 과제(분류/회귀/생성/상호작용) ③ 해석성 요구 ④ 계산비용. 실무 시작점은 '강한 baseline(조성/물성) + PLM 임베딩'을 함께 돌려 비교하는 것.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표현 선택 실무 종합; TAPE·PEER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40/56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과제별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과제 유형별 표현 매칭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4480560" cy="768096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297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분류 (예: 국재화·기능 라벨)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737360"/>
            <a:ext cx="603504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per-protein 임베딩(mean-pool) 또는 조성 + 얕은 분류기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33472"/>
            <a:ext cx="4480560" cy="768096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33472"/>
            <a:ext cx="4297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회귀 (예: 안정성·용해도 점수)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2633472"/>
            <a:ext cx="603504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PLM 임베딩 + 물성 하이브리드, 소데이터면 물성 우선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29584"/>
            <a:ext cx="4480560" cy="768096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29584"/>
            <a:ext cx="4297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잔기 단위 (예: 2차구조·contact)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3529584"/>
            <a:ext cx="603504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per-residue 임베딩(L×d) 또는 PSSM 프로파일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25696"/>
            <a:ext cx="4480560" cy="768096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425696"/>
            <a:ext cx="4297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상호작용·결합 (PPI·리간드)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4425696"/>
            <a:ext cx="603504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구조 표현(graph/surface) + 임베딩 결합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21808"/>
            <a:ext cx="4480560" cy="768096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321808"/>
            <a:ext cx="4297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생성·설계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5321808"/>
            <a:ext cx="603504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자기회귀/멀티모달 PLM(ProGen2·ESM-3 계열)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과제–표현 매칭 종합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41/56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벤치마크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표현을 '공정하게' 비교하려면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벤치마크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0876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무엇을 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50876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메모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TAPE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74519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2차구조·contact·stability 등 5과제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874519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프레임 정립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4144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41448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PEER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441448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기능·국재화·구조·상호작용 다과제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41448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멀티태스크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0837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0837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FLIP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008376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단백질 엔지니어링 현실 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08376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fitness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75303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75303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ProteinGym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575303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250+ DMS·수백만 변이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575303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변이효과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구체적 정확도·상관계수 등 성능 수치는 출처·조건 없이 인용 금지 — 본 자료는 정성 비교만(수치는 원논문·벤치마크 확인 권장)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Rao 2019 (TAPE); Xu 2022 (PEER, NeurIPS); Notin et al. 2023 (ProteinGym)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42/56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논쟁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PLM이 항상 이기나? — 정직한 답</a:t>
            </a:r>
          </a:p>
        </p:txBody>
      </p:sp>
      <p:pic>
        <p:nvPicPr>
          <p:cNvPr id="6" name="Picture 5" descr="protein_embedding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783080"/>
            <a:ext cx="4206240" cy="2294313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구조·보존 연관 과제(2차구조·contact·변이효과)엔 강함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51175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450591"/>
            <a:ext cx="60350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일부 엔지니어링/fitness 과제엔 단순 baseline이 대등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0098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200400"/>
            <a:ext cx="60350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TAPE: 사전학습이 정렬 feature에 못 미친 경우도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05079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950207"/>
            <a:ext cx="60350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→ 반드시 baseline과 비교 (Shanehsazzadeh 2020)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PLM 임베딩이 무조건 낫다는 가정 금지 — fluorescence 등에선 선형회귀가 이긴 사례도. 과제·데이터 의존이 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Shanehsazzadeh et al. 2020; Rao et al. 2019 (TAPE); Dallago et al. 2021 (FLIP)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43/56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표현법의 공통 한계·주의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일반화·편향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도메인 외(신규 폴드·비천연) 일반화 저하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학습 데이터 편향(UniProt 편중)이 표현에 전이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고아·설계 단백질은 진화정보 표현 약함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실무 주의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PLM 임베딩은 블랙박스 → 해석 어려움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구조 표현은 입력 구조 품질에 종속(pLDDT 확인)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계산비용·재현성(모델·layer·pooling 기록)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어떤 표현도 만능이 아니다 — 과제·데이터·자원에 맞춰 고르고, baseline과 비교하고, 예측은 실험으로 확인한다는 원칙이 표현법 활용의 핵심.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표현 한계 종합; 편향·일반화 논의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44/56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오늘의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20개 단백질 · 4 family로 표현을 직접 비교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45/56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실습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오늘의 실습 — 표현법 직접 비교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00784"/>
            <a:ext cx="106984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노트북: 20260824/notebooks/protein_representation_practical.ipynb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06039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505456"/>
            <a:ext cx="106984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실제 UniProt 단백질 20개(4개 family)를 실행 시 fetch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1071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310128"/>
            <a:ext cx="106984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수작업 표현(2교시): one-hot · 조성(AAC) · 물성(ProtParam) 재사용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21538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114800"/>
            <a:ext cx="106984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학습된 표현(3교시): ESM-2 임베딩(esm2_t6_8M, 320차원)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02005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4919472"/>
            <a:ext cx="106984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같은 과제(family 구분)에서 어느 표현이 나은지 실측·시각화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94360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96188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96188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실습 원칙 — 무-날조: 서열은 실제 UniProt에서 내려받고, 모든 성능 수치는 노트북이 실제로 계산. 20개 소규모 데모(정식 벤치마크 아님).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본 과정 실습 노트북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46/56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실습 데이터 — 4 family × 5 (UniProt)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family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55448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예시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15544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특징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20240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Globin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920240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헤모글로빈 α/β/δ/γ · 미오글로빈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920240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산소 운반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23744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237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Serine protease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523744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트립신 · 키모트립시노겐 · 엘라스타제 · PSA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523744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촉매(가수분해)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27248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12724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Protein kinase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127248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SRC · CDK1/2 · ERK2 · PKCδ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127248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인산화 신호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30752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730752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Cytochrome P450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730752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CYP3A4/2D6/2C9/1A2/2B6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730752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약물 대사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기능군이 뚜렷이 다른 4 family → '표현이 family를 구분하는지'를 보기 좋은 세팅. 라벨은 실제 UniProt 분류.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UniProt (rest.uniprot.org); 실습 노트북 §1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47/56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코드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표현 만들기 — 수작업 vs ESM-2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73736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서열 → AAC·물성(2교시) &amp; ESM-2 임베딩(3교시)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39696"/>
            <a:ext cx="10607040" cy="310896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31136"/>
            <a:ext cx="10241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050">
                <a:solidFill>
                  <a:srgbClr val="7EC699"/>
                </a:solidFill>
                <a:latin typeface="Consolas"/>
              </a:rPr>
              <a:t># 수작업 표현(2교시 재사용): AAC 20d · 물성 7d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X_aac  = np.vstack([aac(s)      </a:t>
            </a:r>
            <a:r>
              <a:rPr sz="1050">
                <a:solidFill>
                  <a:srgbClr val="59C2D6"/>
                </a:solidFill>
                <a:latin typeface="Consolas"/>
              </a:rPr>
              <a:t>for</a:t>
            </a:r>
            <a:r>
              <a:rPr sz="1050">
                <a:solidFill>
                  <a:srgbClr val="E6EDF3"/>
                </a:solidFill>
                <a:latin typeface="Consolas"/>
              </a:rPr>
              <a:t> s </a:t>
            </a:r>
            <a:r>
              <a:rPr sz="1050">
                <a:solidFill>
                  <a:srgbClr val="59C2D6"/>
                </a:solidFill>
                <a:latin typeface="Consolas"/>
              </a:rPr>
              <a:t>in</a:t>
            </a:r>
            <a:r>
              <a:rPr sz="1050">
                <a:solidFill>
                  <a:srgbClr val="E6EDF3"/>
                </a:solidFill>
                <a:latin typeface="Consolas"/>
              </a:rPr>
              <a:t> df[</a:t>
            </a:r>
            <a:r>
              <a:rPr sz="1050">
                <a:solidFill>
                  <a:srgbClr val="7EC699"/>
                </a:solidFill>
                <a:latin typeface="Consolas"/>
              </a:rPr>
              <a:t>'seq'</a:t>
            </a:r>
            <a:r>
              <a:rPr sz="1050">
                <a:solidFill>
                  <a:srgbClr val="E6EDF3"/>
                </a:solidFill>
                <a:latin typeface="Consolas"/>
              </a:rPr>
              <a:t>]])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X_phys = np.vstack([physchem(s) </a:t>
            </a:r>
            <a:r>
              <a:rPr sz="1050">
                <a:solidFill>
                  <a:srgbClr val="59C2D6"/>
                </a:solidFill>
                <a:latin typeface="Consolas"/>
              </a:rPr>
              <a:t>for</a:t>
            </a:r>
            <a:r>
              <a:rPr sz="1050">
                <a:solidFill>
                  <a:srgbClr val="E6EDF3"/>
                </a:solidFill>
                <a:latin typeface="Consolas"/>
              </a:rPr>
              <a:t> s </a:t>
            </a:r>
            <a:r>
              <a:rPr sz="1050">
                <a:solidFill>
                  <a:srgbClr val="59C2D6"/>
                </a:solidFill>
                <a:latin typeface="Consolas"/>
              </a:rPr>
              <a:t>in</a:t>
            </a:r>
            <a:r>
              <a:rPr sz="1050">
                <a:solidFill>
                  <a:srgbClr val="E6EDF3"/>
                </a:solidFill>
                <a:latin typeface="Consolas"/>
              </a:rPr>
              <a:t> df[</a:t>
            </a:r>
            <a:r>
              <a:rPr sz="1050">
                <a:solidFill>
                  <a:srgbClr val="7EC699"/>
                </a:solidFill>
                <a:latin typeface="Consolas"/>
              </a:rPr>
              <a:t>'seq'</a:t>
            </a:r>
            <a:r>
              <a:rPr sz="1050">
                <a:solidFill>
                  <a:srgbClr val="E6EDF3"/>
                </a:solidFill>
                <a:latin typeface="Consolas"/>
              </a:rPr>
              <a:t>]])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7EC699"/>
                </a:solidFill>
                <a:latin typeface="Consolas"/>
              </a:rPr>
              <a:t># 학습된 표현(3교시): ESM-2 임베딩 (transformers)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59C2D6"/>
                </a:solidFill>
                <a:latin typeface="Consolas"/>
              </a:rPr>
              <a:t>from</a:t>
            </a:r>
            <a:r>
              <a:rPr sz="1050">
                <a:solidFill>
                  <a:srgbClr val="E6EDF3"/>
                </a:solidFill>
                <a:latin typeface="Consolas"/>
              </a:rPr>
              <a:t> transformers </a:t>
            </a:r>
            <a:r>
              <a:rPr sz="1050">
                <a:solidFill>
                  <a:srgbClr val="59C2D6"/>
                </a:solidFill>
                <a:latin typeface="Consolas"/>
              </a:rPr>
              <a:t>import</a:t>
            </a:r>
            <a:r>
              <a:rPr sz="1050">
                <a:solidFill>
                  <a:srgbClr val="E6EDF3"/>
                </a:solidFill>
                <a:latin typeface="Consolas"/>
              </a:rPr>
              <a:t> AutoTokenizer, AutoModel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tok = AutoTokenizer.from_pretrained(</a:t>
            </a:r>
            <a:r>
              <a:rPr sz="1050">
                <a:solidFill>
                  <a:srgbClr val="7EC699"/>
                </a:solidFill>
                <a:latin typeface="Consolas"/>
              </a:rPr>
              <a:t>'facebook/esm2_t6_8M_UR50D'</a:t>
            </a:r>
            <a:r>
              <a:rPr sz="105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esm = AutoModel.from_pretrained(</a:t>
            </a:r>
            <a:r>
              <a:rPr sz="1050">
                <a:solidFill>
                  <a:srgbClr val="7EC699"/>
                </a:solidFill>
                <a:latin typeface="Consolas"/>
              </a:rPr>
              <a:t>'facebook/esm2_t6_8M_UR50D'</a:t>
            </a:r>
            <a:r>
              <a:rPr sz="1050">
                <a:solidFill>
                  <a:srgbClr val="E6EDF3"/>
                </a:solidFill>
                <a:latin typeface="Consolas"/>
              </a:rPr>
              <a:t>).eval()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out = esm(**tok(seq, return_tensors=</a:t>
            </a:r>
            <a:r>
              <a:rPr sz="1050">
                <a:solidFill>
                  <a:srgbClr val="7EC699"/>
                </a:solidFill>
                <a:latin typeface="Consolas"/>
              </a:rPr>
              <a:t>'pt'</a:t>
            </a:r>
            <a:r>
              <a:rPr sz="1050">
                <a:solidFill>
                  <a:srgbClr val="E6EDF3"/>
                </a:solidFill>
                <a:latin typeface="Consolas"/>
              </a:rPr>
              <a:t>)).last_hidden_state[</a:t>
            </a:r>
            <a:r>
              <a:rPr sz="1050">
                <a:solidFill>
                  <a:srgbClr val="7EC699"/>
                </a:solidFill>
                <a:latin typeface="Consolas"/>
              </a:rPr>
              <a:t>0</a:t>
            </a:r>
            <a:r>
              <a:rPr sz="1050">
                <a:solidFill>
                  <a:srgbClr val="E6EDF3"/>
                </a:solidFill>
                <a:latin typeface="Consolas"/>
              </a:rPr>
              <a:t>]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emb = out[</a:t>
            </a:r>
            <a:r>
              <a:rPr sz="1050">
                <a:solidFill>
                  <a:srgbClr val="7EC699"/>
                </a:solidFill>
                <a:latin typeface="Consolas"/>
              </a:rPr>
              <a:t>1</a:t>
            </a:r>
            <a:r>
              <a:rPr sz="1050">
                <a:solidFill>
                  <a:srgbClr val="E6EDF3"/>
                </a:solidFill>
                <a:latin typeface="Consolas"/>
              </a:rPr>
              <a:t>:-</a:t>
            </a:r>
            <a:r>
              <a:rPr sz="1050">
                <a:solidFill>
                  <a:srgbClr val="7EC699"/>
                </a:solidFill>
                <a:latin typeface="Consolas"/>
              </a:rPr>
              <a:t>1</a:t>
            </a:r>
            <a:r>
              <a:rPr sz="1050">
                <a:solidFill>
                  <a:srgbClr val="E6EDF3"/>
                </a:solidFill>
                <a:latin typeface="Consolas"/>
              </a:rPr>
              <a:t>].mean(</a:t>
            </a:r>
            <a:r>
              <a:rPr sz="1050">
                <a:solidFill>
                  <a:srgbClr val="7EC699"/>
                </a:solidFill>
                <a:latin typeface="Consolas"/>
              </a:rPr>
              <a:t>0</a:t>
            </a:r>
            <a:r>
              <a:rPr sz="1050">
                <a:solidFill>
                  <a:srgbClr val="E6EDF3"/>
                </a:solidFill>
                <a:latin typeface="Consolas"/>
              </a:rPr>
              <a:t>)  </a:t>
            </a:r>
            <a:r>
              <a:rPr sz="1050">
                <a:solidFill>
                  <a:srgbClr val="7EC699"/>
                </a:solidFill>
                <a:latin typeface="Consolas"/>
              </a:rPr>
              <a:t># 특수토큰 제외 mean-pool → 320d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03520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12664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2교시 수작업 표현과 3교시 ESM-2 임베딩을 같은 20개 단백질에 대해 나란히 계산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실습 노트북 §2–3; Lin et al. 2023 (ESM-2); Cock et al. 2009 (Biopython)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48/56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코드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공정 비교 — LOO 1-NN &amp; 실루엣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78308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같은 과제(family)에서 표현별 성능 실측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85416"/>
            <a:ext cx="10607040" cy="281635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76856"/>
            <a:ext cx="1024128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050">
                <a:solidFill>
                  <a:srgbClr val="59C2D6"/>
                </a:solidFill>
                <a:latin typeface="Consolas"/>
              </a:rPr>
              <a:t>from</a:t>
            </a:r>
            <a:r>
              <a:rPr sz="1050">
                <a:solidFill>
                  <a:srgbClr val="E6EDF3"/>
                </a:solidFill>
                <a:latin typeface="Consolas"/>
              </a:rPr>
              <a:t> sklearn.model_selection </a:t>
            </a:r>
            <a:r>
              <a:rPr sz="1050">
                <a:solidFill>
                  <a:srgbClr val="59C2D6"/>
                </a:solidFill>
                <a:latin typeface="Consolas"/>
              </a:rPr>
              <a:t>import</a:t>
            </a:r>
            <a:r>
              <a:rPr sz="1050">
                <a:solidFill>
                  <a:srgbClr val="E6EDF3"/>
                </a:solidFill>
                <a:latin typeface="Consolas"/>
              </a:rPr>
              <a:t> LeaveOneOut, cross_val_predict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59C2D6"/>
                </a:solidFill>
                <a:latin typeface="Consolas"/>
              </a:rPr>
              <a:t>from</a:t>
            </a:r>
            <a:r>
              <a:rPr sz="1050">
                <a:solidFill>
                  <a:srgbClr val="E6EDF3"/>
                </a:solidFill>
                <a:latin typeface="Consolas"/>
              </a:rPr>
              <a:t> sklearn.metrics </a:t>
            </a:r>
            <a:r>
              <a:rPr sz="1050">
                <a:solidFill>
                  <a:srgbClr val="59C2D6"/>
                </a:solidFill>
                <a:latin typeface="Consolas"/>
              </a:rPr>
              <a:t>import</a:t>
            </a:r>
            <a:r>
              <a:rPr sz="1050">
                <a:solidFill>
                  <a:srgbClr val="E6EDF3"/>
                </a:solidFill>
                <a:latin typeface="Consolas"/>
              </a:rPr>
              <a:t> accuracy_score, silhouette_score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reps = {</a:t>
            </a:r>
            <a:r>
              <a:rPr sz="1050">
                <a:solidFill>
                  <a:srgbClr val="7EC699"/>
                </a:solidFill>
                <a:latin typeface="Consolas"/>
              </a:rPr>
              <a:t>'AAC'</a:t>
            </a:r>
            <a:r>
              <a:rPr sz="1050">
                <a:solidFill>
                  <a:srgbClr val="E6EDF3"/>
                </a:solidFill>
                <a:latin typeface="Consolas"/>
              </a:rPr>
              <a:t>: X_aac, </a:t>
            </a:r>
            <a:r>
              <a:rPr sz="1050">
                <a:solidFill>
                  <a:srgbClr val="7EC699"/>
                </a:solidFill>
                <a:latin typeface="Consolas"/>
              </a:rPr>
              <a:t>'물성'</a:t>
            </a:r>
            <a:r>
              <a:rPr sz="1050">
                <a:solidFill>
                  <a:srgbClr val="E6EDF3"/>
                </a:solidFill>
                <a:latin typeface="Consolas"/>
              </a:rPr>
              <a:t>: X_phys, </a:t>
            </a:r>
            <a:r>
              <a:rPr sz="1050">
                <a:solidFill>
                  <a:srgbClr val="7EC699"/>
                </a:solidFill>
                <a:latin typeface="Consolas"/>
              </a:rPr>
              <a:t>'ESM-2'</a:t>
            </a:r>
            <a:r>
              <a:rPr sz="1050">
                <a:solidFill>
                  <a:srgbClr val="E6EDF3"/>
                </a:solidFill>
                <a:latin typeface="Consolas"/>
              </a:rPr>
              <a:t>: X_esm}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59C2D6"/>
                </a:solidFill>
                <a:latin typeface="Consolas"/>
              </a:rPr>
              <a:t>for</a:t>
            </a:r>
            <a:r>
              <a:rPr sz="1050">
                <a:solidFill>
                  <a:srgbClr val="E6EDF3"/>
                </a:solidFill>
                <a:latin typeface="Consolas"/>
              </a:rPr>
              <a:t> name, X </a:t>
            </a:r>
            <a:r>
              <a:rPr sz="1050">
                <a:solidFill>
                  <a:srgbClr val="59C2D6"/>
                </a:solidFill>
                <a:latin typeface="Consolas"/>
              </a:rPr>
              <a:t>in</a:t>
            </a:r>
            <a:r>
              <a:rPr sz="1050">
                <a:solidFill>
                  <a:srgbClr val="E6EDF3"/>
                </a:solidFill>
                <a:latin typeface="Consolas"/>
              </a:rPr>
              <a:t> reps.items():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  Xs   = StandardScaler().fit_transform(X)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  pred = cross_val_predict(KNeighborsClassifier(</a:t>
            </a:r>
            <a:r>
              <a:rPr sz="1050">
                <a:solidFill>
                  <a:srgbClr val="7EC699"/>
                </a:solidFill>
                <a:latin typeface="Consolas"/>
              </a:rPr>
              <a:t>1</a:t>
            </a:r>
            <a:r>
              <a:rPr sz="1050">
                <a:solidFill>
                  <a:srgbClr val="E6EDF3"/>
                </a:solidFill>
                <a:latin typeface="Consolas"/>
              </a:rPr>
              <a:t>), Xs, y, cv=LeaveOneOut())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  acc  = accuracy_score(y, pred)      </a:t>
            </a:r>
            <a:r>
              <a:rPr sz="1050">
                <a:solidFill>
                  <a:srgbClr val="7EC699"/>
                </a:solidFill>
                <a:latin typeface="Consolas"/>
              </a:rPr>
              <a:t># family 분류 정확도</a:t>
            </a:r>
          </a:p>
          <a:p>
            <a:pPr>
              <a:spcAft>
                <a:spcPts val="150"/>
              </a:spcAft>
            </a:pPr>
            <a:r>
              <a:rPr sz="1050">
                <a:solidFill>
                  <a:srgbClr val="E6EDF3"/>
                </a:solidFill>
                <a:latin typeface="Consolas"/>
              </a:rPr>
              <a:t>    sil  = silhouette_score(Xs, y)      </a:t>
            </a:r>
            <a:r>
              <a:rPr sz="1050">
                <a:solidFill>
                  <a:srgbClr val="7EC699"/>
                </a:solidFill>
                <a:latin typeface="Consolas"/>
              </a:rPr>
              <a:t># 군집 분리도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56632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65776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LOO(각 단백질을 하나씩 빼고 1-NN으로 family 예측) + 실루엣(같은 family끼리 뭉치는 정도)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실습 노트북 §4; scikit-learn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49/56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실측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표현별 family 구분 성능 (실측치)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표현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78308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LOO 1-NN family 정확도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7830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실루엣(군집 분리도)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11247120" cy="69494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48840"/>
            <a:ext cx="36576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C242B"/>
                </a:solidFill>
                <a:latin typeface="Malgun Gothic"/>
              </a:rPr>
              <a:t>AAC (조성, 20d) — 2교시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48840"/>
            <a:ext cx="39319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A636B"/>
                </a:solidFill>
                <a:latin typeface="Malgun Gothic"/>
              </a:rPr>
              <a:t>0.70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48840"/>
            <a:ext cx="31089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A636B"/>
                </a:solidFill>
                <a:latin typeface="Malgun Gothic"/>
              </a:rPr>
              <a:t>0.13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98648"/>
            <a:ext cx="11247120" cy="6949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898648"/>
            <a:ext cx="36576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C242B"/>
                </a:solidFill>
                <a:latin typeface="Malgun Gothic"/>
              </a:rPr>
              <a:t>물성 (ProtParam, 7d) — 2교시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898648"/>
            <a:ext cx="39319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A636B"/>
                </a:solidFill>
                <a:latin typeface="Malgun Gothic"/>
              </a:rPr>
              <a:t>0.95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898648"/>
            <a:ext cx="31089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A636B"/>
                </a:solidFill>
                <a:latin typeface="Malgun Gothic"/>
              </a:rPr>
              <a:t>0.21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48456"/>
            <a:ext cx="11247120" cy="69494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48456"/>
            <a:ext cx="128016" cy="694944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648456"/>
            <a:ext cx="36576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C242B"/>
                </a:solidFill>
                <a:latin typeface="Malgun Gothic"/>
              </a:rPr>
              <a:t>ESM-2 (임베딩, 320d) — 3교시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648456"/>
            <a:ext cx="39319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A636B"/>
                </a:solidFill>
                <a:latin typeface="Malgun Gothic"/>
              </a:rPr>
              <a:t>1.00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648456"/>
            <a:ext cx="31089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A636B"/>
                </a:solidFill>
                <a:latin typeface="Malgun Gothic"/>
              </a:rPr>
              <a:t>0.50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5262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B2A4A"/>
                </a:solidFill>
                <a:latin typeface="Malgun Gothic"/>
              </a:rPr>
              <a:t>→ 학습된 표현(ESM-2)이 family를 가장 잘 구분: 정확도 1.00 · 실루엣 0.50 (수작업 표현보다 뚜렷이 높음)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이 수치는 노트북(esm2_t6_8M)의 실제 계산값 — 지어낸 값이 아님. 단, 20개 소규모 데모이므로 값은 모델·전처리·실행에 따라 달라질 수 있다(정식 결론 아님).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본 실습 노트북 실측(20개, 4 family); LOO 1-NN + silhouette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50/56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실측이 말해주는 것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정확도 순서: AAC(0.70) &lt; 물성(0.95) &lt; ESM-2(1.00)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순서·문맥을 담을수록 family 구분↑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실루엣 순서: 0.13 &lt; 0.21 &lt; 0.50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ESM-2 임베딩이 family끼리 가장 뚜렷이 뭉침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8444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83863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수작업 표현도 유용 — 물성 7차원만으로 0.95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해석 가능·저비용의 강한 baseline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531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5254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PLM이 항상 이기지는 않음(PART D) — 여기선 family 구분에 유리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교훈: '모델을 바꾸기 전에 표현을 먼저 의심하라.' 같은 20개 단백질·같은 분류기라도, 어떤 벡터로 바꾸느냐가 결과(0.70→1.00)를 가른다. 단, 소규모 데모 단서 유지.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본 실습 노트북 실측 해석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51/56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F · 생성 표현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생성모델이 만드는 표현 — 잠재공간(latent space)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판별(읽기) — 3교시까지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서열/구조 → 표현(임베딩) → 예측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ESM-2·구조그래프로 family·위치·물성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표현은 분석의 '입력'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생성(만들기) — RFdiffusion·ProteinMPNN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잠재공간에서 새 단백질을 샘플링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RFdiffusion: 구조를 노이즈→디노이즈(확산)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ProteinMPNN: 구조표현→서열(inverse folding)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핵심: 같은 '표현'이 판별의 입력이자 생성의 좌표계다. RFdiffusion은 구조의 확산 잠재과정을, ProteinMPNN은 구조 그래프 표현을 디코딩해 서열을 만든다. PLM 임베딩(3교시)이 판별·생성 양쪽의 공통 기반.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Watson et al., Nature 2023 (RFdiffusion); Dauparas et al., Science 2022 (ProteinMPNN)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52/56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F · 설계 루프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표현의 순환 — 설계와 검증 (오늘 실습 NB3)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RFdiffusion: 조건(모티프·대칭·결합타깃) → 백본 구조 생성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구조 표현을 '생성'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ProteinMPNN: 생성 백본 → 잔기별 서열 설계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구조 표현 → 서열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8444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83863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ESMFold / Boltz-2: 설계 서열 → 재접힘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서열 → 구조로 되돌림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531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5254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self-consistency: 재접힌 구조가 원 설계와 일치하나?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표현이 순환하며 스스로 검증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표현은 예측의 입력을 넘어 '설계의 언어'다: 구조↔서열↔임베딩을 오가며 새 단백질을 만들고 되돌려 확인한다. 생성 결과는 가설 — 합성·assay 실험 검증이 뒤따라야 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실습 NB3(RFdiffusion+ProteinMPNN); 검증 ESMFold(Lin 2023)·Boltz-2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53/56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7/24 전체 종합 — 1 → 2 → 3교시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194560"/>
            <a:ext cx="1371600" cy="658368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371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1교시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194560"/>
            <a:ext cx="8778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E9EDF1"/>
                </a:solidFill>
                <a:latin typeface="Malgun Gothic"/>
              </a:rPr>
              <a:t>구조생물학 기초 — 아미노산·1~4차 구조·폴딩(구조=기능)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063239"/>
            <a:ext cx="1371600" cy="658368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63239"/>
            <a:ext cx="1371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2교시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063239"/>
            <a:ext cx="8778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E9EDF1"/>
                </a:solidFill>
                <a:latin typeface="Malgun Gothic"/>
              </a:rPr>
              <a:t>수작업 표현 — one-hot·조성·물성(ProtParam)·PSSM·예측 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931920"/>
            <a:ext cx="1371600" cy="658368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31920"/>
            <a:ext cx="1371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3교시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931920"/>
            <a:ext cx="8778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E9EDF1"/>
                </a:solidFill>
                <a:latin typeface="Malgun Gothic"/>
              </a:rPr>
              <a:t>학습된 표현(PLM) &amp; 구조 기반 표현 → 비교·실습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5780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9CD8"/>
                </a:solidFill>
                <a:latin typeface="Malgun Gothic"/>
              </a:rPr>
              <a:t>구조 → 수작업 표현 → 학습·구조 표현. 단백질을 '어떻게 표현하는가'의 전 스펙트럼.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표현이 파이프라인의 맨 앞이자 성능의 상한 — 과제·데이터로 고르고 baseline과 비교, 예측은 실험으로.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54/56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3교시 — 핵심 정리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19072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00784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PLM(ESM·ProtT5)이 서열에서 표현을 '학습'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MLM 사전학습 → 구조·기능·contact 창발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33472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3347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15184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임베딩을 전이학습에 활용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per-residue/per-protein · frozen/fine-tune/LoRA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47872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4787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29584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구조 표현: contact·graph·surface·voxel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3D 배치가 본질인 과제에 유리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62272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6227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43984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AlphaFold/ESMFold가 구조를 대량 공급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단, pLDDT·앙상블·정밀결합 한계 정직하게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376672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7667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58384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실측: 표현이 결과를 가른다(0.70→1.00)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만능 없음 — 과제·데이터로 선택+baseline 비교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55/56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9CD8"/>
                </a:solidFill>
                <a:latin typeface="Malgun Gothic"/>
              </a:rPr>
              <a:t>3교시 · 학습된 표현 &amp; 구조 표현 — 표현이 downstream 성능을 좌우한다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10241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한 문장 요약 — '모델을 바꾸기 전에 표현을 먼저 의심하라.'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같은 단백질도 어떤 벡터로 바꾸느냐가 결과를 가른다(실습 실측: AAC 0.70 → ESM-2 1.00).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56/56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주요 출처 (3교시)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532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C242B"/>
                </a:solidFill>
                <a:latin typeface="Malgun Gothic"/>
              </a:rPr>
              <a:t>• PLM: Rives 2021 (ESM-1b, PNAS); Lin 2023 (ESM-2/ESMFold, Science); Elnaggar 2022 (ProtTrans/ProtT5, IEEE TPAMI); Rao 2021 (MSA Transformer, ICML).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5532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C242B"/>
                </a:solidFill>
                <a:latin typeface="Malgun Gothic"/>
              </a:rPr>
              <a:t>• PLM(계열): Elnaggar 2023 (Ankh); Nijkamp 2023 (ProGen2); ESM-C 2024 (기술공개, peer-review 전); Hayes 2025 (ESM-3, Science 387:850).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5532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C242B"/>
                </a:solidFill>
                <a:latin typeface="Malgun Gothic"/>
              </a:rPr>
              <a:t>• 사전학습 기반: Devlin 2019 (BERT); Rao 2019 (TAPE, NeurIPS).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26280"/>
            <a:ext cx="5532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C242B"/>
                </a:solidFill>
                <a:latin typeface="Malgun Gothic"/>
              </a:rPr>
              <a:t>• 구조 표현: Gainza 2020 (MaSIF, Nat Methods); Sverrisson 2021 (dMaSIF, CVPR); Jing 2021 (GVP, ICLR); Zhang 2023 (GearNet, ICLR).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5532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C242B"/>
                </a:solidFill>
                <a:latin typeface="Malgun Gothic"/>
              </a:rPr>
              <a:t>• contact/공진화: Morcos 2011 (DCA); Yang 2020 (trRosetta, PNAS); Rao 2021 (ESM contact).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5532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C242B"/>
                </a:solidFill>
                <a:latin typeface="Malgun Gothic"/>
              </a:rPr>
              <a:t>• 구조 예측: Jumper 2021 (AF2, Nature); Abramson 2024 (AF3, Nature 630:493); Lin 2023 (ESMFold); Mirdita 2022 (ColabFold, Nat Methods); Varadi 2024 (AlphaFold DB, NAR).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97480"/>
            <a:ext cx="5532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C242B"/>
                </a:solidFill>
                <a:latin typeface="Malgun Gothic"/>
              </a:rPr>
              <a:t>• 설계·접점: Watson 2023 (RFdiffusion, Nature); Dauparas 2022 (ProteinMPNN, Science).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611880"/>
            <a:ext cx="5532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C242B"/>
                </a:solidFill>
                <a:latin typeface="Malgun Gothic"/>
              </a:rPr>
              <a:t>• 벤치마크·한계: Xu 2022 (PEER, NeurIPS); Notin 2023 (ProteinGym, NeurIPS); Dallago 2021 (FLIP); Shanehsazzadeh 2020; Karelina 2023 (eLife); Wong 2022 (Mol Syst Biol).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526280"/>
            <a:ext cx="5532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C242B"/>
                </a:solidFill>
                <a:latin typeface="Malgun Gothic"/>
              </a:rPr>
              <a:t>• 실습 도구: Cock 2009 (Biopython, Bioinformatics); scikit-learn; UniProt. 실측치(0.70/0.95/1.00·실루엣 0.13/0.21/0.50)는 본 노트북 20개 데모 계산값.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