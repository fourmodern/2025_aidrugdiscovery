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tein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68680"/>
            <a:ext cx="3931920" cy="2144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840480"/>
            <a:ext cx="12191695" cy="2377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Malgun Gothic"/>
              </a:rPr>
              <a:t>2교시 · 수작업 표현 (hand-crafted representation)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서열에서 사람이 직접 feature 를 설계한다 — 물성 · 인코딩 · 진화정보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3교시 스토리 덱 중 2교시 · 재직자·전공자 · 한국어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1교시 → 2교시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'1교시의 물성 축'이 그대로 '표현 축'이 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A9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1교시에서 본 것 (토대)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아미노산 곁사슬 물성: 소수성·전하·크기·방향족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특수 잔기: Cys(이황화)·Pro(꺾임)·Gly(유연)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1~4차 구조 계층 — 물성이 접힘·기능을 만든다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2교시에서 하는 것 (표현)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같은 물성을 '서열에서 숫자로' 계산(pI·GRAVY·MW)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서열을 고정 벡터로 인코딩(one-hot·조성·k-mer)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진화정보(MSA·PSSM)로 보존·문맥까지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정제·발현에서 쓰던 물성 감각(소수성·전하·크기·흡광)이 그대로 계산 feature 설계 감각으로 이어진다. 1교시 물성/구조 기초는 여기서 재설명하지 않고 '입력'으로만 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1교시(아미노산·구조 토대) 연계; 본 강의 관통 프레임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이 교시에서 볼 것 — 수작업 표현의 전개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29200" cy="658368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A. 표현이란·왜 중요한가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54480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representation 정의·성능 상한·저분자 대비·3단계 계보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50008"/>
            <a:ext cx="5029200" cy="65836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0008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B. 물성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50008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ProtParam: MW·pI·GRAVY·instability·aromaticity (+실습)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45536"/>
            <a:ext cx="5029200" cy="658368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45536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C. 서열 인코딩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145536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one-hot·AAC·DPC·k-mer·PAAC·CTD·윈도우 프로파일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41063"/>
            <a:ext cx="5029200" cy="65836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41063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D. 진화정보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941063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PSSM·MSA 보존성 — 강하지만 조건부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36592"/>
            <a:ext cx="5029200" cy="658368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36592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E. 예측 툴(큰 그림)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736592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물성·용해도·응집·국재화·안정성·항체 + 정직한 한계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532120"/>
            <a:ext cx="5029200" cy="6583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532120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요약 · 3교시 예고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532120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수작업 계열 비교표 · '사람이 설계 vs 기계가 학습'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교시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단백질 표현이란·왜 중요한가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같은 단백질, 다른 벡터 → 다른 성능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'표현(representation)'이란 무엇인가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표현 = 단백질(서열·구조)을 기계가 다룰 수 있는 '숫자 벡터/행렬'로 바꾼 것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모델은 아미노산 글자가 아니라 벡터만 본다 → 표현이 곧 '입력 언어'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좋은 표현 = 과제에 필요한 정보(물성·보존·구조·기능)를 담고 불필요한 건 버린 것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표현 → 모델 → 예측: 파이프라인 맨 앞이자 성능의 상한을 결정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representation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단백질을 고정/가변 차원의 수치 벡터·행렬로 사상한 것 — feature·descriptor·embedding 과 혼용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표현학습 일반; 본 교시 정의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표현의 위치 — 서열에서 예측까지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66160" cy="822960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① 서열 (raw)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아미노산 글자열 — 기계가 직접 못 읽음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3566160" cy="82296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② 표현 (feature)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벡터/행렬로 변환 — 2교시의 주제(사람이 설계)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49039"/>
            <a:ext cx="3566160" cy="82296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③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49039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SVM·RF·회귀·신경망 — 벡터만 입력받음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09160"/>
            <a:ext cx="3566160" cy="82296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0916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④ 예측·해석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70916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용해도·안정성·기능·유사도 — downstream 출력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605332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607161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07161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②가 병목이자 상한 — ①은 고정, ③④는 ②가 담은 정보 안에서만 작동한다. 그래서 '어떤 모델'보다 '어떤 표현'을 먼저 고민한다.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표현 파이프라인 일반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왜 중요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표현이 성능의 상한을 정한다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표현이 나쁘면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필요한 신호가 벡터에 아예 없음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모델이 아무리 커도 못 배움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과적합·일반화 실패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해석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표현이 좋으면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적은 데이터로도 학습(전이)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단순 모델(SVM/RF)로도 높은 성능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도메인 외 일반화 여지↑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의미 있는 유사도·검색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프레임: '어떤 모델을 쓰느냐'보다 '단백질을 어떤 벡터로 바꾸느냐'가 downstream(용해도·안정성·기능) 성능을 더 크게 좌우하는 경우가 많다.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표현학습 일반 원리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정보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표현이 담아야 할 정보 — 무엇을 벡터에 넣나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66160" cy="82296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조성(composition)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각 아미노산이 얼마나 있나 — 물성·전하·소수성의 총량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3566160" cy="82296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국소 순서(local order)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이웃 잔기 패턴·모티프 — 기능 부위의 서열 신호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49039"/>
            <a:ext cx="3566160" cy="82296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진화 보존(conservation)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49039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계열에서 안 변하는 위치 = 기능적으로 중요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09160"/>
            <a:ext cx="3566160" cy="822960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0916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구조·문맥(3D·context)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70916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3D 배치·먼 잔기 간 관계 (2교시 밖 — 3교시 주제)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605332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607161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07161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수작업 표현은 이 중 조성·국소순서·진화보존을 사람이 '골라' 담는다. 구조·문맥은 담기 어려워 학습된 표현·구조 표현(3교시)으로 넘어간다.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표현 정보 계층 종합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저분자 표현 vs 단백질 표현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저분자(small molecule)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SMILES 문자열·분자 그래프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원자=노드, 결합=엣지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Morgan/ECFP 지문(고정 비트)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수십~수백 원자 규모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RDKit 로 즉시 descriptor 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단백질(protein)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20종 아미노산 서열(길이 수백~수천)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1~4차 구조·거대 분자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서열↔구조↔기능 관계 복잡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가변 길이 → 고정 벡터화가 과제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공통점은 '분자를 벡터로'지만 규모·계층성이 다르다 — 단백질은 길이가 가변이고 3D 접힘·상호작용이 기능을 만들어, 조성·서열·구조를 아우르는 다층 표현이 필요하다.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Rogers &amp; Hahn 2010 (ECFP, JCIM); 표현 비교 종합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단백질 표현의 3단계 진화 — 이 교시의 위치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206240" cy="896112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023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① 수작업 특성공학 (2000s~)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737360"/>
            <a:ext cx="6355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1C242B"/>
                </a:solidFill>
                <a:latin typeface="Malgun Gothic"/>
              </a:rPr>
              <a:t>one-hot·AAC·PAAC·CTD·물성(AAindex/ProtParam) — 사람이 feature 설계 + SVM/RF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79776"/>
            <a:ext cx="4206240" cy="896112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79776"/>
            <a:ext cx="4023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② 진화정보 (~2019)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779776"/>
            <a:ext cx="6355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1C242B"/>
                </a:solidFill>
                <a:latin typeface="Malgun Gothic"/>
              </a:rPr>
              <a:t>PSSM·MSA·공진화 — 동족체 많으면 강력, 그러나 MSA 검색 느림·고아 취약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22191"/>
            <a:ext cx="4206240" cy="896112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1"/>
            <a:ext cx="4023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③ 학습된 표현 PLM (2021~)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822191"/>
            <a:ext cx="6355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1C242B"/>
                </a:solidFill>
                <a:latin typeface="Malgun Gothic"/>
              </a:rPr>
              <a:t>ESM·ProtT5 임베딩이 '새 표준 feature' — 대규모 사전학습(3교시)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64608"/>
            <a:ext cx="4206240" cy="896112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64608"/>
            <a:ext cx="4023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③+ 구조+PLM 융합 (2023~)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864608"/>
            <a:ext cx="6355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80" b="0" i="0">
                <a:solidFill>
                  <a:srgbClr val="1C242B"/>
                </a:solidFill>
                <a:latin typeface="Malgun Gothic"/>
              </a:rPr>
              <a:t>구조 인식 PLM·GNN·AlphaFold 소스 — 서열 임베딩에 3D 결합(3교시)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6053328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6071616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071616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2교시는 ①·② (파란·청록) — 사람이 직접 설계하는 수작업 표현. ③·③+ (회색)의 학습된·구조 표현은 3교시 전담. '특성공학이 사라진' 게 아니라 새 표준으로 편입됐을 뿐.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Rives 2021; Lin 2023; 표현 리뷰 종합(Zhang C et al. 2025, Biology 14:1137)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좋은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'좋은 수작업 표현'의 조건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과제 관련성: 예측할 특성(용해도·안정성 등)과 연결된 정보를 담을 것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고정 차원: 가변 길이 서열을 전통 ML 이 받는 고정 벡터로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해석 가능성: 각 feature 가 물리·화학적으로 무슨 뜻인지 말할 수 있을 것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저비용·재현성: 계산이 빠르고 결과가 결정론적(같은 입력=같은 벡터)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수작업 표현의 최대 강점이 바로 이 '해석 가능성 + 저비용 + 소규모 데이터 적합'. 담을 수 있는 정보에 상한이 있다는 게 약점 — 그 상한을 넘으려는 게 3교시.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수작업 표현 설계 원칙 종합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수작업 표현 = '특성공학(feature engineering)'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특성공학(2교시)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도메인 지식으로 feature 를 사람이 '설계'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물성·조성·순서·보존을 골라 담음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무엇을 담을지 사람이 결정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투명하지만 정보 상한 존재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A9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표현학습(3교시 예고)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데이터로 표현을 '학습'(자동)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PLM 이 문맥적 임베딩 생성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무엇을 담을지 모델이 결정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강력하지만 블랙박스·데이터 의존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2교시 전체가 '특성공학' 이야기다 — 서열에서 사람이 직접 feature 를 설계하는 기술. 3교시의 표현학습과 대비되는 축을 지금 확실히 잡아두자.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특성공학 vs 표현학습 프레임; 3교시 연계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물성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생화학 물성을 '서열에서 숫자로' — ProtParam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원재료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아미노산 물성 척도 — AAindex</a:t>
            </a:r>
          </a:p>
        </p:txBody>
      </p:sp>
      <p:pic>
        <p:nvPicPr>
          <p:cNvPr id="6" name="Picture 5" descr="seq_aaindex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72000" cy="255181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각 아미노산에 물성 값을 부여한 지수 모음(수백 종)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소수성·부피·전하·유연성·2차구조 선호 등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서열 → 잔기별 물성 벡터 → feature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1교시 곁사슬 물성의 '정량판'(재설명 없이 참조만)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2472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AAindex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2472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아미노산 물성 지수 데이터베이스(Kawashima &amp; Kanehisa) — 서열 기반 물성 feature 의 원재료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Kawashima &amp; Kanehisa, NAR 2000 (AAindex); Kyte &amp; Doolittle 1982 (GRAVY)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물성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세 물성 축 → 실험·표현의 공통 언어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물성 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척도 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0876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실험·표현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소수성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Kyte-Doolittle·GRAVY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19"/>
            <a:ext cx="374903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용해도·막·HIC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5973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59736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전하·pI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59736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곁사슬 pKa·순전하·등전점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59736"/>
            <a:ext cx="374903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IEX 완충 pH·정전기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44952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44952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크기·부피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44952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잔기 부피·분자량(MW)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044952"/>
            <a:ext cx="374903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패킹·SEC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30168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30168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방향족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30168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Trp/Tyr/Phe 함량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630168"/>
            <a:ext cx="374903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A280 흡광·스택킹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1교시 물성 축(소수성·전하·크기·흡광)이 그대로 계산 feature 가 된다 — '실험의 축'과 '표현의 축'이 같다는 것이 이 강의의 뼈대.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AAindex; 1교시 물성 연계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계산 물성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서열에서 바로 계산되는 물성 (ProtParam)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물성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용도 · 표현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2880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분자량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SDS-PAGE 예상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40864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theoretical 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40864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등전점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40864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IEX 완충 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52928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852928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extinction coef.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852928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280nm 흡광계수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52928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A280 정량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64992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364992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GRAVY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364992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평균 소수성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64992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용해도·막 가늠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77056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77056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instability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877056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불안정성 지수(&gt;40 불안정)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877056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안정성 플래그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8912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38912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aromaticity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38912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방향족 잔기 비율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3891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흡광·스택킹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70448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5888736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ProtParam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888736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ExPASy 의 서열→물성 계산기(MW·pI·흡광·GRAVY·instability·aromaticity) — 실험/표현 공통 1번 도구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ExPASy ProtParam (Gasteiger et al. 2005)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ProtParam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ProtParam — 물성을 '규칙'으로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조성 집계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서열에서 각 아미노산·원자 개수 카운트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MW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잔기 질량 합 − (n−1)×물 질량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pI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이온화기 pKa 로 순전하=0 되는 pH 를 이분탐색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ε280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nTrp·nTyr·nCys 기여 합(Gill &amp; von Hippel)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GRAVY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Kyte-Doolittle hydropathy 평균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instability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DIWV 이펩타이드 가중합 · aromaticity=방향족 비율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학습 없는 순수 규칙 계산 → 즉시·투명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물리·경험 상수(pKa·ε 기여) 사용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결과가 곧 ML feature 이자 실험 수치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Trp 없으면 ε 부정확·Cys 산화상태 영향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instability·GRAVY 는 휴리스틱(단정 금지)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Gasteiger et al. 2005; Gill &amp; von Hippel 1989 (ε); Guruprasad 1990 (instability)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BioPython 으로 물성 표현 계산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830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서열 → pI·GRAVY·MW·흡광계수·불안정성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85416"/>
            <a:ext cx="10607040" cy="281635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0241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from</a:t>
            </a:r>
            <a:r>
              <a:rPr sz="1100">
                <a:solidFill>
                  <a:srgbClr val="E6EDF3"/>
                </a:solidFill>
                <a:latin typeface="Consolas"/>
              </a:rPr>
              <a:t> Bio.SeqUtils.ProtParam </a:t>
            </a:r>
            <a:r>
              <a:rPr sz="1100">
                <a:solidFill>
                  <a:srgbClr val="59C2D6"/>
                </a:solidFill>
                <a:latin typeface="Consolas"/>
              </a:rPr>
              <a:t>import</a:t>
            </a:r>
            <a:r>
              <a:rPr sz="1100">
                <a:solidFill>
                  <a:srgbClr val="E6EDF3"/>
                </a:solidFill>
                <a:latin typeface="Consolas"/>
              </a:rPr>
              <a:t> ProteinAnalysis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seq = </a:t>
            </a:r>
            <a:r>
              <a:rPr sz="1100">
                <a:solidFill>
                  <a:srgbClr val="7EC699"/>
                </a:solidFill>
                <a:latin typeface="Consolas"/>
              </a:rPr>
              <a:t>'MKTAYIAKQRQISFVKSHFSRQLEERLGLIEVQ'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pa = ProteinAnalysis(seq)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pa.molecular_weight()          </a:t>
            </a:r>
            <a:r>
              <a:rPr sz="1100">
                <a:solidFill>
                  <a:srgbClr val="7EC699"/>
                </a:solidFill>
                <a:latin typeface="Consolas"/>
              </a:rPr>
              <a:t># MW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pa.isoelectric_point()         </a:t>
            </a:r>
            <a:r>
              <a:rPr sz="1100">
                <a:solidFill>
                  <a:srgbClr val="7EC699"/>
                </a:solidFill>
                <a:latin typeface="Consolas"/>
              </a:rPr>
              <a:t># 이론 pI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pa.gravy()                     </a:t>
            </a:r>
            <a:r>
              <a:rPr sz="1100">
                <a:solidFill>
                  <a:srgbClr val="7EC699"/>
                </a:solidFill>
                <a:latin typeface="Consolas"/>
              </a:rPr>
              <a:t># 평균 소수성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pa.aromaticity()               </a:t>
            </a:r>
            <a:r>
              <a:rPr sz="1100">
                <a:solidFill>
                  <a:srgbClr val="7EC699"/>
                </a:solidFill>
                <a:latin typeface="Consolas"/>
              </a:rPr>
              <a:t># 방향족 비율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pa.instability_index()         </a:t>
            </a:r>
            <a:r>
              <a:rPr sz="1100">
                <a:solidFill>
                  <a:srgbClr val="7EC699"/>
                </a:solidFill>
                <a:latin typeface="Consolas"/>
              </a:rPr>
              <a:t># &gt;40 이면 '불안정' 플래그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5663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6577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이 소수의 물성 값이 곧 해석 가능한 저차원 feature — 소규모 데이터·설명 필요 과제에 강함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물성 벡터는 저차원·해석적이지만 서열의 국소 모티프·문맥은 못 담는다 → 복잡 과제엔 조성·k-mer 와 결합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Biopython ProtParam; ExPASy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실습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여러 서열 → 물성 feature 행렬 (numpy)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830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서열 리스트 → (N × 5) 물성 feature 행렬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85416"/>
            <a:ext cx="10607040" cy="281635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0241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import</a:t>
            </a:r>
            <a:r>
              <a:rPr sz="1100">
                <a:solidFill>
                  <a:srgbClr val="E6EDF3"/>
                </a:solidFill>
                <a:latin typeface="Consolas"/>
              </a:rPr>
              <a:t> numpy </a:t>
            </a:r>
            <a:r>
              <a:rPr sz="1100">
                <a:solidFill>
                  <a:srgbClr val="59C2D6"/>
                </a:solidFill>
                <a:latin typeface="Consolas"/>
              </a:rPr>
              <a:t>as</a:t>
            </a:r>
            <a:r>
              <a:rPr sz="1100">
                <a:solidFill>
                  <a:srgbClr val="E6EDF3"/>
                </a:solidFill>
                <a:latin typeface="Consolas"/>
              </a:rPr>
              <a:t> np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from</a:t>
            </a:r>
            <a:r>
              <a:rPr sz="1100">
                <a:solidFill>
                  <a:srgbClr val="E6EDF3"/>
                </a:solidFill>
                <a:latin typeface="Consolas"/>
              </a:rPr>
              <a:t> Bio.SeqUtils.ProtParam </a:t>
            </a:r>
            <a:r>
              <a:rPr sz="1100">
                <a:solidFill>
                  <a:srgbClr val="59C2D6"/>
                </a:solidFill>
                <a:latin typeface="Consolas"/>
              </a:rPr>
              <a:t>import</a:t>
            </a:r>
            <a:r>
              <a:rPr sz="1100">
                <a:solidFill>
                  <a:srgbClr val="E6EDF3"/>
                </a:solidFill>
                <a:latin typeface="Consolas"/>
              </a:rPr>
              <a:t> ProteinAnalysis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def</a:t>
            </a:r>
            <a:r>
              <a:rPr sz="1100">
                <a:solidFill>
                  <a:srgbClr val="E6EDF3"/>
                </a:solidFill>
                <a:latin typeface="Consolas"/>
              </a:rPr>
              <a:t> feats(seq):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pa = ProteinAnalysis(seq)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    return</a:t>
            </a:r>
            <a:r>
              <a:rPr sz="1100">
                <a:solidFill>
                  <a:srgbClr val="E6EDF3"/>
                </a:solidFill>
                <a:latin typeface="Consolas"/>
              </a:rPr>
              <a:t> [pa.molecular_weight(), pa.isoelectric_point(),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        pa.gravy(), pa.aromaticity(), pa.instability_index()]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X = np.array([feats(s) </a:t>
            </a:r>
            <a:r>
              <a:rPr sz="1100">
                <a:solidFill>
                  <a:srgbClr val="59C2D6"/>
                </a:solidFill>
                <a:latin typeface="Consolas"/>
              </a:rPr>
              <a:t>for</a:t>
            </a:r>
            <a:r>
              <a:rPr sz="1100">
                <a:solidFill>
                  <a:srgbClr val="E6EDF3"/>
                </a:solidFill>
                <a:latin typeface="Consolas"/>
              </a:rPr>
              <a:t> s </a:t>
            </a:r>
            <a:r>
              <a:rPr sz="1100">
                <a:solidFill>
                  <a:srgbClr val="59C2D6"/>
                </a:solidFill>
                <a:latin typeface="Consolas"/>
              </a:rPr>
              <a:t>in</a:t>
            </a:r>
            <a:r>
              <a:rPr sz="1100">
                <a:solidFill>
                  <a:srgbClr val="E6EDF3"/>
                </a:solidFill>
                <a:latin typeface="Consolas"/>
              </a:rPr>
              <a:t> seqs])  </a:t>
            </a:r>
            <a:r>
              <a:rPr sz="1100">
                <a:solidFill>
                  <a:srgbClr val="7EC699"/>
                </a:solidFill>
                <a:latin typeface="Consolas"/>
              </a:rPr>
              <a:t># (N, 5)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7EC699"/>
                </a:solidFill>
                <a:latin typeface="Consolas"/>
              </a:rPr>
              <a:t># X 를 그대로 sklearn 분류/회귀 모델 입력으로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5663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6577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각 서열이 5차원 물성 벡터 → 고정 크기 (N×5) 행렬 → SVM/RF 등 전통 ML 에 바로 투입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물성 스케일이 제각각(MW 수만 vs GRAVY 소수점) → StandardScaler 등 정규화 후 모델에 넣어야 편향 방지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Biopython ProtParam; scikit-learn 전처리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응용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계산 물성 → 실험 결정 (예)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pI → IEX 완충 pH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예측 pI 6.2 인 단백질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pH 5.2(pI−1)→양전하→CEX 결합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pH 7.2(pI+1)→음전하→AEX 결합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pI 근처 pH·저염은 침전 주의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흡광계수 → A280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ε(280) 계산(Trp·Tyr·Cys)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A280 측정 → c = A/(ε·l)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염료 assay 없이 농도 정량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Trp 없으면 신뢰도↓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'한 서열'에서 정제 완충 조건과 정량법이 바로 나온다 — 실험 시작 전 5분 계산이 며칠을 아낀다. 이 값들이 동시에 ML feature 이기도 하다.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ExPASy ProtParam; Beer-Lambert 법칙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물성 feature — 요약과 한계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장점: 저차원·해석적·계산 즉시·소규모 데이터에 강함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각 feature 가 물리화학적 의미를 가져 '왜'를 설명 가능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한계: 서열의 순서·국소 모티프·문맥 정보를 담지 못함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보완: 조성·k-mer(순서)·진화정보(보존)와 결합해 정보량 확장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instability index&gt;40='불안정', GRAVY 부호 등은 휴리스틱 — 단일 수치로 단정 말고 플래그·근거로만 사용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ProtParam caveat; 물성 feature 종합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서열 인코딩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서열을 고정 벡터로 — one-hot·조성·k-mer·서술자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one-hot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one-hot 인코딩 — 가장 단순한 표현</a:t>
            </a:r>
          </a:p>
        </p:txBody>
      </p:sp>
      <p:pic>
        <p:nvPicPr>
          <p:cNvPr id="6" name="Picture 5" descr="seq_oneho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72000" cy="255181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각 잔기를 20(±unknown/gap)차원 0/1 벡터로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서열 길이 L → L×20 행렬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단순·투명, 정보 손실 없음(원본 보존)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작은 데이터·baseline 에 유용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one-hot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범주(아미노산 20종)를 서로 직교하는 0/1 벡터로 인코딩 — 유사도 정보를 담지 못함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Rao et al. 2019 (TAPE, NeurIPS)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one-hot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one-hot · 조성(AAC) 인코딩 (numpy)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830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서열 → one-hot(L×20) · 조성(20차원)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85416"/>
            <a:ext cx="10607040" cy="281635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0241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import</a:t>
            </a:r>
            <a:r>
              <a:rPr sz="1100">
                <a:solidFill>
                  <a:srgbClr val="E6EDF3"/>
                </a:solidFill>
                <a:latin typeface="Consolas"/>
              </a:rPr>
              <a:t> numpy </a:t>
            </a:r>
            <a:r>
              <a:rPr sz="1100">
                <a:solidFill>
                  <a:srgbClr val="59C2D6"/>
                </a:solidFill>
                <a:latin typeface="Consolas"/>
              </a:rPr>
              <a:t>as</a:t>
            </a:r>
            <a:r>
              <a:rPr sz="1100">
                <a:solidFill>
                  <a:srgbClr val="E6EDF3"/>
                </a:solidFill>
                <a:latin typeface="Consolas"/>
              </a:rPr>
              <a:t> np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AA = </a:t>
            </a:r>
            <a:r>
              <a:rPr sz="1100">
                <a:solidFill>
                  <a:srgbClr val="7EC699"/>
                </a:solidFill>
                <a:latin typeface="Consolas"/>
              </a:rPr>
              <a:t>'ACDEFGHIKLMNPQRSTVWY'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idx = {a:i </a:t>
            </a:r>
            <a:r>
              <a:rPr sz="1100">
                <a:solidFill>
                  <a:srgbClr val="59C2D6"/>
                </a:solidFill>
                <a:latin typeface="Consolas"/>
              </a:rPr>
              <a:t>for</a:t>
            </a:r>
            <a:r>
              <a:rPr sz="1100">
                <a:solidFill>
                  <a:srgbClr val="E6EDF3"/>
                </a:solidFill>
                <a:latin typeface="Consolas"/>
              </a:rPr>
              <a:t> i,a </a:t>
            </a:r>
            <a:r>
              <a:rPr sz="1100">
                <a:solidFill>
                  <a:srgbClr val="59C2D6"/>
                </a:solidFill>
                <a:latin typeface="Consolas"/>
              </a:rPr>
              <a:t>in</a:t>
            </a:r>
            <a:r>
              <a:rPr sz="1100">
                <a:solidFill>
                  <a:srgbClr val="E6EDF3"/>
                </a:solidFill>
                <a:latin typeface="Consolas"/>
              </a:rPr>
              <a:t> enumerate(AA)}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def</a:t>
            </a:r>
            <a:r>
              <a:rPr sz="1100">
                <a:solidFill>
                  <a:srgbClr val="E6EDF3"/>
                </a:solidFill>
                <a:latin typeface="Consolas"/>
              </a:rPr>
              <a:t> onehot(seq):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    M = np.zeros((len(seq), </a:t>
            </a:r>
            <a:r>
              <a:rPr sz="1100">
                <a:solidFill>
                  <a:srgbClr val="7EC699"/>
                </a:solidFill>
                <a:latin typeface="Consolas"/>
              </a:rPr>
              <a:t>20</a:t>
            </a:r>
            <a:r>
              <a:rPr sz="1100">
                <a:solidFill>
                  <a:srgbClr val="E6EDF3"/>
                </a:solidFill>
                <a:latin typeface="Consolas"/>
              </a:rPr>
              <a:t>))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    for</a:t>
            </a:r>
            <a:r>
              <a:rPr sz="1100">
                <a:solidFill>
                  <a:srgbClr val="E6EDF3"/>
                </a:solidFill>
                <a:latin typeface="Consolas"/>
              </a:rPr>
              <a:t> i,a </a:t>
            </a:r>
            <a:r>
              <a:rPr sz="1100">
                <a:solidFill>
                  <a:srgbClr val="59C2D6"/>
                </a:solidFill>
                <a:latin typeface="Consolas"/>
              </a:rPr>
              <a:t>in</a:t>
            </a:r>
            <a:r>
              <a:rPr sz="1100">
                <a:solidFill>
                  <a:srgbClr val="E6EDF3"/>
                </a:solidFill>
                <a:latin typeface="Consolas"/>
              </a:rPr>
              <a:t> enumerate(seq): M[i, idx[a]] = </a:t>
            </a:r>
            <a:r>
              <a:rPr sz="1100">
                <a:solidFill>
                  <a:srgbClr val="7EC699"/>
                </a:solidFill>
                <a:latin typeface="Consolas"/>
              </a:rPr>
              <a:t>1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59C2D6"/>
                </a:solidFill>
                <a:latin typeface="Consolas"/>
              </a:rPr>
              <a:t>    return</a:t>
            </a:r>
            <a:r>
              <a:rPr sz="1100">
                <a:solidFill>
                  <a:srgbClr val="E6EDF3"/>
                </a:solidFill>
                <a:latin typeface="Consolas"/>
              </a:rPr>
              <a:t> M</a:t>
            </a:r>
          </a:p>
          <a:p>
            <a:pPr>
              <a:spcAft>
                <a:spcPts val="150"/>
              </a:spcAft>
            </a:pPr>
            <a:r>
              <a:rPr sz="1100">
                <a:solidFill>
                  <a:srgbClr val="E6EDF3"/>
                </a:solidFill>
                <a:latin typeface="Consolas"/>
              </a:rPr>
              <a:t>aac = onehot(seq).mean(</a:t>
            </a:r>
            <a:r>
              <a:rPr sz="1100">
                <a:solidFill>
                  <a:srgbClr val="7EC699"/>
                </a:solidFill>
                <a:latin typeface="Consolas"/>
              </a:rPr>
              <a:t>0</a:t>
            </a:r>
            <a:r>
              <a:rPr sz="1100">
                <a:solidFill>
                  <a:srgbClr val="E6EDF3"/>
                </a:solidFill>
                <a:latin typeface="Consolas"/>
              </a:rPr>
              <a:t>)     </a:t>
            </a:r>
            <a:r>
              <a:rPr sz="1100">
                <a:solidFill>
                  <a:srgbClr val="7EC699"/>
                </a:solidFill>
                <a:latin typeface="Consolas"/>
              </a:rPr>
              <a:t># 아미노산 조성(20차원, 길이 무관)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5663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6577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one-hot=L×20 행렬(가변 길이), 평균 풀링=조성(고정 20차원) — 전통 ML(SVM/RF)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조성(AAC)은 순서 정보를 완전히 버린다 — 같은 조성·다른 서열을 구분 못 함. 순서가 중요하면 k-mer/PSSM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표준 인코딩; Rao et al. 2019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조성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아미노산 조성(AAC) · 서술자 계열</a:t>
            </a:r>
          </a:p>
        </p:txBody>
      </p:sp>
      <p:pic>
        <p:nvPicPr>
          <p:cNvPr id="6" name="Picture 5" descr="seq_composition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83080"/>
            <a:ext cx="4480560" cy="250077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AAC: 아미노산 빈도(20차원, 길이 무관)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DPC: 이웃 2잔기 빈도(dipeptide, 400차원)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PAAC: 조성 + 서열순서 상관항(Chou 2001)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CTD: 물성그룹 조성·전이·분포(Dubchak 1995)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AAC/PAAC/CTD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길이 무관 고정벡터 서열 서술자 — 전통 ML(SVM/RF) 입력의 표준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Chou 2001 (PAAC, Proteins); Dubchak et al. 1995 (CTD, PNAS)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서술자 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조성·k-mer 계열 서술자 — 차원과 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서술자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087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차원(대략)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74519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아미노산 빈도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DPC / dipeptide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이웃 2잔기 빈도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41448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400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k-mer (k=3)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008376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연속 3잔기 빈도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08376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8,000(희소)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PAAC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75303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조성 + 서열순서 상관항(Chou)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75303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20+λ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42231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142231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물성그룹 조성·전이·분포(Dubchak)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1"/>
            <a:ext cx="3383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~100+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AAC→DPC→k-mer 로 갈수록 국소 순서·모티프를 담지만 차원이 급증하고 희소해진다. PAAC·CTD 는 물성/순서를 압축한 절충안 — 모두 '길이 무관 고정 벡터'라 전통 ML 에 바로 투입.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Chou 2001 (PAAC); Dubchak et al. 1995 (CTD)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PAAC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PAAC — 조성에 '서열 순서'를 되살린다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문제: AAC 는 순서를 완전히 버려 같은 조성·다른 서열을 구분 못 함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700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6946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해법(Chou): 조성 20차원 + 물성 기반 서열순서 상관항 λ개 추가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930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924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상관항 = 일정 간격 잔기쌍의 물성(소수성·친수성·질량) 유사도 평균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159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153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결과: 20+λ 고정 벡터 — 순서 정보를 '압축'해 담음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PAAC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pseudo amino acid composition — 조성에 서열순서 상관항을 더한 고정 서술자(가중치 w·λ 하이퍼파라미터)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Chou 2001 (PAAC, Proteins 43:246)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CTD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CTD — 물성 그룹으로 서열을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657600" cy="86868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474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Composition 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874519"/>
            <a:ext cx="6858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각 물성 그룹(예: 소수성/중성/친수성) 잔기의 전체 비율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79"/>
            <a:ext cx="3657600" cy="86868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26079"/>
            <a:ext cx="3474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Transition (T)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26079"/>
            <a:ext cx="6858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이웃한 두 잔기가 서로 다른 그룹으로 바뀌는 빈도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3657600" cy="8686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7639"/>
            <a:ext cx="3474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Distribution (D)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977639"/>
            <a:ext cx="6858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각 그룹이 서열의 앞·중간·끝 어디에 분포하는지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CTD 는 아미노산을 소수성·전하·극성·2차구조 선호 등 물성 그룹으로 묶어(예: 3그룹) 조성·전이·분포를 계산 — 물성 정보를 순서까지 함께 압축한 ~100차원대 서술자.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Dubchak et al. 1995 (CTD, PNAS 92:8700)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DPC·k-mer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DPC · k-mer — 국소 순서를 담되 차원이 폭증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어떻게 담나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DPC: 이웃 2잔기 쌍 빈도(20×20=400)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k-mer: 연속 k잔기 빈도(20^k)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k=3 → 8,000차원(대부분 0 = 희소)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모티프·국소 순서 신호를 포착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트레이드오프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차원↑ → 과적합·계산 비용↑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희소 → 대부분 관측 안 됨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gap 서술자(CKSAAP)로 완화 시도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실무: 차원 축소·정규화 병행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AAC(20) → DPC(400) → k-mer(20^k) 로 갈수록 '순서 해상도'는 올라가지만 차원·희소성이 급증한다. 데이터가 적을수록 저차원(AAC·물성)이 오히려 안전.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표준 서열 서술자; Rao et al. 2019 (TAPE)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프로파일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물성 프로파일 · 윈도우 feature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AAindex 물성을 서열 따라 나열 → 잔기별 물성 프로파일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88336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이동창(sliding window) 평균 → 국소 환경 표현(hydropathy plot 등)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850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84448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잔기 주변 문맥을 압축 — 막·2차구조 고전 예측기의 입력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0559"/>
            <a:ext cx="10698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윈도우 크기가 하이퍼파라미터(작으면 국소, 크면 전역)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one-hot·조성·물성 프로파일은 모두 '사람이 설계한' 수작업 feature — 소규모·해석에는 여전히 유효. 잔기 단위 예측엔 프로파일, 전역 분류엔 조성이 유리.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Kyte &amp; Doolittle 1982 (hydropathy); AAindex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고정 vs 가변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인코딩의 공통 숙제 — 가변 길이를 고정 벡터로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per-residue (L×d, 가변)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one-hot(L×20)·물성 프로파일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잔기 단위 과제(2차구조·contact)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패딩/트렁케이션 필요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전통 ML 엔 그대로 못 넣음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per-protein (d, 고정)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조성·DPC·PAAC·CTD·물성 스칼라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전역 분류·회귀(국재화·용해도)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길이 무관 → SVM/RF 바로 투입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풀링(평균)으로 순서 손실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과제의 granularity 에 표현을 맞춘다: 잔기 단위면 per-residue, 단백질 단위면 per-protein. 수작업 표현은 대개 풀링으로 고정 벡터를 만들며, 이때 순서 정보 손실이 트레이드오프.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표현 형태 종합; Rao et al. 2019 (TAPE)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선택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서열 인코딩 — 무엇을 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463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권장 인코딩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이유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데이터 매우 적음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물성·AAC(저차원)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과적합 방지·해석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59152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59152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순서·모티프 중요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59152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DPC·k-mer·PAAC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59152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국소 순서 신호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89504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889504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물성+순서 절충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89504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PAAC·CTD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89504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압축된 고정 벡터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19856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19856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동족체 많음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419856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PSSM(PART 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19856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진화 보존·공변이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50208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950208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잔기 단위 과제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50208"/>
            <a:ext cx="3657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one-hot·물성 프로파일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50208"/>
            <a:ext cx="3383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위치별 정보 유지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시작점: 강한 baseline(AAC+물성)부터 돌려보고, 필요하면 순서(k-mer/PAAC)·진화(PSSM)를 더한다. 처음부터 고차원 인코딩은 소규모 데이터에서 오히려 손해.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서열 인코딩 선택 실무 종합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서열 인코딩 — 한눈에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인코딩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형태·차원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5087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담는 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5087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놓치는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one-hot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7451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L×20(가변)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74519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원본 보존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874519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유사성·길이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23160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AAC/조성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2316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20(고정)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23160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전체 물성 총량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23160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순서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971800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DPC/k-mer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97180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400~수천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971800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국소 모티프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971800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고차원·희소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20439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PAAC/CTD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52043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~20+λ / ~100+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520439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조성+순서 압축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520439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장거리 문맥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69079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물성 프로파일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06907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 또는 윈도우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069079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국소 물성 환경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069079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전역 구조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공통점: 사람이 '무엇을 담을지' 설계 → 투명하고 소규모에 강함. 조성·k-mer 는 순서·모티프를, PAAC·CTD 는 둘의 절충을 노린다. 진화 보존은 다음 PART D 가 담당.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Rao et al. 2019 (TAPE); 서열 인코딩 종합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진화정보 (evolutionary)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MSA·PSSM — 진화가 남긴 보존·공변이 신호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PSSM · MSA — 진화가 남긴 신호</a:t>
            </a:r>
          </a:p>
        </p:txBody>
      </p:sp>
      <p:pic>
        <p:nvPicPr>
          <p:cNvPr id="6" name="Picture 5" descr="seq_pssm_msa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83080"/>
            <a:ext cx="4754880" cy="265388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상동체 정렬(MSA) → 컬럼별 보존·공진화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PSSM: 위치별 20아미노산 log-odds 행렬(L×20)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보존=기능 중요, 공변이=3D 접촉 신호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단일서열보다 풍부한 문맥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PSSM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position-specific scoring matrix — 계열에서 관찰된 위치별 치환 선호(PSI-BLAST/HHblits)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Altschul et al. 1997 (PSI-BLAST); Remmert et al. 2012 (HHblits, Nat Methods)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PSSM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MSA · PSSM · 공변이 — 진화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상동체 검색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PSI-BLAST/HHblits 로 쿼리와 유사 서열 수집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MSA 구성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수집 서열 다중정렬(컬럼=상동 위치)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위치별 빈도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컬럼 아미노산 관측빈도 f(i,a) + pseudocount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log-odds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배경빈도 대비 log(f/p) → PSSM 행렬(L×20)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반복 검색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PSSM 으로 재검색해 원거리 상동체 추가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공변이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컬럼 쌍 상관(DCA)→contact 신호(구조예측 입력)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단일서열 대비 '진화적 보존·공변이' 포착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반복 검색으로 원거리 상동체까지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보존도가 곧 기능 중요도 힌트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동족체 적으면 얕은 MSA→약함(고아)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검색 비용·시간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정렬 품질에 민감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Altschul et al. 1997 (PSI-BLAST); Jones 1999 (PSIPRED); Morcos et al. 2011 (DCA)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공변이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공변이 → 접촉 신호 (3교시 브리지)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함께 변하는 잔기쌍(공진화)은 3D 에서 가까울 가능성이 높다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컬럼 쌍 상관을 직접 커플링(DCA/Potts)으로 정제 → 간접 상관 제거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출력 = L×L 접촉 신호 → 구조 예측·구조 표현의 입력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이 신호가 곧 3교시 학습된·구조 표현으로 이어지는 다리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수작업 진화정보의 정점이 공변이 → contact. 다만 이를 정확한 구조 표현으로 바꾸는 딥러닝·PLM 은 3교시 주제 — 여기선 '진화정보가 구조 힌트를 담는다'까지만.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Morcos et al. 2011 (DCA, PNAS); 구조 표현 연계(3교시)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조건부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진화정보 — 강하지만 조건부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강력할 때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동족체가 많을 때 매우 강함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보존=기능 중요 위치 짚어냄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공변이=3D 접촉·구조 신호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단일서열보다 풍부한 문맥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약할 때·비용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고아(orphan)·설계 단백질엔 얕은 MSA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MSA 검색 비용·시간 큼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정렬 오류에 민감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단일서열 PLM 이 이 공백 겨냥(3교시)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진화정보는 수작업 표현 중 정보량이 가장 크지만 '동족체가 있어야' 작동한다. 이 조건부 약점이 단일서열로 동작하는 학습된 표현(3교시)이 등장한 직접적 이유.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Lin et al., Science 2023 (ESMFold, 단일서열); Rao et al. 2019 (TAPE)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활용·정리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진화정보 feature — 어디에 쓰나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feature 형태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PSSM: 잔기별 20차원 log-odds(L×20)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보존 점수: 컬럼별 엔트로피/보존도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공변이: 잔기쌍 커플링 → contact 신호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잔기·전역 과제 모두에 사용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대표 활용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2차구조 예측(PSIPRED 입력)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기능 부위·잔기 중요도 추정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 예측의 핵심 입력(공변이)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원거리 상동성 탐지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PSSM 은 '위치별' 표현이라 잔기 단위 과제에 강하다. 수작업 표현의 정점이지만 MSA 의존이 한계 — 이 지점이 3교시 학습된 표현으로 넘어가는 자연스러운 다리.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Jones 1999 (PSIPRED); Altschul 1997 (PSI-BLAST); 진화정보 활용 종합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예측 툴 — 큰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수작업 표현 + 모델 → 실험 특성을 미리 예측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미리 예측하나 — 예측 → 실험 결정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발현·정제·안정성 실험은 비싸고 느리다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서열의 수작업 표현 + 간단한 모델로 특성을 미리 예측 → 리스크 조기 발견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문제 단백질을 '재설계'하거나 전략(태그·숙주·완충) 변경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대부분 무료 웹 서버 — 예측값이 곧 구체적 실험 결정으로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프레임: 예측값 → 실험 결정. pI→완충 pH, 흡광계수→A280, 응집 hotspot→변이/태그, 신호펩타이드→construct. 이 큰 그림만 잡고 개별 툴 계보는 생략한다.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종합; 각 특성별 대표 툴은 아래 장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물리화학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물리화학 예측 — pI·MW·흡광·GRAVY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무엇을 예측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MW·이론 pI·흡광계수·GRAVY·불안정성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순전하 vs pH 곡선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모두 규칙 기반 계산(학습 불필요)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PART B 물성 feature 그대로 활용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실험 결정 연결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pI → IEX 완충 pH(CEX/AEX)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흡광계수 → A280 농도 정량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GRAVY → 용해도·막 가늠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instability → 안정성 플래그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대표 도구: ExPASy ProtParam(규칙 기반). pI 는 딥러닝 계산기(IPC 2.0)도 있으나 개념은 동일 — '서열에서 물리화학 상수를 계산해 실험에 바로 쓴다'.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ExPASy ProtParam (Gasteiger 2005); Kozlowski, NAR 2021 (IPC 2.0)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용해도·응집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용해도 · 응집 예측 — 발현 실패를 앞단으로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용해도·발현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서열 → 가용 발현 확률·용해도 점수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전하·소수성 패치·서열복잡도가 신호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낮으면 → 태그·저온·숙주 변경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대표: Protein-Sol·CamSol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응집·아밀로이드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'끈적한' 소수성 hotspot(APR) 탐지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β-응집(TANGO)·아밀로이드(WALTZ)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hotspot → 표면 변이·가용화 태그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구조로 표면 노출 보정(AGGRESCAN3D)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APR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aggregation-prone region — 응집을 유발하는 짧은 소수성 세그먼트(엔지니어링 표적)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Hebditch 2017 (Protein-Sol); Sormanni 2015 (CamSol); Fernandez-Escamilla 2004 (TANGO); Maurer-Stroh 2010 (WALTZ)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국재화·구조요소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국재화 · 신호 · 무질서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08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무엇을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실험 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신호펩타이드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4572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분비·절단부위(SignalP)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성숙형 construct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막 topology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41448"/>
            <a:ext cx="4572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막관통·내외 방향(DeepTMHMM)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41448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detergent·도메인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세포내 국재화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08376"/>
            <a:ext cx="4572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다중라벨 위치(DeepLoc)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08376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숙주 선택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무질서(IDR)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75303"/>
            <a:ext cx="4572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유연 영역(IUPred3)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75303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말단 절단·결정화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응용(1교시 국재화 연결): 신호펩타이드→성숙형 클로닝, TM→detergent/도메인 절단, 국재화→숙주, 무질서 말단 절단→결정화·안정성↑. 대표 툴만 제시(계보 생략).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Teufel 2022 (SignalP 6.0); Hallgren 2022 (DeepTMHMM); Thumuluri 2022 (DeepLoc 2.0); Erdős 2021 (IUPred3)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안정성·항체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안정성(ΔΔG·Tm) · 항체 developability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안정성 · 변이(ΔΔG·Tm)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 잔기 치환 → 접힘 자유에너지 변화(ΔΔG)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ΔΔG&gt;0 불안정화 · &lt;0 안정화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Tm(녹는점) 등급 예측도 있음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안정화 변이 설계·선별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항체 developability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효능 외 '제조성' 위험 조기 선별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응집·점도·용해도·전하 패치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TAP: CDR 기반 5지표로 플래그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수백 후보를 실험 전 triage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developability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치료 항체가 응집·점도·발현 등 제조 관점에서 실용 가능한지 — 후기 실패를 앞단으로 (TAP)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Tsuboyama et al. 2023 (megascale ΔG, Nature); Raybould et al. 2019 (TAP, PNAS)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예측 → 실험 결정 매핑 (한 장 요약)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예측 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08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대표 도구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08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실험 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pI · 흡광계수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74519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ProtParam · IPC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74519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IEX 완충 pH · A280 정량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2316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용해도 · 응집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23160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Protein-Sol · TANGO · A3D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2316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태그 · 변이 · 숙주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7180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신호 · TM · 국재화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971800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SignalP · DeepTMHMM · DeepLoc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971800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construct · detergent · 숙주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2043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무질서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520439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IUPred3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520439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말단 절단 · 결정화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69079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안정성 · developability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069079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FoldX · TAP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069079"/>
            <a:ext cx="3840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변이 설계 · 후보 triage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순서: 값이 싼 서열 예측을 먼저 전부 돌려 '리스크 지도'를 만든 뒤 발현·정제 실험을 설계 — 실패를 앞단으로 당긴다.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종합 워크플로우(각 도구 출처는 앞 장)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카베아트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예측 툴 쓸 때 — 정직한 한계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예측 ≠ 측정 — 반드시 실험 검증(A280·IEF·DSF·SEC/DLS)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훈련 도메인 한계(대개 E.coli 수용성·구형 단백질)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막·분비·당화·설계 단백질엔 덜 맞을 수 있음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성능·정확도 수치는 데이터·분할 의존 → 절대치보다 '경향'으로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instability index&gt;40='불안정', pLDDT=disorder 등은 휴리스틱/proxy. 단일 수치로 단정 말고 여러 근거·실측과 함께 — 성능 수치는 원논문·벤치마크 확인 권장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종합; 각 툴 논문 caveat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실습 연계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오늘의 실습 — 수작업 표현 직접 만들기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① one-hot(L×20) · ② 아미노산 조성(AAC, 20) 을 numpy 로 구현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700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6946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③ 물성 feature(ProtParam: pI·GRAVY·MW·흡광·instability)를 BioPython 으로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930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924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④ 여러 서열 → 고정 크기 feature 행렬 → 간단 분류/군집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159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153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표현별 벡터로 'family 구분력'을 눈으로 비교 — 정성 관찰 중심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목표: 표현 선택이 결과를 어떻게 바꾸는지 체감. 성능 수치는 데이터·분할에 의존하므로 절대치보다 '경향'에 주목(3교시에서 학습된 표현과 비교).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과정 실습 연계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수작업 표현 계열 — 한눈에 (차원·장단점)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4630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차원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630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단점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one-hot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28800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L×20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단순·무손실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828800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가변길이·유사성無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59152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359152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AAC/조성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59152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59152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길이무관·빠름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59152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순서 손실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89504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89504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DPC/k-mer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889504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400~수천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89504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국소 모티프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889504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고차원·희소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19856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19856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PAAC/CTD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419856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~20+λ / ~100+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19856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조성+순서 압축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419856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장거리 문맥無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50208"/>
            <a:ext cx="11247120" cy="47548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물성(ProtParam)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950208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수~수십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50208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해석적·실험연결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950208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문맥 없음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480560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480560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PSSM/MSA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480560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L×20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80560"/>
            <a:ext cx="2743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진화 보존·공변이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480560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고아 취약·느림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공통 특징: 사람이 feature 를 '설계'한다 → 투명·해석적이고 소규모 데이터에 강하지만, 담을 수 있는 정보에 상한이 있다. 그 상한을 넘으려는 것이 3교시의 학습된 표현.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Rao et al. 2019 (TAPE); 수작업 표현 종합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수작업 표현이 여전히 중요한 이유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소규모 데이터: 저차원·해석적 feature 가 과적합을 막는다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해석·규제 대응: '왜 이 예측인지'를 물성·보존으로 설명 가능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강한 baseline: PLM 이 항상 이기지 않는다 — 반드시 비교 기준으로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하이브리드: 실무에선 물성 몇 개 + 학습된 표현을 함께 쓰는 경우 많음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'특성공학이 사라졌다'는 오해 — 수작업 표현은 baseline·해석·소규모 과제에서 여전히 1선. 3교시의 학습된 표현도 이 위에서 비교·보완된다.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Rao et al. 2019 (TAPE, baseline 중요성); 수작업 표현 종합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51/54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2교시 정리 — 서열에서 사람이 설계한다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190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표현 = 단백질을 벡터로 바꾼 것, 파이프라인 맨 앞·성능 상한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'모델보다 표현을 먼저 의심하라'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334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물성 feature: ProtParam 으로 pI·GRAVY·MW·흡광을 서열에서 계산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해석적·소규모에 강함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서열 인코딩: one-hot·조성·k-mer·PAAC·CTD·프로파일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순서·모티프를 고정 벡터로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진화정보: PSSM·MSA 보존·공변이 — 강하지만 동족체 조건부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고아·설계엔 약함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766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예측 툴: 수작업 표현+모델로 특성 예측 → 실험 결정, 단 실측 필수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예측≠측정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52/54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3교시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다음 — 사람이 설계 vs 기계가 학습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 (수작업 표현)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사람이 feature 를 직접 설계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물성·조성·k-mer·PSSM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투명·해석·소규모에 강함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담을 수 있는 정보에 상한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3교시 (학습된·구조 표현)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데이터에서 표현을 자동 학습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PLM 임베딩(ESM·ProtT5)·전이학습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 표현(contact·graph·AlphaFold)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문맥·대규모·MSA 불필요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한 문장 브리지 — 2교시는 '사람이 무엇을 담을지 고른다', 3교시는 '기계가 무엇을 담을지 배운다'. 수작업 표현의 정보 상한을 넘는 학습된·구조 표현으로 넘어간다.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3교시(학습된·구조 표현) 예고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53/54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(2교시)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물성/인코딩: Kawashima &amp; Kanehisa NAR 2000 (AAindex); Kyte &amp; Doolittle 1982 (GRAVY); Gasteiger et al. 2005 (ProtParam); Gill &amp; von Hippel 1989 (ε280); Guruprasad 1990 (instability).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서술자: Chou 2001 (PAAC, Proteins); Dubchak et al. 1995 (CTD, PNAS); Rao et al. 2019 (TAPE, NeurIPS).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진화정보: Altschul 1997 (PSI-BLAST); Remmert 2012 (HHblits, Nat Methods); Jones 1999 (PSIPRED); Morcos et al. 2011 (DCA, PNAS).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예측 툴(대표): Hebditch 2017 (Protein-Sol); Sormanni 2015 (CamSol); Fernandez-Escamilla 2004 (TANGO); Maurer-Stroh 2010 (WALTZ, Nat Methods); Kuriata 2019 (AGGRESCAN3D 2.0).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예측 툴(대표): Teufel 2022 (SignalP 6.0); Hallgren 2022 (DeepTMHMM); Thumuluri 2022 (DeepLoc 2.0); Erdős 2021 (IUPred3); Schymkowitz 2005 (FoldX); Raybould 2019 (TAP, PNAS).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2608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저분자 대비·리뷰: Rogers &amp; Hahn 2010 (ECFP, JCIM); Zhang C et al. 2025 (Biology 14:1137, 서열표현 리뷰).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06908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3교시 연계: Rives 2021 (ESM-1b, PNAS); Lin 2023 (ESM-2, Science); Elnaggar 2022 (ProtTrans/ProtT5); Tsuboyama 2023 (megascale ΔG, Nature).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21208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C242B"/>
                </a:solidFill>
                <a:latin typeface="Malgun Gothic"/>
              </a:rPr>
              <a:t>• * 일부 서지(PAAC/TANGO DOI, DeepTMHMM 정식게재 등)는 확인 권장. 예측 툴은 교육용 — 라이브 URL·버전·적용범위 확인 필요. 성능 수치는 원논문·벤치마크에서 확인.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54/54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2교시 · 수작업 표현 — 서열에서 사람이 직접 feature 를 설계한다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9EDF1"/>
                </a:solidFill>
                <a:latin typeface="Malgun Gothic"/>
              </a:rPr>
              <a:t>핵심 참고: Kawashima &amp; Kanehisa 2000 (AAindex) · Gasteiger 2005 (ProtParam) · Chou 2001 (PAAC)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9EDF1"/>
                </a:solidFill>
                <a:latin typeface="Malgun Gothic"/>
              </a:rPr>
              <a:t>Dubchak 1995 (CTD) · Altschul 1997 (PSI-BLAST) · Rao 2019 (TAPE)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9CD8"/>
                </a:solidFill>
                <a:latin typeface="Malgun Gothic"/>
              </a:rPr>
              <a:t>다음 3교시: 학습된 표현(PLM·임베딩) &amp; 구조 기반 표현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