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tein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822960"/>
            <a:ext cx="3886200" cy="211974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3840480"/>
            <a:ext cx="12191695" cy="2377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1교시 · 단백질의 이해</a:t>
            </a:r>
          </a:p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009CD8"/>
                </a:solidFill>
                <a:latin typeface="Malgun Gothic"/>
              </a:rPr>
              <a:t>구조와 성질 = 이후 모든 '표현(representation)'의 토대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단백질 표현법 3교시 과정 · 1교시 · 재직자·전공자 · 한국어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왜 여기서 시작하나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표현을 이해하려면 단백질부터 이해해야 한다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이 과정의 목표: 단백질을 '어떤 숫자 벡터'로 바꿔 기계에 넣을까 (=표현)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883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587752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그러나 표현이 담아야 할 정보는 결국 단백질의 '구조와 성질'에서 나온다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2958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29000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소수성·전하·크기·pI, 그리고 1~4차 구조 — 이것이 표현의 '원재료'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7083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70248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1교시는 그 원재료를 정리한다 → 2·3교시에서 실제 벡터로 만든다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관통 메시지: '모델을 고르기 전에 무엇을 표현할지'부터 안다. 단백질의 물성과 구조 계층을 알면, 어떤 표현이 어떤 정보를 담는지가 보인다.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본 과정 도입 프레임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1교시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1교시가 끝나면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아미노산 20종을 성질로 분류하고 곁사슬 물성을 설명한다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소수성·전하·크기·pKa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700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56946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1·2·3·4차 구조가 각각 무엇인지·무엇이 결정하는지 안다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4930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3924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단백질 폴딩의 구동력과 유지 상호작용을 설명한다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159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153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구조–기능 관계, 종류·국재화가 왜 중요한지 예로 설명한다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1389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50383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물성·구조 계층이 왜 '표현의 축'이 되는지 이해한다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2·3교시의 토대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1교시 학습목표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전체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3교시 과정 지도 — 지금 어디에 있나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10515600" cy="960120"/>
          </a:xfrm>
          <a:prstGeom prst="roundRect">
            <a:avLst/>
          </a:prstGeom>
          <a:solidFill>
            <a:srgbClr val="009CD8"/>
          </a:solidFill>
          <a:ln w="22225">
            <a:solidFill>
              <a:srgbClr val="009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93976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FFFFFF"/>
                </a:solidFill>
                <a:latin typeface="Malgun Gothic"/>
              </a:rPr>
              <a:t>1교시 · 단백질의 이해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1460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E9EDF1"/>
                </a:solidFill>
                <a:latin typeface="Malgun Gothic"/>
              </a:rPr>
              <a:t>아미노산 물성 · 1~4차 구조 · 종류/국재화 — 표현의 토대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2093976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◀ 현재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00400"/>
            <a:ext cx="10515600" cy="9601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328416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0B2A4A"/>
                </a:solidFill>
                <a:latin typeface="Malgun Gothic"/>
              </a:rPr>
              <a:t>2교시 · 수작업 표현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749039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one-hot · 조성(AAC) · 물성(ProtParam·pI·GRAVY) · PSSM · 예측 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34840"/>
            <a:ext cx="10515600" cy="9601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562855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0B2A4A"/>
                </a:solidFill>
                <a:latin typeface="Malgun Gothic"/>
              </a:rPr>
              <a:t>3교시 · 학습된·구조 표현 + 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83479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PLM(ESM) 임베딩 · contact/graph · AlphaFold · 직접 비교 실습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흐름: '무엇을 표현하나(1교시)' → '사람이 만든 표현(2교시)' → '학습된·구조 표현 + 실습(3교시)'. 뒤로 갈수록 정보는 풍부해지고 해석성은 낮아진다.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본 과정 구성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1교시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1교시에서 볼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4297680" cy="54864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A. 아미노산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417320"/>
            <a:ext cx="6217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20종 분류·곁사슬 물성·pKa·소수성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93976"/>
            <a:ext cx="4297680" cy="548640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93976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B. 1차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093976"/>
            <a:ext cx="6217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펩타이드 결합·서열·Anfinsen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70632"/>
            <a:ext cx="4297680" cy="54864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70632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C. 2차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770632"/>
            <a:ext cx="6217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φ/ψ·Ramachandran·α-헬릭스·β-시트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447287"/>
            <a:ext cx="4297680" cy="548640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47287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D. 3차 구조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447287"/>
            <a:ext cx="6217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폴딩 구동력·비공유결합·도메인·PTM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23944"/>
            <a:ext cx="4297680" cy="5486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23944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E. 4차 구조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123944"/>
            <a:ext cx="6217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서브유닛·협동성·복합체(PPI)·구조결정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00600"/>
            <a:ext cx="4297680" cy="548640"/>
          </a:xfrm>
          <a:prstGeom prst="round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80060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F. 종류·국재화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800600"/>
            <a:ext cx="6217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분비·막·당화·IDP·항체 → 다루는 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477255"/>
            <a:ext cx="4297680" cy="548640"/>
          </a:xfrm>
          <a:prstGeom prst="round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477255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G. 종합·브리지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5477255"/>
            <a:ext cx="6217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구조 계층 → 표현의 축 · 2교시 예고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1교시 구성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6/54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아미노산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단백질의 알파벳 — 20종의 성질이 모든 것을 결정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7/54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아미노산 — 공통 골격 + 곁사슬(R)</a:t>
            </a:r>
          </a:p>
        </p:txBody>
      </p:sp>
      <p:pic>
        <p:nvPicPr>
          <p:cNvPr id="6" name="Picture 5" descr="amino_ac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572000" cy="2493818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중심 Cα에 아미노기·카복실기·H·곁사슬(R)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775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487168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골격은 모두 같고 R기만 다르다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741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273552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R기의 성질이 아미노산의 개성 = 표현의 알파벳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605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059936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생체는 주로 L-형 α-아미노산 사용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곁사슬(R)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아미노산마다 다른 부분 — 소수성·전하·크기·반응성을 결정하는 '개성'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Nelson &amp; Cox, Lehninger Principles of Biochemistry (아미노산)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8/54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아미노산 표기 — 1문자·3문자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성질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0876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아미노산 (1문자)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5087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3문자·메모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소수성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74519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A V L I M F W P 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874519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Ala Val Leu… · 코어·막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78024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78024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극성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478024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S T C Y N 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478024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Ser Thr Cys… · 표면·수소결합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81528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81528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산성 / 염기성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081528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D E / K R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081528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Asp Glu / Lys Arg His · 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85031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85031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방향족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685031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F Y 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685031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Phe Tyr Trp · A280 흡광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1문자 코드가 곧 서열 표현의 '토큰' — 2교시 one-hot이면 20~25차원, 3교시 PLM이면 이 문자열을 통째로 임베딩. 서열 데이터의 기본 단위.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IUPAC 아미노산 코드; Lehninger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9/54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분류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20종 아미노산 — 곁사슬 성질별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분류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0876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아미노산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5087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특징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비극성·소수성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74519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Gly Ala Val Leu Ile Pro Phe Met Trp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874519"/>
            <a:ext cx="3017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내부 코어·막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4144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41448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극성·비하전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441448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Ser Thr Cys Tyr Asn Gln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441448"/>
            <a:ext cx="3017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수소결합·표면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0837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0837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산성(음전하)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008376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Asp(D) Glu(E)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008376"/>
            <a:ext cx="3017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낮은 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75303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75303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염기성(양전하)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575303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Lys(K) Arg(R) His(H)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575303"/>
            <a:ext cx="3017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높은 pI·His는 pKa~6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42231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142231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특수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142231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Gly(유연) Pro(꺾임) Cys(S-S)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142231"/>
            <a:ext cx="3017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구조적 역할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이 '성질별 분류'가 곧 2교시의 계산 표현 축 — 소수성·전하·크기·pKa가 AAindex·pI·GRAVY 같은 feature로 그대로 이어진다.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Lehninger; Berg et al., Stryer Biochemistry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10/54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곁사슬 물성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곁사슬이 가진 3대 물성 축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소수성 / 친수성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코어에 묻히나 표면에 노출되나 — 폴딩·용해도 결정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889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88336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전하(이온화)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산성/염기성 → 정전기 상호작용·pI·완충 pH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8503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84448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크기·모양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잔기 부피·패킹·입체장애 — 돌연변이 영향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8114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0559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→ 이 세 축이 구조·기능·정제·표현을 모두 좌우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실험 감각 = 표현 감각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소수성·전하·크기 — 이 3대 축이 1교시 전체를 관통한다. 뒤에 나올 pI·GRAVY·부피 값이 모두 이 축의 정량화이며, 그대로 2교시 feature가 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Lehninger; Kyte &amp; Doolittle 1982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11/54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이온화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곁사슬 pKa · 등전점(pI)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이온화 가능 잔기: Asp·Glu(산성)·Lys·Arg·His(염기성)·말단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889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88336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pKa 근처에서 protonation 상태가 바뀜 → 순전하 변화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8503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84448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pI = 순전하 0이 되는 pH — 용해도·정전기 거동의 핵심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8114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0559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His pKa ~6 → 생리 pH 부근에서 스위칭(촉매·금속결합)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등전점(pI)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824727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순전하가 0이 되는 pH — 서열에서 계산 가능(2교시 물성 feature)하고 정제·용해도를 좌우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Lehninger (산-염기)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12/54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소수성 척도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소수성 정량 — Kyte-Doolittle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각 아미노산에 소수성 값을 부여한 척도(hydropathy)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889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88336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서열을 따라 이동창 평균 → hydropathy plot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8503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84448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막관통 영역(연속 소수성) 예측에 사용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8114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0559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GRAVY = 전체 평균 소수성(2교시 물성 feature)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AAindex 데이터베이스는 이런 아미노산 물성 척도를 수백 종 모아둔 것 — 서열 기반 물성 표현(2교시)의 원재료.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Kyte &amp; Doolittle, J Mol Biol 1982; Kawashima &amp; Kanehisa, NAR 2000 (AAindex)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13/54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특수 잔기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구조를 바꾸는 특수 아미노산 — Gly·Pro·Cys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유연성·꺾임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Gly: 곁사슬 H → 최대 유연성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Pro: 고리 → 골격 꺾임·헬릭스 파괴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turn·loop에 자주 등장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공유 가교·기타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Cys: -SH → 이황화결합(S-S)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His: 촉매·금속 결합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Trp/Tyr: 흡광(A280 정량)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824727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이황화결합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5824727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두 Cys의 -SH가 산화되어 형성하는 공유 가교 — 3차·4차 구조 안정화(주로 세포외 단백질)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Lehninger; Stryer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14/54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1차 구조 (Primary)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펩타이드 결합으로 이어진 아미노산 서열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15/54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펩타이드 결합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펩타이드 결합 — 평면·부분이중결합</a:t>
            </a:r>
          </a:p>
        </p:txBody>
      </p:sp>
      <p:pic>
        <p:nvPicPr>
          <p:cNvPr id="6" name="Picture 5" descr="peptide_bo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572000" cy="2493818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카복실기 + 아미노기 → 아미드 결합 + 물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775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487168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부분 이중결합성 → 평면·회전 제한(ω≈180°)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741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273552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골격 회전은 φ(N-Cα)·ψ(Cα-C)만 자유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605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059936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이 제약이 2차 구조를 가능케 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펩타이드 결합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아미노산 간 아미드 공유결합 — 평면성 때문에 골격 자유도가 φ/ψ로 제한됨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Pauling &amp; Corey 1951; Lehninger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16/54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서열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1차 구조 = 아미노산 서열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방향성: N-말단 → C-말단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889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88336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서열 = 유전자(코돈)로 결정된 1차 정보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8503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84448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FASTA 한 줄 문자열이 곧 1차 구조 표현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8114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0559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이 서열이 상위 구조를 '지시'한다(다음 장)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FASTA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824727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아미노산 1문자 코드로 서열을 적는 표준 텍스트 형식 — 서열 표현의 출발점(2·3교시 입력)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Lehninger; UniProt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17/54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Anfinsen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서열이 구조를 결정한다 — Anfinsen 도그마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리보뉴클레아제 변성 → 재접힘 실험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889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88336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적절한 조건에서 서열만으로 천연 구조 회복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8503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84448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→ '1차 구조가 3차 구조를 결정한다'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8114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0559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서열→구조·기능 예측·표현학습의 근본 전제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Anfinsen 도그마가 있기에 '서열→구조·기능' 학습(2교시 물성·3교시 PLM·구조예측)이 원리적으로 가능. 단, 샤페론·환경 의존 예외도 존재(뒤에서).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Anfinsen, Science 1973 (Nobel)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18/54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2차 구조 (Secondary)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골격 수소결합이 만드는 국소 패턴 — α·β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19/54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이면각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골격 자유도 — φ(파이)·ψ(프사이)</a:t>
            </a:r>
          </a:p>
        </p:txBody>
      </p:sp>
      <p:pic>
        <p:nvPicPr>
          <p:cNvPr id="6" name="Picture 5" descr="ramachandr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83080"/>
            <a:ext cx="4480560" cy="244394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φ=C₋₁–N–Cα–C, ψ=N–Cα–C–N₊₁ 회전(펩타이드 ω≈180° 고정)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4597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359152"/>
            <a:ext cx="6035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백본 원자 반데르발스 충돌 → 대부분 φ/ψ 조합 금지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18103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017520"/>
            <a:ext cx="6035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허용: α(φ≈−60,ψ≈−45)·β(φ≈−120,ψ≈+120)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7647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675888"/>
            <a:ext cx="6035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Gly(곁사슬=H): 넓은 허용 / Pro: φ≈−63 고정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43484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4334255"/>
            <a:ext cx="6035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이상치 잔기 = 구조 오류 신호(품질 검증)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Ramachandran plot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잔기별 φ/ψ 각을 찍은 도표 — 입체 허용/금지 영역·구조 품질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Ramachandran, Ramakrishnan &amp; Sasisekharan 1963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20/54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α·β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α-헬릭스 · β-시트</a:t>
            </a:r>
          </a:p>
        </p:txBody>
      </p:sp>
      <p:pic>
        <p:nvPicPr>
          <p:cNvPr id="6" name="Picture 5" descr="secondary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572000" cy="2493818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α-헬릭스: 골격 i→i+4 수소결합, 오른손 나선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775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487168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β-시트: 가닥 간 수소결합(평행/역평행)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741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273552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turn·loop: 방향 전환·연결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605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059936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2차 구조 = 국소 수소결합 패턴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2차 구조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골격 수소결합으로 형성되는 국소 규칙 구조(α-헬릭스·β-시트·turn)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Pauling, Corey &amp; Branson, PNAS 1951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21/54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α-헬릭스·β-시트 — 알아둘 수치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α-헬릭스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한 바퀴 ≈ 3.6 잔기·pitch 5.4 Å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i → i+4 골격 수소결합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헬릭스 쌍극자·양끝 전하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Pro는 헬릭스를 끊음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β-시트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가닥 간 수소결합(펼친 골격)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평행 vs 역평행(H-결합 기하 다름)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자연스러운 오른손 꼬임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가장자리 가닥은 응집 위험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이런 규칙성이 있기에 골격만으로 2차구조를 분류·예측 가능 — 3교시 contact map·distance map 표현이 담는 정보가 바로 이 국소 기하.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Pauling &amp; Corey 1951; Lehninger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22/54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다양성·예측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2차 구조의 다양성과 예측(예고)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구성 요소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α-헬릭스·310-헬릭스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β-시트·β-turn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무질서(loop·coil)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예측(맛보기)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서열 → 2차구조(H/E/C)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고전: Chou-Fasman·GOR·PSIPRED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현재: PLM·구조예측이 흡수(3교시)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824727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secondary structure prediction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5824727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서열에서 잔기별 α/β/coil을 예측 — 대표 벤치마크 과제(도구·표현은 2·3교시)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Jones 1999 (PSIPRED); Rao et al. 2019 (TAPE)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23/54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3차 구조 (Tertiary)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사슬 전체의 3D 접힘 — 기능이 태어나는 곳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24/54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폴딩 열역학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폴딩의 열역학 — 왜 접히나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자유에너지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ΔG_fold = ΔH − TΔS (음수라야 천연상태로 접힘)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소수성 효과(주 구동력)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비극성 잔기 매몰→표면 물분자 질서 해제→물 엔트로피↑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사슬 엔트로피 손실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접히면 백본 conformational entropy↓ (반대 항)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엔탈피 이득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수소결합·반데르발스·염다리 (코어 패킹)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marginal stability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순 ΔG ≈ −5~−15 kcal/mol (큰 항들의 작은 차이)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6.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냉·열 변성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ΔCp 큼 → 고온뿐 아니라 저온에서도 변성(포물선 안정성)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폴딩=거대한 항들의 '작은 차이'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주 구동력은 물 쪽 엔트로피(소수성 효과)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안정성이 marginal → 변이·조건에 취약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작은 차이라 ΔΔG 예측 어려움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응집(오접힘)과 상시 경쟁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Dill 1990; Dill &amp; MacCallum, Science 2012; Anfinsen 1973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25/54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상호작용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3차 구조를 유지하는 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상호작용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50876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성격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50876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소수성 효과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874519"/>
            <a:ext cx="42062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비공유·최대 기여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874519"/>
            <a:ext cx="3474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코어 패킹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2316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23160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수소결합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423160"/>
            <a:ext cx="42062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비공유·방향성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423160"/>
            <a:ext cx="3474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곁사슬·골격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7180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971800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이온결합(염다리)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971800"/>
            <a:ext cx="42062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비공유·정전기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971800"/>
            <a:ext cx="3474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Asp⁻···Lys⁺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20439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20439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반데르발스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520439"/>
            <a:ext cx="42062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비공유·근거리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20439"/>
            <a:ext cx="3474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조밀 패킹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06907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069079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이황화결합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069079"/>
            <a:ext cx="42062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공유·강함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069079"/>
            <a:ext cx="3474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Cys-Cys(S-S)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대부분 약한 비공유결합의 '합' — 그래서 열·pH·변성제로 쉽게 풀리고(변성), 조건이 돌아오면 다시 접힐 수 있다(재접힘).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Lehninger; Stryer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26/54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조직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도메인·모티프·fold</a:t>
            </a:r>
          </a:p>
        </p:txBody>
      </p:sp>
      <p:pic>
        <p:nvPicPr>
          <p:cNvPr id="6" name="Picture 5" descr="protein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83080"/>
            <a:ext cx="4389120" cy="239406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모티프: 작은 2차구조 조합(예: β-hairpin)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775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487168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도메인: 독립적으로 접히는 기능 단위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741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273552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fold: 도메인의 전체 위상(SCOP/CATH 분류)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605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059936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단백질 = 도메인의 조합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도메인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독립적으로 접히고 종종 독립 기능을 갖는 구조 단위 — 진화·표현의 자연 단위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Murzin 1995 (SCOP); Orengo 1997 (CATH)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27/54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폴딩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Levinthal 역설 · 샤페론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Levinthal: 무작위 탐색이면 폴딩에 천문학적 시간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→ 실제론 초~밀리초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경로·funnel을 따라 빠르게 접힘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샤페론(GroEL/Hsp): 오접힘·응집 방지 보조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오접힘 → 응집·질병(아밀로이드)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발현·수율과도 직결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샤페론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824727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다른 단백질의 접힘을 돕고 응집을 막는 단백질(발현·수율과 직결)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Levinthal 1969; Hartl et al., Nature 2011 (chaperones)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28/54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코어와 표면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묻힌 잔기 vs 노출된 잔기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소수성 잔기 → 코어에 묻힘(buried)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극성·하전 잔기 → 표면에 노출(exposed·용해도)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용매접근성(SASA)은 계산 가능한 표현 feature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표면 = 상호작용·항원성·응집이 일어나는 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SASA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824727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solvent-accessible surface area — 잔기가 용매에 노출된 정도(표면/코어 구분·표현 feature)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Lee &amp; Richards 1971 (SASA); Lehninger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29/54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변형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번역 후 변형(PTM) — 서열 너머의 다양성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인산화·당화·아세틸화·메틸화·이황화 등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1차 서열엔 안 보이지만 구조·기능·안정성 변경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당화 → MW·이질성↑(질량 분석 해석 복잡)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서열만의 표현이 놓치는 정보 — 한계로 유의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PTM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824727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post-translational modification — 번역 후 화학적 변형(인산화·당화 등), 기능·질량에 영향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Lehninger; Walsh 2006 (PTM)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30/54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구조=기능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3차 구조가 기능을 만든다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활성부위·결합 포켓은 3차 구조에서 형성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889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88336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먼 서열 잔기가 3D에서 모여 촉매·결합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8503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84448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작은 구조 변화가 기능을 바꿈(알로스테릭)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8114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0559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→ 표현이 3D를 담아야 하는 이유(3교시 구조 표현)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핵심: 서열이 멀어도 3D에서 가까운 잔기가 함께 작동한다 — 서열만 보는 표현이 놓치는 관계이며, 이것이 구조 기반 표현(3교시)이 필요한 근거.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Lehninger; Stryer (효소)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31/54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4차 구조 (Quaternary)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여러 사슬의 조립 — 복합체와 협동성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32/54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조립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서브유닛 조립 · 올리고머</a:t>
            </a:r>
          </a:p>
        </p:txBody>
      </p:sp>
      <p:pic>
        <p:nvPicPr>
          <p:cNvPr id="6" name="Picture 5" descr="quater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572000" cy="2493818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여러 폴리펩타이드(서브유닛)의 결합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775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487168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호모/헤테로-올리고머·대칭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741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273552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서브유닛 계면 = 단백질-단백질 상호작용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605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059936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많은 효소·수용체가 다량체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4차 구조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둘 이상의 폴리펩타이드 사슬(서브유닛)이 이루는 복합체 구조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Lehninger; Stryer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33/54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협동성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협동성·알로스테릭 — 헤모글로빈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헤모글로빈: 4개 서브유닛, O₂ 결합 협동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889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88336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한 부위 결합이 다른 부위 친화도↑(sigmoid)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8503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84448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알로스테릭: 먼 부위 조절 — 약물 표적으로 중요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8114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0559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4차 구조가 만드는 창발적 기능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알로스테릭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824727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활성부위가 아닌 다른 부위 결합으로 기능이 조절되는 현상(알로스테릭 약물 표적)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Perutz (헤모글로빈); Monod-Wyman-Changeux 1965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34/54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복합체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단백질 복합체 · PPI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대부분의 기능은 복합체로 수행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889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88336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계면 = 단백질-단백질 상호작용(PPI)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8503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84448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PPI 표적·계면 표현(surface, 3교시 MaSIF 계열)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8114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0559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구조예측도 복합체로 확장(AF-Multimer·AF3)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PPI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824727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protein-protein interaction — 단백질 간 상호작용, 계면(표면) 표현으로 다룸(3교시)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Gainza et al. 2020 (MaSIF); Abramson et al. 2024 (AF3)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35/54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구조 결정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구조는 어디서 오나 — 실험 vs 예측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5087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5087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한계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X-ray 결정학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874519"/>
            <a:ext cx="4754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고해상도·주류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874519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결정화 필요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4144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41448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NMR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441448"/>
            <a:ext cx="4754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용액·동역학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441448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작은 단백질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0837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08376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Cryo-EM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008376"/>
            <a:ext cx="4754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거대 복합체·막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008376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해상도 개선 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75303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75303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예측(AlphaFold 등)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575303"/>
            <a:ext cx="4754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서열→구조·대규모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575303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apo·유연성 한계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실험구조는 PDB, 예측구조는 AlphaFold DB로 대규모 확보 — 구조 기반 표현(3교시)의 '재료'가 폭발적으로 늘었다. 단, 예측구조의 한계·신뢰도(pLDDT)는 3교시에서.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PDB; Varadi et al. 2024 (AlphaFold DB)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36/54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단백질의 종류 · 국재화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어디에 있느냐가 '다루는 법'과 '표현'을 바꾼다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37/54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F · 기능 대분류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단백질의 기능 대분류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종류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0876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50876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743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효소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74519"/>
            <a:ext cx="43891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촉매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874519"/>
            <a:ext cx="3749039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kinase·protease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2316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23160"/>
            <a:ext cx="2743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수송·저장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423160"/>
            <a:ext cx="43891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물질 운반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423160"/>
            <a:ext cx="3749039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hemoglobin·transporter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7180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971800"/>
            <a:ext cx="2743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구조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971800"/>
            <a:ext cx="43891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기계적 지지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971800"/>
            <a:ext cx="3749039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collagen·keratin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20439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20439"/>
            <a:ext cx="2743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수용체·신호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520439"/>
            <a:ext cx="43891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신호 전달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520439"/>
            <a:ext cx="3749039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GPCR·수용체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06907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069079"/>
            <a:ext cx="2743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방어(항체)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069079"/>
            <a:ext cx="43891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면역 인식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069079"/>
            <a:ext cx="3749039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immunoglobulin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기능·국재화(세포질·분비·막·세포표면)에 따라 단백질을 '어떻게 다루고 표현하나'가 달라진다 — 막단백질·표면단백질·항체 등을 종류별로 살펴본다.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Lehninger (단백질 기능)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38/54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F · 국재화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단백질은 어디에 사는가</a:t>
            </a:r>
          </a:p>
        </p:txBody>
      </p:sp>
      <p:pic>
        <p:nvPicPr>
          <p:cNvPr id="6" name="Picture 5" descr="loc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83080"/>
            <a:ext cx="4389120" cy="239406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세포질(cytosolic): 수용성·다루기 쉬움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478023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377439"/>
            <a:ext cx="603504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분비(secreted): 신호펩타이드·이황화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54679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054096"/>
            <a:ext cx="603504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막(membrane): 소수성·불용성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31335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730751"/>
            <a:ext cx="603504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세포표면(surface): 수용체·당화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50799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4407407"/>
            <a:ext cx="603504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핵·소기관: 국재화 신호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국재화(localization)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단백질이 존재하는 세포 내/외 위치 — 취급·표현 전략을 좌우(예측은 2교시 DeepLoc)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Lehninger; Thumuluri et al. 2022 (DeepLoc, 툴은 2교시)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39/54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F · 왜 중요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국재화가 '다루는 법'과 '표현'을 바꾼다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종류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5087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50876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취급·표현 함의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377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세포질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874519"/>
            <a:ext cx="4754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수용성·환원 환경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874519"/>
            <a:ext cx="35661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표준·서열 표현 충분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2316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23160"/>
            <a:ext cx="2377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분비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423160"/>
            <a:ext cx="4754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신호펩타이드·이황화·당화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423160"/>
            <a:ext cx="35661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성숙형 서열·PTM 유의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7180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971800"/>
            <a:ext cx="2377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막관통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971800"/>
            <a:ext cx="4754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소수성 표면·불용성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971800"/>
            <a:ext cx="35661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소수성 feature가 지배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20439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20439"/>
            <a:ext cx="2377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세포표면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520439"/>
            <a:ext cx="4754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당화·이황화 풍부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520439"/>
            <a:ext cx="35661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도메인 단위 표현 흔함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06907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069079"/>
            <a:ext cx="2377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항체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069079"/>
            <a:ext cx="4754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다중 도메인·이황화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069079"/>
            <a:ext cx="35661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도메인·CDR 특화 표현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핵심: '어떤 단백질이냐'를 먼저 알아야 표현·전략을 고른다. 국재화는 서열에서 예측도 가능(2교시 SignalP·DeepTMHMM·DeepLoc).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Lehninger; 2교시 예측 툴 연계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40/54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F · 분비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분비 단백질 — 신호펩타이드·이황화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N-말단 신호펩타이드 → 분비 경로 진입 후 절단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세포외 환경 → 이황화결합으로 안정화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당화(N-/O-) 흔함 → MW·이질성↑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성숙형(신호 절단 후) 서열로 표현·MW 계산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신호펩타이드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824727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분비·막 targeting을 지시하는 N-말단 서열 — 성숙 단백질에서 절단(SignalP로 예측, 2교시)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Teufel et al. 2022 (SignalP 6.0); Lehninger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41/54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F · 막단백질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막단백질 — 소수성이 지배</a:t>
            </a:r>
          </a:p>
        </p:txBody>
      </p:sp>
      <p:pic>
        <p:nvPicPr>
          <p:cNvPr id="6" name="Picture 5" descr="membrane_prote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83080"/>
            <a:ext cx="4389120" cy="239406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지질 이중층을 관통(single/multi-pass)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775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487168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α-헬릭스 다발 vs β-배럴(외막)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741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273552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막관통 영역은 연속 소수성 잔기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605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059936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GPCR·수송체·채널 등 주요 약물 표적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막관통 영역(TM)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지질 이중층을 가로지르는 소수성 세그먼트 — topology 예측은 DeepTMHMM(2교시)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Lehninger; Hallgren et al. 2022 (DeepTMHMM)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42/54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F · 당화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당화(glycosylation) — 서열에 안 보이는 층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N-당화(N-X-S/T sequon)·O-당화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분비·세포표면 단백질에 흔함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MW·이질성↑ → 질량 분석·해석 복잡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숙주에 따라 패턴 다름 → 서열 표현의 사각지대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sequon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824727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N-당화가 일어나는 서열 모티프 N-X-S/T (X≠Pro) — 서열에서 탐지 가능(2교시)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Lehninger; van der Lee et al. 2014 (서열 표현 한계)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43/54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F · 비구조 단백질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천연 비구조 단백질(IDP)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안정한 3차 구조 없이 기능하는 영역/단백질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신호·조절·상호작용 허브에 흔함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구조 기반 표현이 어려움(낮은 pLDDT)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서열 기반 표현·disorder 예측이 특히 중요(2·3교시)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IDP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824727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intrinsically disordered protein — 고정 구조 없이 기능하는 단백질(구조 기반 표현의 사각지대)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van der Lee et al. 2014 (IDP)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44/54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F · 항체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항체(IgG) — 구조와 부위</a:t>
            </a:r>
          </a:p>
        </p:txBody>
      </p:sp>
      <p:pic>
        <p:nvPicPr>
          <p:cNvPr id="6" name="Picture 5" descr="anti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83080"/>
            <a:ext cx="4389120" cy="239406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Y자형: 2 heavy + 2 light 사슬, 이황화 연결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775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487168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Fab(항원 결합) + Fc(효과기 기능)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741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273552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CDR(초가변 루프) = 항원 특이성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605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059936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도메인 반복(Ig fold)·당화(Fc)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CDR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complementarity-determining region — 항원과 직접 결합하는 초가변 루프(항체 특이성의 핵심)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Lehninger (면역글로불린); Raybould et al. 2019 (TAP)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45/54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F · 특성으로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'특성으로 분리한다'는 개념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단백질을 나누는 물성 축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크기(분자량)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전하·등전점(pI)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소수성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특이적 결합(친화성)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같은 축이 표현이 된다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크기·전하·소수성·pI를 서열에서 계산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→ 그대로 물성 feature(2교시)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실험에서 '분리'하던 축 =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계산에서 '표현'하는 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실험실에서 단백질을 정제·분리하는 기준(크기·전하·소수성·친화성)과, 단백질을 벡터로 표현하는 축이 동일하다 — 상세 정제 기법이 아니라 이 '축의 공유'가 핵심.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Lehninger (단백질 분리 개념)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46/54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종합 &amp; 브리지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구조 계층 → 표현의 축 · 2교시로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47/54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G · 계층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구조 4계층 — 한눈에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계층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508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50876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주 결합/힘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1차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874519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아미노산 서열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874519"/>
            <a:ext cx="37490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펩타이드 결합(공유)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78024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78024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2차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478024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국소 α·β 패턴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478024"/>
            <a:ext cx="37490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골격 수소결합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81528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81528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3차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081528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사슬 전체 3D 접힘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081528"/>
            <a:ext cx="37490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소수성·비공유+S-S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85031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85031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4차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685031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서브유닛 복합체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685031"/>
            <a:ext cx="37490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계면 비공유 상호작용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표현의 관점: 1차=서열 표현(2·3교시), 2·3·4차=구조 표현(3교시). 어느 계층을 담느냐가 표현 선택의 축.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Lehninger (구조 계층)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48/54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G ·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왜 단백질 표현이 저분자보다 어렵나</a:t>
            </a:r>
          </a:p>
        </p:txBody>
      </p:sp>
      <p:pic>
        <p:nvPicPr>
          <p:cNvPr id="6" name="Picture 5" descr="protein_re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572000" cy="2493818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가변 길이(수십~수천 잔기) vs 고정 소분자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775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487168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훨씬 큼·유연(여러 conformation)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741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273552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진화정보(동족체)라는 추가 축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605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059936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서열·구조·표면·복합체 등 다층 표현 필요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그래서 단백질엔 전용 표현이 필요 — 서열 인코딩·물성(2교시), PLM 임베딩·구조 그래프·표면(3교시). 저분자 표현과 다른 이유.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표현 비교 종합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49/54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G · 관통 프레임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'실험의 축'과 '표현의 축'은 같다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실험/취급에서 쓰는 특성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크기·전하·소수성·pI로 취급 결정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흡광(A280)·질량으로 실측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국재화·종류로 전략 결정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표현에서 쓰는 특성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같은 물성을 '서열에서 계산'(pI·GRAVY·MW)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서열 인코딩(one-hot·조성)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PLM·구조로 문맥·3D까지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1교시에서 본 물성 축(소수성·전하·크기·흡광·pI)이 그대로 계산 feature가 된다 — 실험 감각이 곧 표현 설계 감각으로 이어진다.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본 교시 관통 프레임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50/54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1교시 정리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190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아미노산 20종의 성질(소수성·전하·크기·pKa)이 모든 것의 출발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517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334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1차(서열)→2차(α·β)→3차(3D 접힘)→4차(복합체)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Anfinsen: 서열이 구조를 지시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661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478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폴딩 구동력=소수성 효과, 유지=비공유+이황화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805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622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구조가 기능을 만든다(활성부위·알로스테릭·PPI)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3949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766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종류·국재화가 '다루는 법'과 '표현'을 바꾼다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분비·막·당화·IDP·항체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51/54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2교시 브리지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물성·구조가 곧 2교시의 'feature 축'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1교시에서 본 것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소수성·전하·크기·pI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아미노산 20종·서열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1~4차 구조 계층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종류·국재화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2교시에서 벡터가 된다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물성 계산: pI·GRAVY·MW·흡광(ProtParam)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서열 인코딩: one-hot·조성(AAC)·k-mer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진화정보: PSSM/MSA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국재화·특성 예측 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한 문장 브리지 — 오늘 배운 물성(소수성·전하·크기·pI)이 그대로 2교시의 계산 feature 축이 된다. 2교시는 이 축들을 실제 숫자 벡터로 만드는 '수작업 표현'이다.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2교시(수작업 표현) 예고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52/54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9CD8"/>
                </a:solidFill>
                <a:latin typeface="Malgun Gothic"/>
              </a:rPr>
              <a:t>2교시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10241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FFFFFF"/>
                </a:solidFill>
                <a:latin typeface="Malgun Gothic"/>
              </a:rPr>
              <a:t>수작업 표현 — one-hot·조성·물성·PSSM</a:t>
            </a:r>
          </a:p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서열을 사람이 설계한 벡터로: one-hot / AAC / k-mer / ProtParam(pI·GRAVY) / PSSM / 예측 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577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9CD8"/>
                </a:solidFill>
                <a:latin typeface="Malgun Gothic"/>
              </a:rPr>
              <a:t>구조와 성질을 알았으니 — 이제 그것을 '숫자 벡터'로 바꾼다.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53/54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주요 출처 (1교시)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교재: Nelson &amp; Cox, Lehninger Principles of Biochemistry; Berg et al., Stryer Biochemistry.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폴딩: Anfinsen, Science 1973; Levinthal 1969; Dill 1990; Dill &amp; MacCallum, Science 2012; Hartl et al., Nature 2011.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2차구조: Pauling, Corey &amp; Branson, PNAS 1951; Ramachandran et al. 1963; Jones 1999 (PSIPRED).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물성: Kyte &amp; Doolittle, J Mol Biol 1982; Kawashima &amp; Kanehisa, NAR 2000 (AAindex); Lee &amp; Richards 1971 (SASA).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구조분류·PTM: Murzin et al. 1995 (SCOP); Orengo et al. 1997 (CATH); Walsh 2006 (PTM).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4차·복합체·구조: Monod-Wyman-Changeux 1965; Gainza et al. 2020 (MaSIF); Varadi et al. 2024 (AlphaFold DB); Abramson et al. 2024 (AF3).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종류·국재화: Teufel 2022 (SignalP); Hallgren 2022 (DeepTMHMM); Thumuluri 2022 (DeepLoc); van der Lee 2014 (IDP); Raybould 2019 (TAP).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* 구조생물학 기초는 표준 교재 기반 — 표현·예측(2·3교시)은 최신 문헌으로 보강.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54/54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9CD8"/>
                </a:solidFill>
                <a:latin typeface="Malgun Gothic"/>
              </a:rPr>
              <a:t>1교시 · 단백질의 이해 — 구조와 성질이 모든 표현의 토대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06240"/>
            <a:ext cx="10241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다음: 2교시 수작업 표현(one-hot·조성·물성·PSSM) → 3교시 학습된·구조 표현 + 실습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핵심 프레임: 물성(소수성·전하·크기·pI) = 2교시의 계산 feature 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